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dafa05da41471c" /><Relationship Type="http://schemas.openxmlformats.org/officeDocument/2006/relationships/extended-properties" Target="/docProps/app.xml" Id="R1dcdb4d71f714e1e" /><Relationship Type="http://schemas.openxmlformats.org/officeDocument/2006/relationships/officeDocument" Target="/ppt/presentation.xml" Id="Rf4763454c03d4454" /></Relationships>
</file>

<file path=ppt/presentation.xml><?xml version="1.0" encoding="utf-8"?>
<p:presentation xmlns:p="http://schemas.openxmlformats.org/presentationml/2006/main">
  <p:sldMasterIdLst>
    <p:sldMasterId xmlns:r="http://schemas.openxmlformats.org/officeDocument/2006/relationships" id="2147483648" r:id="R6d4a8976c95b417f"/>
  </p:sldMasterIdLst>
  <p:notesMasterIdLst>
    <p:notesMasterId xmlns:r="http://schemas.openxmlformats.org/officeDocument/2006/relationships" r:id="R05e2a429deae4df2"/>
  </p:notesMasterIdLst>
  <p:sldIdLst>
    <p:sldId xmlns:r="http://schemas.openxmlformats.org/officeDocument/2006/relationships" id="256" r:id="Rcc921ead29e34e34"/>
    <p:sldId xmlns:r="http://schemas.openxmlformats.org/officeDocument/2006/relationships" id="257" r:id="R303874a6902c4af4"/>
    <p:sldId xmlns:r="http://schemas.openxmlformats.org/officeDocument/2006/relationships" id="258" r:id="R80afb573a00144ae"/>
    <p:sldId xmlns:r="http://schemas.openxmlformats.org/officeDocument/2006/relationships" id="259" r:id="Rf64194055e25468f"/>
    <p:sldId xmlns:r="http://schemas.openxmlformats.org/officeDocument/2006/relationships" id="260" r:id="Ra56d05abcb3743de"/>
    <p:sldId xmlns:r="http://schemas.openxmlformats.org/officeDocument/2006/relationships" id="261" r:id="R1014d366aa8a4561"/>
    <p:sldId xmlns:r="http://schemas.openxmlformats.org/officeDocument/2006/relationships" id="262" r:id="R2f6da5245a7b4d5e"/>
    <p:sldId xmlns:r="http://schemas.openxmlformats.org/officeDocument/2006/relationships" id="263" r:id="R6875ae1a430942cc"/>
    <p:sldId xmlns:r="http://schemas.openxmlformats.org/officeDocument/2006/relationships" id="264" r:id="Racfa6a774e87404a"/>
    <p:sldId xmlns:r="http://schemas.openxmlformats.org/officeDocument/2006/relationships" id="265" r:id="R186212a6ed864d98"/>
    <p:sldId xmlns:r="http://schemas.openxmlformats.org/officeDocument/2006/relationships" id="266" r:id="R0b7df65938174983"/>
    <p:sldId xmlns:r="http://schemas.openxmlformats.org/officeDocument/2006/relationships" id="267" r:id="Rad64ab816a004516"/>
    <p:sldId xmlns:r="http://schemas.openxmlformats.org/officeDocument/2006/relationships" id="268" r:id="R19a14cfa1e874bf8"/>
    <p:sldId xmlns:r="http://schemas.openxmlformats.org/officeDocument/2006/relationships" id="269" r:id="Ra6b7c4592f3e4739"/>
    <p:sldId xmlns:r="http://schemas.openxmlformats.org/officeDocument/2006/relationships" id="270" r:id="Refb2c01c30fc46e8"/>
    <p:sldId xmlns:r="http://schemas.openxmlformats.org/officeDocument/2006/relationships" id="271" r:id="R61c9a3776b724395"/>
    <p:sldId xmlns:r="http://schemas.openxmlformats.org/officeDocument/2006/relationships" id="272" r:id="Rbcaa3f26b3274e26"/>
    <p:sldId xmlns:r="http://schemas.openxmlformats.org/officeDocument/2006/relationships" id="273" r:id="R5de5f6c8fa7c4f25"/>
    <p:sldId xmlns:r="http://schemas.openxmlformats.org/officeDocument/2006/relationships" id="274" r:id="Rf03c01ab4f3d4d69"/>
    <p:sldId xmlns:r="http://schemas.openxmlformats.org/officeDocument/2006/relationships" id="275" r:id="R49ad20980b154d4f"/>
    <p:sldId xmlns:r="http://schemas.openxmlformats.org/officeDocument/2006/relationships" id="276" r:id="R14b013b9fcc64389"/>
    <p:sldId xmlns:r="http://schemas.openxmlformats.org/officeDocument/2006/relationships" id="277" r:id="R180553257559463a"/>
    <p:sldId xmlns:r="http://schemas.openxmlformats.org/officeDocument/2006/relationships" id="278" r:id="R4c995b02b05943b7"/>
    <p:sldId xmlns:r="http://schemas.openxmlformats.org/officeDocument/2006/relationships" id="279" r:id="R2936b3d120bb4ba7"/>
    <p:sldId xmlns:r="http://schemas.openxmlformats.org/officeDocument/2006/relationships" id="280" r:id="Rd325bd6bd82b4499"/>
    <p:sldId xmlns:r="http://schemas.openxmlformats.org/officeDocument/2006/relationships" id="281" r:id="R5d267b7cac1440bf"/>
    <p:sldId xmlns:r="http://schemas.openxmlformats.org/officeDocument/2006/relationships" id="282" r:id="Rf6b610e95e824df0"/>
    <p:sldId xmlns:r="http://schemas.openxmlformats.org/officeDocument/2006/relationships" id="283" r:id="R19d1b034a0754882"/>
    <p:sldId xmlns:r="http://schemas.openxmlformats.org/officeDocument/2006/relationships" id="284" r:id="Rd8b9d6772d4b44e6"/>
    <p:sldId xmlns:r="http://schemas.openxmlformats.org/officeDocument/2006/relationships" id="285" r:id="R3382b40da11441e1"/>
    <p:sldId xmlns:r="http://schemas.openxmlformats.org/officeDocument/2006/relationships" id="286" r:id="Rf61e492d43a941a4"/>
    <p:sldId xmlns:r="http://schemas.openxmlformats.org/officeDocument/2006/relationships" id="287" r:id="Rd95751b6328447a2"/>
    <p:sldId xmlns:r="http://schemas.openxmlformats.org/officeDocument/2006/relationships" id="288" r:id="Rc188f3133eb84356"/>
    <p:sldId xmlns:r="http://schemas.openxmlformats.org/officeDocument/2006/relationships" id="289" r:id="Rb79af3c2713e4c41"/>
    <p:sldId xmlns:r="http://schemas.openxmlformats.org/officeDocument/2006/relationships" id="290" r:id="R1ebd24069d3847a7"/>
    <p:sldId xmlns:r="http://schemas.openxmlformats.org/officeDocument/2006/relationships" id="291" r:id="R86d703f4f4fa4788"/>
    <p:sldId xmlns:r="http://schemas.openxmlformats.org/officeDocument/2006/relationships" id="292" r:id="R6479d4a2896747cb"/>
    <p:sldId xmlns:r="http://schemas.openxmlformats.org/officeDocument/2006/relationships" id="293" r:id="R65d9f840ca444220"/>
    <p:sldId xmlns:r="http://schemas.openxmlformats.org/officeDocument/2006/relationships" id="294" r:id="Radc55ecaca284d9a"/>
    <p:sldId xmlns:r="http://schemas.openxmlformats.org/officeDocument/2006/relationships" id="295" r:id="R6b7fcbddc7bc461c"/>
    <p:sldId xmlns:r="http://schemas.openxmlformats.org/officeDocument/2006/relationships" id="296" r:id="Rb2b724b094da4460"/>
    <p:sldId xmlns:r="http://schemas.openxmlformats.org/officeDocument/2006/relationships" id="297" r:id="R4e8583c30a6e4cbe"/>
    <p:sldId xmlns:r="http://schemas.openxmlformats.org/officeDocument/2006/relationships" id="298" r:id="R0036e6f7b5ca4c29"/>
    <p:sldId xmlns:r="http://schemas.openxmlformats.org/officeDocument/2006/relationships" id="299" r:id="R66b39317cb6c47b7"/>
    <p:sldId xmlns:r="http://schemas.openxmlformats.org/officeDocument/2006/relationships" id="300" r:id="Rd08f4d917e284f8d"/>
    <p:sldId xmlns:r="http://schemas.openxmlformats.org/officeDocument/2006/relationships" id="301" r:id="Ra319fb1686b14e25"/>
    <p:sldId xmlns:r="http://schemas.openxmlformats.org/officeDocument/2006/relationships" id="302" r:id="Rdfc2cdb62fc446f6"/>
    <p:sldId xmlns:r="http://schemas.openxmlformats.org/officeDocument/2006/relationships" id="303" r:id="Ra6b2dfb4c6fc41bb"/>
    <p:sldId xmlns:r="http://schemas.openxmlformats.org/officeDocument/2006/relationships" id="304" r:id="R40c4134694234e86"/>
    <p:sldId xmlns:r="http://schemas.openxmlformats.org/officeDocument/2006/relationships" id="305" r:id="R68a21e70a3ee4b85"/>
    <p:sldId xmlns:r="http://schemas.openxmlformats.org/officeDocument/2006/relationships" id="306" r:id="Rbf742e14b7eb4a01"/>
    <p:sldId xmlns:r="http://schemas.openxmlformats.org/officeDocument/2006/relationships" id="307" r:id="Re0b7ce7872a64343"/>
    <p:sldId xmlns:r="http://schemas.openxmlformats.org/officeDocument/2006/relationships" id="308" r:id="Rbeee60e40fd2402d"/>
    <p:sldId xmlns:r="http://schemas.openxmlformats.org/officeDocument/2006/relationships" id="309" r:id="R7e811bc9ca584038"/>
    <p:sldId xmlns:r="http://schemas.openxmlformats.org/officeDocument/2006/relationships" id="310" r:id="R0f5a4ebad51b45c6"/>
    <p:sldId xmlns:r="http://schemas.openxmlformats.org/officeDocument/2006/relationships" id="311" r:id="R77c992c80b0945b5"/>
    <p:sldId xmlns:r="http://schemas.openxmlformats.org/officeDocument/2006/relationships" id="312" r:id="R3ff08dbcd2c04759"/>
    <p:sldId xmlns:r="http://schemas.openxmlformats.org/officeDocument/2006/relationships" id="313" r:id="R833113ac25dc4bb9"/>
    <p:sldId xmlns:r="http://schemas.openxmlformats.org/officeDocument/2006/relationships" id="314" r:id="R6c69901cd6ab44a2"/>
    <p:sldId xmlns:r="http://schemas.openxmlformats.org/officeDocument/2006/relationships" id="315" r:id="Rb86d9de357854647"/>
    <p:sldId xmlns:r="http://schemas.openxmlformats.org/officeDocument/2006/relationships" id="316" r:id="Rb496a6da3fbf494e"/>
    <p:sldId xmlns:r="http://schemas.openxmlformats.org/officeDocument/2006/relationships" id="317" r:id="Ra422639d85584c57"/>
    <p:sldId xmlns:r="http://schemas.openxmlformats.org/officeDocument/2006/relationships" id="318" r:id="R3930d1d189a24aed"/>
    <p:sldId xmlns:r="http://schemas.openxmlformats.org/officeDocument/2006/relationships" id="319" r:id="R611bfd7ea3554ef4"/>
    <p:sldId xmlns:r="http://schemas.openxmlformats.org/officeDocument/2006/relationships" id="320" r:id="Rb171670adc114d62"/>
    <p:sldId xmlns:r="http://schemas.openxmlformats.org/officeDocument/2006/relationships" id="321" r:id="R9ffbf751fd984f46"/>
    <p:sldId xmlns:r="http://schemas.openxmlformats.org/officeDocument/2006/relationships" id="322" r:id="Ra0a2684fd1ac43a4"/>
    <p:sldId xmlns:r="http://schemas.openxmlformats.org/officeDocument/2006/relationships" id="323" r:id="R435754047ee94896"/>
    <p:sldId xmlns:r="http://schemas.openxmlformats.org/officeDocument/2006/relationships" id="324" r:id="R44115d3614cd4ead"/>
    <p:sldId xmlns:r="http://schemas.openxmlformats.org/officeDocument/2006/relationships" id="325" r:id="Ra060623853384f9b"/>
    <p:sldId xmlns:r="http://schemas.openxmlformats.org/officeDocument/2006/relationships" id="326" r:id="Rafee3ac582534911"/>
    <p:sldId xmlns:r="http://schemas.openxmlformats.org/officeDocument/2006/relationships" id="327" r:id="R5ee03d34f417489f"/>
    <p:sldId xmlns:r="http://schemas.openxmlformats.org/officeDocument/2006/relationships" id="328" r:id="R0db20081325f436f"/>
    <p:sldId xmlns:r="http://schemas.openxmlformats.org/officeDocument/2006/relationships" id="329" r:id="R5cb3b134801940d2"/>
    <p:sldId xmlns:r="http://schemas.openxmlformats.org/officeDocument/2006/relationships" id="330" r:id="R27834ece4357437b"/>
    <p:sldId xmlns:r="http://schemas.openxmlformats.org/officeDocument/2006/relationships" id="331" r:id="R800030a1f44c42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e04b0939154f1b" /><Relationship Type="http://schemas.openxmlformats.org/officeDocument/2006/relationships/slideMaster" Target="/ppt/slideMasters/slideMaster1.xml" Id="R6d4a8976c95b417f" /><Relationship Type="http://schemas.openxmlformats.org/officeDocument/2006/relationships/notesMaster" Target="/ppt/notesMasters/notesMaster1.xml" Id="R05e2a429deae4df2" /><Relationship Type="http://schemas.openxmlformats.org/officeDocument/2006/relationships/presProps" Target="/ppt/presProps.xml" Id="Rcfd07ef4029f42dc" /><Relationship Type="http://schemas.openxmlformats.org/officeDocument/2006/relationships/tableStyles" Target="/ppt/tableStyles.xml" Id="R3586a5c11ca8428a" /><Relationship Type="http://schemas.openxmlformats.org/officeDocument/2006/relationships/slide" Target="/ppt/slides/slide1.xml" Id="Rcc921ead29e34e34" /><Relationship Type="http://schemas.openxmlformats.org/officeDocument/2006/relationships/slide" Target="/ppt/slides/slide2.xml" Id="R303874a6902c4af4" /><Relationship Type="http://schemas.openxmlformats.org/officeDocument/2006/relationships/slide" Target="/ppt/slides/slide3.xml" Id="R80afb573a00144ae" /><Relationship Type="http://schemas.openxmlformats.org/officeDocument/2006/relationships/slide" Target="/ppt/slides/slide4.xml" Id="Rf64194055e25468f" /><Relationship Type="http://schemas.openxmlformats.org/officeDocument/2006/relationships/slide" Target="/ppt/slides/slide5.xml" Id="Ra56d05abcb3743de" /><Relationship Type="http://schemas.openxmlformats.org/officeDocument/2006/relationships/slide" Target="/ppt/slides/slide6.xml" Id="R1014d366aa8a4561" /><Relationship Type="http://schemas.openxmlformats.org/officeDocument/2006/relationships/slide" Target="/ppt/slides/slide7.xml" Id="R2f6da5245a7b4d5e" /><Relationship Type="http://schemas.openxmlformats.org/officeDocument/2006/relationships/slide" Target="/ppt/slides/slide8.xml" Id="R6875ae1a430942cc" /><Relationship Type="http://schemas.openxmlformats.org/officeDocument/2006/relationships/slide" Target="/ppt/slides/slide9.xml" Id="Racfa6a774e87404a" /><Relationship Type="http://schemas.openxmlformats.org/officeDocument/2006/relationships/slide" Target="/ppt/slides/slide10.xml" Id="R186212a6ed864d98" /><Relationship Type="http://schemas.openxmlformats.org/officeDocument/2006/relationships/slide" Target="/ppt/slides/slide11.xml" Id="R0b7df65938174983" /><Relationship Type="http://schemas.openxmlformats.org/officeDocument/2006/relationships/slide" Target="/ppt/slides/slide12.xml" Id="Rad64ab816a004516" /><Relationship Type="http://schemas.openxmlformats.org/officeDocument/2006/relationships/slide" Target="/ppt/slides/slide13.xml" Id="R19a14cfa1e874bf8" /><Relationship Type="http://schemas.openxmlformats.org/officeDocument/2006/relationships/slide" Target="/ppt/slides/slide14.xml" Id="Ra6b7c4592f3e4739" /><Relationship Type="http://schemas.openxmlformats.org/officeDocument/2006/relationships/slide" Target="/ppt/slides/slide15.xml" Id="Refb2c01c30fc46e8" /><Relationship Type="http://schemas.openxmlformats.org/officeDocument/2006/relationships/slide" Target="/ppt/slides/slide16.xml" Id="R61c9a3776b724395" /><Relationship Type="http://schemas.openxmlformats.org/officeDocument/2006/relationships/slide" Target="/ppt/slides/slide17.xml" Id="Rbcaa3f26b3274e26" /><Relationship Type="http://schemas.openxmlformats.org/officeDocument/2006/relationships/slide" Target="/ppt/slides/slide18.xml" Id="R5de5f6c8fa7c4f25" /><Relationship Type="http://schemas.openxmlformats.org/officeDocument/2006/relationships/slide" Target="/ppt/slides/slide19.xml" Id="Rf03c01ab4f3d4d69" /><Relationship Type="http://schemas.openxmlformats.org/officeDocument/2006/relationships/slide" Target="/ppt/slides/slide20.xml" Id="R49ad20980b154d4f" /><Relationship Type="http://schemas.openxmlformats.org/officeDocument/2006/relationships/slide" Target="/ppt/slides/slide21.xml" Id="R14b013b9fcc64389" /><Relationship Type="http://schemas.openxmlformats.org/officeDocument/2006/relationships/slide" Target="/ppt/slides/slide22.xml" Id="R180553257559463a" /><Relationship Type="http://schemas.openxmlformats.org/officeDocument/2006/relationships/slide" Target="/ppt/slides/slide23.xml" Id="R4c995b02b05943b7" /><Relationship Type="http://schemas.openxmlformats.org/officeDocument/2006/relationships/slide" Target="/ppt/slides/slide24.xml" Id="R2936b3d120bb4ba7" /><Relationship Type="http://schemas.openxmlformats.org/officeDocument/2006/relationships/slide" Target="/ppt/slides/slide25.xml" Id="Rd325bd6bd82b4499" /><Relationship Type="http://schemas.openxmlformats.org/officeDocument/2006/relationships/slide" Target="/ppt/slides/slide26.xml" Id="R5d267b7cac1440bf" /><Relationship Type="http://schemas.openxmlformats.org/officeDocument/2006/relationships/slide" Target="/ppt/slides/slide27.xml" Id="Rf6b610e95e824df0" /><Relationship Type="http://schemas.openxmlformats.org/officeDocument/2006/relationships/slide" Target="/ppt/slides/slide28.xml" Id="R19d1b034a0754882" /><Relationship Type="http://schemas.openxmlformats.org/officeDocument/2006/relationships/slide" Target="/ppt/slides/slide29.xml" Id="Rd8b9d6772d4b44e6" /><Relationship Type="http://schemas.openxmlformats.org/officeDocument/2006/relationships/slide" Target="/ppt/slides/slide30.xml" Id="R3382b40da11441e1" /><Relationship Type="http://schemas.openxmlformats.org/officeDocument/2006/relationships/slide" Target="/ppt/slides/slide31.xml" Id="Rf61e492d43a941a4" /><Relationship Type="http://schemas.openxmlformats.org/officeDocument/2006/relationships/slide" Target="/ppt/slides/slide32.xml" Id="Rd95751b6328447a2" /><Relationship Type="http://schemas.openxmlformats.org/officeDocument/2006/relationships/slide" Target="/ppt/slides/slide33.xml" Id="Rc188f3133eb84356" /><Relationship Type="http://schemas.openxmlformats.org/officeDocument/2006/relationships/slide" Target="/ppt/slides/slide34.xml" Id="Rb79af3c2713e4c41" /><Relationship Type="http://schemas.openxmlformats.org/officeDocument/2006/relationships/slide" Target="/ppt/slides/slide35.xml" Id="R1ebd24069d3847a7" /><Relationship Type="http://schemas.openxmlformats.org/officeDocument/2006/relationships/slide" Target="/ppt/slides/slide36.xml" Id="R86d703f4f4fa4788" /><Relationship Type="http://schemas.openxmlformats.org/officeDocument/2006/relationships/slide" Target="/ppt/slides/slide37.xml" Id="R6479d4a2896747cb" /><Relationship Type="http://schemas.openxmlformats.org/officeDocument/2006/relationships/slide" Target="/ppt/slides/slide38.xml" Id="R65d9f840ca444220" /><Relationship Type="http://schemas.openxmlformats.org/officeDocument/2006/relationships/slide" Target="/ppt/slides/slide39.xml" Id="Radc55ecaca284d9a" /><Relationship Type="http://schemas.openxmlformats.org/officeDocument/2006/relationships/slide" Target="/ppt/slides/slide40.xml" Id="R6b7fcbddc7bc461c" /><Relationship Type="http://schemas.openxmlformats.org/officeDocument/2006/relationships/slide" Target="/ppt/slides/slide41.xml" Id="Rb2b724b094da4460" /><Relationship Type="http://schemas.openxmlformats.org/officeDocument/2006/relationships/slide" Target="/ppt/slides/slide42.xml" Id="R4e8583c30a6e4cbe" /><Relationship Type="http://schemas.openxmlformats.org/officeDocument/2006/relationships/slide" Target="/ppt/slides/slide43.xml" Id="R0036e6f7b5ca4c29" /><Relationship Type="http://schemas.openxmlformats.org/officeDocument/2006/relationships/slide" Target="/ppt/slides/slide44.xml" Id="R66b39317cb6c47b7" /><Relationship Type="http://schemas.openxmlformats.org/officeDocument/2006/relationships/slide" Target="/ppt/slides/slide45.xml" Id="Rd08f4d917e284f8d" /><Relationship Type="http://schemas.openxmlformats.org/officeDocument/2006/relationships/slide" Target="/ppt/slides/slide46.xml" Id="Ra319fb1686b14e25" /><Relationship Type="http://schemas.openxmlformats.org/officeDocument/2006/relationships/slide" Target="/ppt/slides/slide47.xml" Id="Rdfc2cdb62fc446f6" /><Relationship Type="http://schemas.openxmlformats.org/officeDocument/2006/relationships/slide" Target="/ppt/slides/slide48.xml" Id="Ra6b2dfb4c6fc41bb" /><Relationship Type="http://schemas.openxmlformats.org/officeDocument/2006/relationships/slide" Target="/ppt/slides/slide49.xml" Id="R40c4134694234e86" /><Relationship Type="http://schemas.openxmlformats.org/officeDocument/2006/relationships/slide" Target="/ppt/slides/slide50.xml" Id="R68a21e70a3ee4b85" /><Relationship Type="http://schemas.openxmlformats.org/officeDocument/2006/relationships/slide" Target="/ppt/slides/slide51.xml" Id="Rbf742e14b7eb4a01" /><Relationship Type="http://schemas.openxmlformats.org/officeDocument/2006/relationships/slide" Target="/ppt/slides/slide52.xml" Id="Re0b7ce7872a64343" /><Relationship Type="http://schemas.openxmlformats.org/officeDocument/2006/relationships/slide" Target="/ppt/slides/slide53.xml" Id="Rbeee60e40fd2402d" /><Relationship Type="http://schemas.openxmlformats.org/officeDocument/2006/relationships/slide" Target="/ppt/slides/slide54.xml" Id="R7e811bc9ca584038" /><Relationship Type="http://schemas.openxmlformats.org/officeDocument/2006/relationships/slide" Target="/ppt/slides/slide55.xml" Id="R0f5a4ebad51b45c6" /><Relationship Type="http://schemas.openxmlformats.org/officeDocument/2006/relationships/slide" Target="/ppt/slides/slide56.xml" Id="R77c992c80b0945b5" /><Relationship Type="http://schemas.openxmlformats.org/officeDocument/2006/relationships/slide" Target="/ppt/slides/slide57.xml" Id="R3ff08dbcd2c04759" /><Relationship Type="http://schemas.openxmlformats.org/officeDocument/2006/relationships/slide" Target="/ppt/slides/slide58.xml" Id="R833113ac25dc4bb9" /><Relationship Type="http://schemas.openxmlformats.org/officeDocument/2006/relationships/slide" Target="/ppt/slides/slide59.xml" Id="R6c69901cd6ab44a2" /><Relationship Type="http://schemas.openxmlformats.org/officeDocument/2006/relationships/slide" Target="/ppt/slides/slide60.xml" Id="Rb86d9de357854647" /><Relationship Type="http://schemas.openxmlformats.org/officeDocument/2006/relationships/slide" Target="/ppt/slides/slide61.xml" Id="Rb496a6da3fbf494e" /><Relationship Type="http://schemas.openxmlformats.org/officeDocument/2006/relationships/slide" Target="/ppt/slides/slide62.xml" Id="Ra422639d85584c57" /><Relationship Type="http://schemas.openxmlformats.org/officeDocument/2006/relationships/slide" Target="/ppt/slides/slide63.xml" Id="R3930d1d189a24aed" /><Relationship Type="http://schemas.openxmlformats.org/officeDocument/2006/relationships/slide" Target="/ppt/slides/slide64.xml" Id="R611bfd7ea3554ef4" /><Relationship Type="http://schemas.openxmlformats.org/officeDocument/2006/relationships/slide" Target="/ppt/slides/slide65.xml" Id="Rb171670adc114d62" /><Relationship Type="http://schemas.openxmlformats.org/officeDocument/2006/relationships/slide" Target="/ppt/slides/slide66.xml" Id="R9ffbf751fd984f46" /><Relationship Type="http://schemas.openxmlformats.org/officeDocument/2006/relationships/slide" Target="/ppt/slides/slide67.xml" Id="Ra0a2684fd1ac43a4" /><Relationship Type="http://schemas.openxmlformats.org/officeDocument/2006/relationships/slide" Target="/ppt/slides/slide68.xml" Id="R435754047ee94896" /><Relationship Type="http://schemas.openxmlformats.org/officeDocument/2006/relationships/slide" Target="/ppt/slides/slide69.xml" Id="R44115d3614cd4ead" /><Relationship Type="http://schemas.openxmlformats.org/officeDocument/2006/relationships/slide" Target="/ppt/slides/slide70.xml" Id="Ra060623853384f9b" /><Relationship Type="http://schemas.openxmlformats.org/officeDocument/2006/relationships/slide" Target="/ppt/slides/slide71.xml" Id="Rafee3ac582534911" /><Relationship Type="http://schemas.openxmlformats.org/officeDocument/2006/relationships/slide" Target="/ppt/slides/slide72.xml" Id="R5ee03d34f417489f" /><Relationship Type="http://schemas.openxmlformats.org/officeDocument/2006/relationships/slide" Target="/ppt/slides/slide73.xml" Id="R0db20081325f436f" /><Relationship Type="http://schemas.openxmlformats.org/officeDocument/2006/relationships/slide" Target="/ppt/slides/slide74.xml" Id="R5cb3b134801940d2" /><Relationship Type="http://schemas.openxmlformats.org/officeDocument/2006/relationships/slide" Target="/ppt/slides/slide75.xml" Id="R27834ece4357437b" /><Relationship Type="http://schemas.openxmlformats.org/officeDocument/2006/relationships/slide" Target="/ppt/slides/slide76.xml" Id="R800030a1f44c42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d0f84f6a3949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7d777b50a14267" /><Relationship Type="http://schemas.openxmlformats.org/officeDocument/2006/relationships/notesMaster" Target="/ppt/notesMasters/notesMaster1.xml" Id="R31682f7494e64f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2209eaf757478a" /><Relationship Type="http://schemas.openxmlformats.org/officeDocument/2006/relationships/notesMaster" Target="/ppt/notesMasters/notesMaster1.xml" Id="Rb8bf6eee6ba946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8c49dd3e494dcf" /><Relationship Type="http://schemas.openxmlformats.org/officeDocument/2006/relationships/notesMaster" Target="/ppt/notesMasters/notesMaster1.xml" Id="Rf35b0372109a46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f1829e074f40cd" /><Relationship Type="http://schemas.openxmlformats.org/officeDocument/2006/relationships/notesMaster" Target="/ppt/notesMasters/notesMaster1.xml" Id="Rf7d54f88542248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64c560a4df41f9" /><Relationship Type="http://schemas.openxmlformats.org/officeDocument/2006/relationships/notesMaster" Target="/ppt/notesMasters/notesMaster1.xml" Id="R2bf75aa7fb194d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a1378fa503402c" /><Relationship Type="http://schemas.openxmlformats.org/officeDocument/2006/relationships/notesMaster" Target="/ppt/notesMasters/notesMaster1.xml" Id="R6044a15e3f5642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0a3913abf34d11" /><Relationship Type="http://schemas.openxmlformats.org/officeDocument/2006/relationships/notesMaster" Target="/ppt/notesMasters/notesMaster1.xml" Id="R9b28a7e71c974b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5fa5de1b2e4b81" /><Relationship Type="http://schemas.openxmlformats.org/officeDocument/2006/relationships/notesMaster" Target="/ppt/notesMasters/notesMaster1.xml" Id="R49c91aa9c32444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b84736bb05417e" /><Relationship Type="http://schemas.openxmlformats.org/officeDocument/2006/relationships/notesMaster" Target="/ppt/notesMasters/notesMaster1.xml" Id="Re08712f8987c40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f362bc72f9496c" /><Relationship Type="http://schemas.openxmlformats.org/officeDocument/2006/relationships/notesMaster" Target="/ppt/notesMasters/notesMaster1.xml" Id="R1752e2a9587641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9fc8d81ef549af" /><Relationship Type="http://schemas.openxmlformats.org/officeDocument/2006/relationships/notesMaster" Target="/ppt/notesMasters/notesMaster1.xml" Id="Rfc651a3ab224483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afb72e4c224e16" /><Relationship Type="http://schemas.openxmlformats.org/officeDocument/2006/relationships/notesMaster" Target="/ppt/notesMasters/notesMaster1.xml" Id="R821c70a34a4041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972ea2d5a34260" /><Relationship Type="http://schemas.openxmlformats.org/officeDocument/2006/relationships/notesMaster" Target="/ppt/notesMasters/notesMaster1.xml" Id="Rb54976e1c47441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433bd7006b442e" /><Relationship Type="http://schemas.openxmlformats.org/officeDocument/2006/relationships/notesMaster" Target="/ppt/notesMasters/notesMaster1.xml" Id="Rd76f8d5a3f3346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dc053492ad4764" /><Relationship Type="http://schemas.openxmlformats.org/officeDocument/2006/relationships/notesMaster" Target="/ppt/notesMasters/notesMaster1.xml" Id="R7f606dd32d4745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aca201d12745c5" /><Relationship Type="http://schemas.openxmlformats.org/officeDocument/2006/relationships/notesMaster" Target="/ppt/notesMasters/notesMaster1.xml" Id="R89b0dbb10a574a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3f2eff695ed432a" /><Relationship Type="http://schemas.openxmlformats.org/officeDocument/2006/relationships/notesMaster" Target="/ppt/notesMasters/notesMaster1.xml" Id="R18fd59ec461a44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0c174a145b4b25" /><Relationship Type="http://schemas.openxmlformats.org/officeDocument/2006/relationships/notesMaster" Target="/ppt/notesMasters/notesMaster1.xml" Id="Ref83eba8724040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3fb001048a8459b" /><Relationship Type="http://schemas.openxmlformats.org/officeDocument/2006/relationships/notesMaster" Target="/ppt/notesMasters/notesMaster1.xml" Id="Rc42944edafbc47b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e86041a0bc4418" /><Relationship Type="http://schemas.openxmlformats.org/officeDocument/2006/relationships/notesMaster" Target="/ppt/notesMasters/notesMaster1.xml" Id="Rcffd7ad455f64c8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dbe1703f27b43af" /><Relationship Type="http://schemas.openxmlformats.org/officeDocument/2006/relationships/notesMaster" Target="/ppt/notesMasters/notesMaster1.xml" Id="R4df19ce5395742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d2e15e84ede480c" /><Relationship Type="http://schemas.openxmlformats.org/officeDocument/2006/relationships/notesMaster" Target="/ppt/notesMasters/notesMaster1.xml" Id="R489ea51aecc248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76e77aa2b041ec" /><Relationship Type="http://schemas.openxmlformats.org/officeDocument/2006/relationships/notesMaster" Target="/ppt/notesMasters/notesMaster1.xml" Id="R61e0fecbc10440e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49f5d6b4b5a498e" /><Relationship Type="http://schemas.openxmlformats.org/officeDocument/2006/relationships/notesMaster" Target="/ppt/notesMasters/notesMaster1.xml" Id="R9bc1bd65057240f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22d1256c4904638" /><Relationship Type="http://schemas.openxmlformats.org/officeDocument/2006/relationships/notesMaster" Target="/ppt/notesMasters/notesMaster1.xml" Id="R16eba71e34c940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84c6162bae34e52" /><Relationship Type="http://schemas.openxmlformats.org/officeDocument/2006/relationships/notesMaster" Target="/ppt/notesMasters/notesMaster1.xml" Id="R7dcc6553d6e24ed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26c265fb7354ce4" /><Relationship Type="http://schemas.openxmlformats.org/officeDocument/2006/relationships/notesMaster" Target="/ppt/notesMasters/notesMaster1.xml" Id="R32f796f2c4db41f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da058091beb4291" /><Relationship Type="http://schemas.openxmlformats.org/officeDocument/2006/relationships/notesMaster" Target="/ppt/notesMasters/notesMaster1.xml" Id="R6506b1d43d864c4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f19ecb03a234355" /><Relationship Type="http://schemas.openxmlformats.org/officeDocument/2006/relationships/notesMaster" Target="/ppt/notesMasters/notesMaster1.xml" Id="Rc45b27012fea445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6bda947012d4150" /><Relationship Type="http://schemas.openxmlformats.org/officeDocument/2006/relationships/notesMaster" Target="/ppt/notesMasters/notesMaster1.xml" Id="Rf48ba1037913407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db62c1e4c774329" /><Relationship Type="http://schemas.openxmlformats.org/officeDocument/2006/relationships/notesMaster" Target="/ppt/notesMasters/notesMaster1.xml" Id="R7de8e2f294a04cd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062c27e7fb0425d" /><Relationship Type="http://schemas.openxmlformats.org/officeDocument/2006/relationships/notesMaster" Target="/ppt/notesMasters/notesMaster1.xml" Id="R10d98b0a61814c4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d85e6fe34424936" /><Relationship Type="http://schemas.openxmlformats.org/officeDocument/2006/relationships/notesMaster" Target="/ppt/notesMasters/notesMaster1.xml" Id="R9962cef933784b1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5edda5a0e3d40bd" /><Relationship Type="http://schemas.openxmlformats.org/officeDocument/2006/relationships/notesMaster" Target="/ppt/notesMasters/notesMaster1.xml" Id="R97925d0c2d9d45f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0bb72ce726940d7" /><Relationship Type="http://schemas.openxmlformats.org/officeDocument/2006/relationships/notesMaster" Target="/ppt/notesMasters/notesMaster1.xml" Id="R4bb2740592a6456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d34cd7b6e7e4cc4" /><Relationship Type="http://schemas.openxmlformats.org/officeDocument/2006/relationships/notesMaster" Target="/ppt/notesMasters/notesMaster1.xml" Id="R3b90bcab2ce0478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3e1643dd4034d51" /><Relationship Type="http://schemas.openxmlformats.org/officeDocument/2006/relationships/notesMaster" Target="/ppt/notesMasters/notesMaster1.xml" Id="Rf093bd196da4414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31b04cdd6024088" /><Relationship Type="http://schemas.openxmlformats.org/officeDocument/2006/relationships/notesMaster" Target="/ppt/notesMasters/notesMaster1.xml" Id="R4ccfa06cf5224aa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177ea9c17e34578" /><Relationship Type="http://schemas.openxmlformats.org/officeDocument/2006/relationships/notesMaster" Target="/ppt/notesMasters/notesMaster1.xml" Id="Ra7371db244624a3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f60ebbb94fd4c94" /><Relationship Type="http://schemas.openxmlformats.org/officeDocument/2006/relationships/notesMaster" Target="/ppt/notesMasters/notesMaster1.xml" Id="R5d7ee3329be3470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3d554772695493e" /><Relationship Type="http://schemas.openxmlformats.org/officeDocument/2006/relationships/notesMaster" Target="/ppt/notesMasters/notesMaster1.xml" Id="R8675b8f9b42a481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9c47577b6fc461b" /><Relationship Type="http://schemas.openxmlformats.org/officeDocument/2006/relationships/notesMaster" Target="/ppt/notesMasters/notesMaster1.xml" Id="R847e00031b8942b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89003a1b8d54258" /><Relationship Type="http://schemas.openxmlformats.org/officeDocument/2006/relationships/notesMaster" Target="/ppt/notesMasters/notesMaster1.xml" Id="R2807691e3f724c2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2e6e7ce6a0f4bae" /><Relationship Type="http://schemas.openxmlformats.org/officeDocument/2006/relationships/notesMaster" Target="/ppt/notesMasters/notesMaster1.xml" Id="R1e67f20d528142f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49d3c83ca794531" /><Relationship Type="http://schemas.openxmlformats.org/officeDocument/2006/relationships/notesMaster" Target="/ppt/notesMasters/notesMaster1.xml" Id="Rb8973f73caa2420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817ef2133b7472b" /><Relationship Type="http://schemas.openxmlformats.org/officeDocument/2006/relationships/notesMaster" Target="/ppt/notesMasters/notesMaster1.xml" Id="R399ce5d188f94a3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5af4ecd5fff49fe" /><Relationship Type="http://schemas.openxmlformats.org/officeDocument/2006/relationships/notesMaster" Target="/ppt/notesMasters/notesMaster1.xml" Id="R720ef48c19604a2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b5a40aba38948bb" /><Relationship Type="http://schemas.openxmlformats.org/officeDocument/2006/relationships/notesMaster" Target="/ppt/notesMasters/notesMaster1.xml" Id="Re6cd6b90cac9475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fa3c5c61c2d42d1" /><Relationship Type="http://schemas.openxmlformats.org/officeDocument/2006/relationships/notesMaster" Target="/ppt/notesMasters/notesMaster1.xml" Id="Rfb8ca051be37424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9fcfdb95f1742c9" /><Relationship Type="http://schemas.openxmlformats.org/officeDocument/2006/relationships/notesMaster" Target="/ppt/notesMasters/notesMaster1.xml" Id="R88d3fd1e001f462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f9c389695ac496d" /><Relationship Type="http://schemas.openxmlformats.org/officeDocument/2006/relationships/notesMaster" Target="/ppt/notesMasters/notesMaster1.xml" Id="R92236033fb0746f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8494fb6f169407d" /><Relationship Type="http://schemas.openxmlformats.org/officeDocument/2006/relationships/notesMaster" Target="/ppt/notesMasters/notesMaster1.xml" Id="R6c49297e91cd400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a15782e10e345e4" /><Relationship Type="http://schemas.openxmlformats.org/officeDocument/2006/relationships/notesMaster" Target="/ppt/notesMasters/notesMaster1.xml" Id="R2c71edf4d0584c8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56ead6c187e401e" /><Relationship Type="http://schemas.openxmlformats.org/officeDocument/2006/relationships/notesMaster" Target="/ppt/notesMasters/notesMaster1.xml" Id="Re995bbfdf689422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e6c8f4682854406" /><Relationship Type="http://schemas.openxmlformats.org/officeDocument/2006/relationships/notesMaster" Target="/ppt/notesMasters/notesMaster1.xml" Id="R1ca72ff3c9e64c0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648250c8f46437c" /><Relationship Type="http://schemas.openxmlformats.org/officeDocument/2006/relationships/notesMaster" Target="/ppt/notesMasters/notesMaster1.xml" Id="Rda70a8a5a210439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b1fd68961744cea" /><Relationship Type="http://schemas.openxmlformats.org/officeDocument/2006/relationships/notesMaster" Target="/ppt/notesMasters/notesMaster1.xml" Id="R43fab226b777410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e99c6ea609d4a01" /><Relationship Type="http://schemas.openxmlformats.org/officeDocument/2006/relationships/notesMaster" Target="/ppt/notesMasters/notesMaster1.xml" Id="R734777efc217417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5fd677491fa49d4" /><Relationship Type="http://schemas.openxmlformats.org/officeDocument/2006/relationships/notesMaster" Target="/ppt/notesMasters/notesMaster1.xml" Id="R51d88762f133486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4003b6ff1eb1466d" /><Relationship Type="http://schemas.openxmlformats.org/officeDocument/2006/relationships/notesMaster" Target="/ppt/notesMasters/notesMaster1.xml" Id="R40a575885a35421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56decfd6939483f" /><Relationship Type="http://schemas.openxmlformats.org/officeDocument/2006/relationships/notesMaster" Target="/ppt/notesMasters/notesMaster1.xml" Id="R0dcbfea1f2674522"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69db8101ffc4a02" /><Relationship Type="http://schemas.openxmlformats.org/officeDocument/2006/relationships/notesMaster" Target="/ppt/notesMasters/notesMaster1.xml" Id="R02c7f32224444f6f"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6b89a90ec1945fb" /><Relationship Type="http://schemas.openxmlformats.org/officeDocument/2006/relationships/notesMaster" Target="/ppt/notesMasters/notesMaster1.xml" Id="Rc020c2935dda4aae"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023caff758a64402" /><Relationship Type="http://schemas.openxmlformats.org/officeDocument/2006/relationships/notesMaster" Target="/ppt/notesMasters/notesMaster1.xml" Id="R8858ab148d984de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7137c3c2066440c" /><Relationship Type="http://schemas.openxmlformats.org/officeDocument/2006/relationships/notesMaster" Target="/ppt/notesMasters/notesMaster1.xml" Id="Rd969d2daa6214ad4"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0dbc2f1bc4a14de3" /><Relationship Type="http://schemas.openxmlformats.org/officeDocument/2006/relationships/notesMaster" Target="/ppt/notesMasters/notesMaster1.xml" Id="Rfe5513a182ee448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efef05246874087" /><Relationship Type="http://schemas.openxmlformats.org/officeDocument/2006/relationships/notesMaster" Target="/ppt/notesMasters/notesMaster1.xml" Id="R3bc0edf5deff4247"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ccd7b1ff684148d6" /><Relationship Type="http://schemas.openxmlformats.org/officeDocument/2006/relationships/notesMaster" Target="/ppt/notesMasters/notesMaster1.xml" Id="Rc7102c79803042c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6bc1d95a957442c6" /><Relationship Type="http://schemas.openxmlformats.org/officeDocument/2006/relationships/notesMaster" Target="/ppt/notesMasters/notesMaster1.xml" Id="R24e5bc264f42443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fc36dc3cb74341c5" /><Relationship Type="http://schemas.openxmlformats.org/officeDocument/2006/relationships/notesMaster" Target="/ppt/notesMasters/notesMaster1.xml" Id="Rd4358fa8a2be4991"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2a80e42c8e34102" /><Relationship Type="http://schemas.openxmlformats.org/officeDocument/2006/relationships/notesMaster" Target="/ppt/notesMasters/notesMaster1.xml" Id="R03a52ff443644bf1"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47cc9ec42094bfb" /><Relationship Type="http://schemas.openxmlformats.org/officeDocument/2006/relationships/notesMaster" Target="/ppt/notesMasters/notesMaster1.xml" Id="Ra632b42467754ae0"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db51f03255b44a68" /><Relationship Type="http://schemas.openxmlformats.org/officeDocument/2006/relationships/notesMaster" Target="/ppt/notesMasters/notesMaster1.xml" Id="R9750f81b5fe642bb"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c1c22367758d4d53" /><Relationship Type="http://schemas.openxmlformats.org/officeDocument/2006/relationships/notesMaster" Target="/ppt/notesMasters/notesMaster1.xml" Id="R097e8f6945204f97"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26ba82ebe90541e5" /><Relationship Type="http://schemas.openxmlformats.org/officeDocument/2006/relationships/notesMaster" Target="/ppt/notesMasters/notesMaster1.xml" Id="R0eb07757a749481a"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c65bd44500aa4f38" /><Relationship Type="http://schemas.openxmlformats.org/officeDocument/2006/relationships/notesMaster" Target="/ppt/notesMasters/notesMaster1.xml" Id="R80692461912a4d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작성 기준: 현재 data/experiments/의 분석 코드와 사용한 데이터·판정 기준을 정리한 계획표입니다. 이미 수행한 분석을 포함하며, 분석 전에 등록한 계획서는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장병의 체력 측정 현황을 파악하고, 연령·BMI에 따른 체력 평균과 미달 여부의 차이를 확인합니다. 또한 1·2차 체력 상태에 따른 실제 3차 통과율을 집계하고 로지스틱 회귀의 개인별 예측확률과 구분합니다.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측정 데이터: data/processed/KS_NFA_PROCESSED.csv</a:t>
            </a:r>
          </a:p>
          <a:p xmlns:a="http://schemas.openxmlformats.org/drawingml/2006/main">
            <a:r>
              <a:t>컬럼 정의서: data/definitions/KS_NFA_FINAL_DEFINITION.csv</a:t>
            </a:r>
          </a:p>
          <a:p xmlns:a="http://schemas.openxmlformats.org/drawingml/2006/main">
            <a:r>
              <a:t>3등급기준표: data/definitions/grade3_male_19_24.csv</a:t>
            </a:r>
          </a:p>
          <a:p xmlns:a="http://schemas.openxmlformats.org/drawingml/2006/main">
            <a:r>
              <a:t>현재 데이터 규모: 10,260개 측정 기록, 고유 장병 식별자 3,420개 (30일간격). 데이터 갱신 시 재집계</a:t>
            </a:r>
          </a:p>
          <a:p xmlns:a="http://schemas.openxmlformats.org/drawingml/2006/main">
            <a:r>
              <a:t>원자료 성격: 국민체력100 남성 19~24세 자료를 분석에서 장병 표본으로 사용. 실제 특정 부대 전체 모집단이라는 의미는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전처리 대상: 전처리 필터와 측정 기록 선정 조건을 통과한 자료. 원본 전체 19~24세 남성을 모두 분석한 결과는 아님</a:t>
            </a:r>
          </a:p>
          <a:p xmlns:a="http://schemas.openxmlformats.org/drawingml/2006/main">
            <a:r>
              <a:t>첫 측정 분석: 장병별 날짜순 첫 측정 1건 사용. 동일 날짜이면 원본 행 순서 적용</a:t>
            </a:r>
          </a:p>
          <a:p xmlns:a="http://schemas.openxmlformats.org/drawingml/2006/main">
            <a:r>
              <a:t>반복 측정 분석: 동일 장병의 1·2·3차 기록을 연결하여 비교</a:t>
            </a:r>
          </a:p>
          <a:p xmlns:a="http://schemas.openxmlformats.org/drawingml/2006/main">
            <a:r>
              <a:t>연령 범위: 첫 측정 분석은 첫 측정 당시 19~24세. 회차별 분석은 코드의 연령 필터에 따라 선정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M_CODE, MESURE_DE, 체력 4종목, 측정 건수</a:t>
            </a:r>
          </a:p>
          <a:p xmlns:a="http://schemas.openxmlformats.org/drawingml/2006/main">
            <a:r>
              <a:t>분석 단위·방법: 장병별 기록 수, 중복·결측 확인</a:t>
            </a:r>
          </a:p>
          <a:p xmlns:a="http://schemas.openxmlformats.org/drawingml/2006/main">
            <a:r>
              <a:t>확인할 결과: 고유 대상자 수, 3회 기록 여부, 종목별 판정불가 수</a:t>
            </a:r>
          </a:p>
          <a:p xmlns:a="http://schemas.openxmlformats.org/drawingml/2006/main">
            <a:r>
              <a:t>관련 파일: check_분석데이터.py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AGE, 체력 4종목, HEIGHT, WEIGHT, BMI, BODY_FAT_PERCENTAGE</a:t>
            </a:r>
          </a:p>
          <a:p xmlns:a="http://schemas.openxmlformats.org/drawingml/2006/main">
            <a:r>
              <a:t>분석 단위·방법: 첫 측정, 연령별 기술통계</a:t>
            </a:r>
          </a:p>
          <a:p xmlns:a="http://schemas.openxmlformats.org/drawingml/2006/main">
            <a:r>
              <a:t>확인할 결과: 인원·구성비·평균·표본 표준편차</a:t>
            </a:r>
          </a:p>
          <a:p xmlns:a="http://schemas.openxmlformats.org/drawingml/2006/main">
            <a:r>
              <a:t>관련 파일: 분석_연령별.py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첫 측정 BMI, BMI 그룹, 체력·신체 측정값</a:t>
            </a:r>
          </a:p>
          <a:p xmlns:a="http://schemas.openxmlformats.org/drawingml/2006/main">
            <a:r>
              <a:t>분석 단위·방법: 첫 측정, BMI 삼분위 그룹별 기술통계</a:t>
            </a:r>
          </a:p>
          <a:p xmlns:a="http://schemas.openxmlformats.org/drawingml/2006/main">
            <a:r>
              <a:t>확인할 결과: 구간 경계, 그룹 인원, 평균·표준편차</a:t>
            </a:r>
          </a:p>
          <a:p xmlns:a="http://schemas.openxmlformats.org/drawingml/2006/main">
            <a:r>
              <a:t>관련 파일: 분석_bmi별.py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요인: AGE 6집단, 종속변수: 체력 각 종목의 연속 측정값</a:t>
            </a:r>
          </a:p>
          <a:p xmlns:a="http://schemas.openxmlformats.org/drawingml/2006/main">
            <a:r>
              <a:t>분석 단위·방법: 종목별 Levene 검정 후 일반 또는 Welch 일원분산분석</a:t>
            </a:r>
          </a:p>
          <a:p xmlns:a="http://schemas.openxmlformats.org/drawingml/2006/main">
            <a:r>
              <a:t>확인할 결과: 적용 검정, F·p값, η², 유의한 경우 연령 15쌍 사후검정</a:t>
            </a:r>
          </a:p>
          <a:p xmlns:a="http://schemas.openxmlformats.org/drawingml/2006/main">
            <a:r>
              <a:t>관련 파일: 아노바_연령.py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요인: BMI 3집단, 종속변수: 체력 각 종목의 연속 측정값</a:t>
            </a:r>
          </a:p>
          <a:p xmlns:a="http://schemas.openxmlformats.org/drawingml/2006/main">
            <a:r>
              <a:t>분석 단위·방법: 종목별 Levene 검정 후 일반 또는 Welch 일원분산분석</a:t>
            </a:r>
          </a:p>
          <a:p xmlns:a="http://schemas.openxmlformats.org/drawingml/2006/main">
            <a:r>
              <a:t>확인할 결과: 적용 p값, η², 유의한 경우 BMI 3쌍 사후검정·평균차·신뢰구간</a:t>
            </a:r>
          </a:p>
          <a:p xmlns:a="http://schemas.openxmlformats.org/drawingml/2006/main">
            <a:r>
              <a:t>관련 파일: 아노바_bmi.py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AGE, 종목별 미달·충족 범주</a:t>
            </a:r>
          </a:p>
          <a:p xmlns:a="http://schemas.openxmlformats.org/drawingml/2006/main">
            <a:r>
              <a:t>분석 단위·방법: 첫 측정, 종목별 6×2 교차표와 카이제곱 독립성 검정</a:t>
            </a:r>
          </a:p>
          <a:p xmlns:a="http://schemas.openxmlformats.org/drawingml/2006/main">
            <a:r>
              <a:t>확인할 결과: 관측·기대빈도, χ², 자유도, Holm 보정 p값, Cramér’s V</a:t>
            </a:r>
          </a:p>
          <a:p xmlns:a="http://schemas.openxmlformats.org/drawingml/2006/main">
            <a:r>
              <a:t>관련 파일: 카이제곱_연령별미달여부.py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BMI 3집단, 종목별 미달·충족 범주</a:t>
            </a:r>
          </a:p>
          <a:p xmlns:a="http://schemas.openxmlformats.org/drawingml/2006/main">
            <a:r>
              <a:t>분석 단위·방법: 첫 측정, 종목별 3×2 교차표와 카이제곱 독립성 검정</a:t>
            </a:r>
          </a:p>
          <a:p xmlns:a="http://schemas.openxmlformats.org/drawingml/2006/main">
            <a:r>
              <a:t>확인할 결과: 그룹별 미달률, χ², Holm 보정 p값, Cramér’s V</a:t>
            </a:r>
          </a:p>
          <a:p xmlns:a="http://schemas.openxmlformats.org/drawingml/2006/main">
            <a:r>
              <a:t>관련 파일: 카이제곱_bmi별미달여부.py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M_CODE, round, 각 종목의 회차별 측정값</a:t>
            </a:r>
          </a:p>
          <a:p xmlns:a="http://schemas.openxmlformats.org/drawingml/2006/main">
            <a:r>
              <a:t>분석 단위·방법: 장병별 짝 자료, Pearson·Spearman 상관분석. 1↔2·2↔3·1↔3차</a:t>
            </a:r>
          </a:p>
          <a:p xmlns:a="http://schemas.openxmlformats.org/drawingml/2006/main">
            <a:r>
              <a:t>확인할 결과: 4종목×3쌍의 상관계수·원 p값·표본 수</a:t>
            </a:r>
          </a:p>
          <a:p xmlns:a="http://schemas.openxmlformats.org/drawingml/2006/main">
            <a:r>
              <a:t>관련 파일: 체력측정회차별상관분석.py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종목별 미달 여부, 회차, 장병 식별자</a:t>
            </a:r>
          </a:p>
          <a:p xmlns:a="http://schemas.openxmlformats.org/drawingml/2006/main">
            <a:r>
              <a:t>분석 단위·방법: 종목별 동일 완전측정 대상자 비교가 기본. 인원·미달률·변동률 집계</a:t>
            </a:r>
          </a:p>
          <a:p xmlns:a="http://schemas.openxmlformats.org/drawingml/2006/main">
            <a:r>
              <a:t>확인할 결과: 회차별 인원, 미달률, 1→2·2→3·1→3차 인원 변동률</a:t>
            </a:r>
          </a:p>
          <a:p xmlns:a="http://schemas.openxmlformats.org/drawingml/2006/main">
            <a:r>
              <a:t>관련 파일: 종목별체력미달자_회차별변화율.py 및 회차중심·누적막대 버전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회차별 미달 종목 수 0~4개</a:t>
            </a:r>
          </a:p>
          <a:p xmlns:a="http://schemas.openxmlformats.org/drawingml/2006/main">
            <a:r>
              <a:t>분석 단위·방법: 정확히 2·3·4개 미달 및 2개 이상 미달 인원·비율 집계</a:t>
            </a:r>
          </a:p>
          <a:p xmlns:a="http://schemas.openxmlformats.org/drawingml/2006/main">
            <a:r>
              <a:t>확인할 결과: 회차별 위험 규모, 변동률, 해당 장병 목록</a:t>
            </a:r>
          </a:p>
          <a:p xmlns:a="http://schemas.openxmlformats.org/drawingml/2006/main">
            <a:r>
              <a:t>관련 파일: 위험장병식별.py 및 변동률 버전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회차별 미달 수, 정상·취약 상태</a:t>
            </a:r>
          </a:p>
          <a:p xmlns:a="http://schemas.openxmlformats.org/drawingml/2006/main">
            <a:r>
              <a:t>분석 단위·방법: 기존 기준인 1개 이상 미달을 취약으로 집계. 1차 대비 3차 미달 수 비교</a:t>
            </a:r>
          </a:p>
          <a:p xmlns:a="http://schemas.openxmlformats.org/drawingml/2006/main">
            <a:r>
              <a:t>확인할 결과: 개선·악화·유지, 현재 취약, 지속 취약</a:t>
            </a:r>
          </a:p>
          <a:p xmlns:a="http://schemas.openxmlformats.org/drawingml/2006/main">
            <a:r>
              <a:t>관련 파일: 장병체력미달판정_3회비교.py, 장병체력미달현황_회차별변화.py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1·2차 상태코드, 3차 상태코드</a:t>
            </a:r>
          </a:p>
          <a:p xmlns:a="http://schemas.openxmlformats.org/drawingml/2006/main">
            <a:r>
              <a:t>분석 단위·방법: 00·01·10·11 상위 4그룹의 관측 통과율 집계</a:t>
            </a:r>
          </a:p>
          <a:p xmlns:a="http://schemas.openxmlformats.org/drawingml/2006/main">
            <a:r>
              <a:t>확인할 결과: 그룹별 통과·미통과·판정불가 인원 및 통과율</a:t>
            </a:r>
          </a:p>
          <a:p xmlns:a="http://schemas.openxmlformats.org/drawingml/2006/main">
            <a:r>
              <a:t>관련 파일: 3차통과율_체력상태조합별.py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1·2차 미달 종목 수, 3차 통과 여부</a:t>
            </a:r>
          </a:p>
          <a:p xmlns:a="http://schemas.openxmlformats.org/drawingml/2006/main">
            <a:r>
              <a:t>분석 단위·방법: (0,0)~(4,4) 25개 하위그룹별 관측 통과율과 개인별 비율 연결</a:t>
            </a:r>
          </a:p>
          <a:p xmlns:a="http://schemas.openxmlformats.org/drawingml/2006/main">
            <a:r>
              <a:t>확인할 결과: 하위그룹 자체 통과율, 그룹 인원, 장병별 적용 비율</a:t>
            </a:r>
          </a:p>
          <a:p xmlns:a="http://schemas.openxmlformats.org/drawingml/2006/main">
            <a:r>
              <a:t>관련 파일: 3차통과율_하위그룹_체력상태조합별.py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입력: 1·2차 미달 수, 목표: 3차 통과 여부</a:t>
            </a:r>
          </a:p>
          <a:p xmlns:a="http://schemas.openxmlformats.org/drawingml/2006/main">
            <a:r>
              <a:t>분석 단위·방법: L2 로지스틱 회귀(C=1), 최대 5분할 층화 교차검증</a:t>
            </a:r>
          </a:p>
          <a:p xmlns:a="http://schemas.openxmlformats.org/drawingml/2006/main">
            <a:r>
              <a:t>확인할 결과: 개인별 확률, 회귀계수·오즈비, 검증 ROC_AUC·Brier·LogLoss</a:t>
            </a:r>
          </a:p>
          <a:p xmlns:a="http://schemas.openxmlformats.org/drawingml/2006/main">
            <a:r>
              <a:t>관련 파일: 3차통과율_로지스틱회귀예측.py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M_CODE, round, strength_risk, endurance_risk, cardio_risk, flexibility_risk</a:t>
            </a:r>
          </a:p>
          <a:p xmlns:a="http://schemas.openxmlformats.org/drawingml/2006/main">
            <a:r>
              <a:t>분석 단위·방법: 세 회차 네 종목 모두 판정 가능한 장병에서 종목별 1·2·3차 미달 여부를 연결. 동일 종목 지속 미달 및 하나 이상 해당하는 장병 집계</a:t>
            </a:r>
          </a:p>
          <a:p xmlns:a="http://schemas.openxmlformats.org/drawingml/2006/main">
            <a:r>
              <a:t>확인할 결과: 종목별 지속 미달 인원, 동일 종목 지속 미달 고유 인원·비율, 개인별 CSV·HTML 시각화</a:t>
            </a:r>
          </a:p>
          <a:p xmlns:a="http://schemas.openxmlformats.org/drawingml/2006/main">
            <a:r>
              <a:t>관련 파일: 동일종목_지속미달분석.py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첫 측정의 종목별 미달·충족 여부, 운동별 처방 유무, M_CODE, MESURE_ID</a:t>
            </a:r>
          </a:p>
          <a:p xmlns:a="http://schemas.openxmlformats.org/drawingml/2006/main">
            <a:r>
              <a:t>분석 단위·방법: 별도 미달정보 CSV 생성 후 처방과 연결. 2×2 카이제곱 또는 희소 시 Fisher 정확검정, Phi·Holm 보정</a:t>
            </a:r>
          </a:p>
          <a:p xmlns:a="http://schemas.openxmlformats.org/drawingml/2006/main">
            <a:r>
              <a:t>확인할 결과: 부족한 체력요소에 따라 어떤 운동이 더 자주 처방되는지 확인. 집단별 처방률·차이(%p), 관련성 크기·유의성, 비교 막대·히트맵·산점도</a:t>
            </a:r>
          </a:p>
          <a:p xmlns:a="http://schemas.openxmlformats.org/drawingml/2006/main">
            <a:r>
              <a:t>관련 파일: 운동_체력미달여부별처방관련성.py, 운동_체력미달정보생성.py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첫 측정 CARDIO, 비교 기준평균 42</a:t>
            </a:r>
          </a:p>
          <a:p xmlns:a="http://schemas.openxmlformats.org/drawingml/2006/main">
            <a:r>
              <a:t>분석 단위·방법: 장병별 첫 측정, 양측 단일표본 t검정(α=0.05)</a:t>
            </a:r>
          </a:p>
          <a:p xmlns:a="http://schemas.openxmlformats.org/drawingml/2006/main">
            <a:r>
              <a:t>확인할 결과: 표본 평균·표준편차, t·자유도·p값, 모집단 평균 95% 신뢰구간 및 추론</a:t>
            </a:r>
          </a:p>
          <a:p xmlns:a="http://schemas.openxmlformats.org/drawingml/2006/main">
            <a:r>
              <a:t>관련 파일: t검정_단일표본_심폐기준비교.py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첫 측정 BMI 삼분위의 낮음·높음 집단, STRENGTH</a:t>
            </a:r>
          </a:p>
          <a:p xmlns:a="http://schemas.openxmlformats.org/drawingml/2006/main">
            <a:r>
              <a:t>분석 단위·방법: 양측 독립표본 t검정. Levene p≥0.05이면 Student, 미만이면 Welch(α=0.05)</a:t>
            </a:r>
          </a:p>
          <a:p xmlns:a="http://schemas.openxmlformats.org/drawingml/2006/main">
            <a:r>
              <a:t>확인할 결과: 집단별 표본 평균·인원, 평균차·t·자유도·p값, 모집단 평균 차이 95% 신뢰구간 및 추론</a:t>
            </a:r>
          </a:p>
          <a:p xmlns:a="http://schemas.openxmlformats.org/drawingml/2006/main">
            <a:r>
              <a:t>관련 파일: t검정_독립표본_BMI별근력비교.py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사용 변수: 운동명, 처방유형번호, MESURE_ID, 실제 처방 기록</a:t>
            </a:r>
          </a:p>
          <a:p xmlns:a="http://schemas.openxmlformats.org/drawingml/2006/main">
            <a:r>
              <a:t>분석 단위·방법: 같은 측정번호는 1건. 운동별 포함 측정 수·포함률·공동 순위, 상위 10개 중 하나 이상 포함된 측정 비율, 처방 기록 없는 등록 운동 확인</a:t>
            </a:r>
          </a:p>
          <a:p xmlns:a="http://schemas.openxmlformats.org/drawingml/2006/main">
            <a:r>
              <a:t>확인할 결과: 운동목록·측정 기준 순위·포함률·그래프·CSV</a:t>
            </a:r>
          </a:p>
          <a:p xmlns:a="http://schemas.openxmlformats.org/drawingml/2006/main">
            <a:r>
              <a:t>관련 파일: 운동_처방현황분석.py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변수: 의미·형태: 분석에서의 역할</a:t>
            </a:r>
          </a:p>
          <a:p xmlns:a="http://schemas.openxmlformats.org/drawingml/2006/main">
            <a:r>
              <a:t>M_CODE: 장병 식별자, 문자열: 개인 연결·중복 확인. 설명변수로 사용하지 않음</a:t>
            </a:r>
          </a:p>
          <a:p xmlns:a="http://schemas.openxmlformats.org/drawingml/2006/main">
            <a:r>
              <a:t>MESURE_ID / M_SEQ_NO: 측정 식별번호 / 측정 일련번호: 원자료 식별·추적. 현재 통계검정·예측의 입력 변수는 아님</a:t>
            </a:r>
          </a:p>
          <a:p xmlns:a="http://schemas.openxmlformats.org/drawingml/2006/main">
            <a:r>
              <a:t>MESURE_DE: 측정일, YYYYMMDD: 측정 순서 결정</a:t>
            </a:r>
          </a:p>
          <a:p xmlns:a="http://schemas.openxmlformats.org/drawingml/2006/main">
            <a:r>
              <a:t>AGE: 나이, 19~24세: 연령 그룹 정의, ANOVA·카이제곱의 집단 변수</a:t>
            </a:r>
          </a:p>
          <a:p xmlns:a="http://schemas.openxmlformats.org/drawingml/2006/main">
            <a:r>
              <a:t>STRENGTH: 근력: 상대악력(%): 연속 측정값 또는 미달 여부로 변환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변수: 의미·형태: 분석에서의 역할</a:t>
            </a:r>
          </a:p>
          <a:p xmlns:a="http://schemas.openxmlformats.org/drawingml/2006/main">
            <a:r>
              <a:t>ENDURANCE: 근지구력: 교차윗몸일으키기(회): 연속 측정값 또는 미달 여부로 변환</a:t>
            </a:r>
          </a:p>
          <a:p xmlns:a="http://schemas.openxmlformats.org/drawingml/2006/main">
            <a:r>
              <a:t>CARDIO: 심폐지구력: 통합 VO₂max(mL/kg/min): 연속 측정값 또는 미달 여부로 변환. 달리기 횟수가 아님</a:t>
            </a:r>
          </a:p>
          <a:p xmlns:a="http://schemas.openxmlformats.org/drawingml/2006/main">
            <a:r>
              <a:t>FLEXIBILITY: 유연성: 앉아윗몸앞으로굽히기(cm): 연속 측정값 또는 미달 여부로 변환</a:t>
            </a:r>
          </a:p>
          <a:p xmlns:a="http://schemas.openxmlformats.org/drawingml/2006/main">
            <a:r>
              <a:t>HEIGHT / WEIGHT: 키(cm) / 체중(kg): 기술통계 항목. 현재 로지스틱 입력에 포함하지 않음</a:t>
            </a:r>
          </a:p>
          <a:p xmlns:a="http://schemas.openxmlformats.org/drawingml/2006/main">
            <a:r>
              <a:t>BMI: 체질량지수(kg/m²): 기술통계 및 BMI 그룹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변수: 의미·형태: 분석에서의 역할</a:t>
            </a:r>
          </a:p>
          <a:p xmlns:a="http://schemas.openxmlformats.org/drawingml/2006/main">
            <a:r>
              <a:t>BODY_FAT_PERCENTAGE: 체지방률(%): 기술통계 항목. 현재 로지스틱 입력에 포함하지 않음</a:t>
            </a:r>
          </a:p>
          <a:p xmlns:a="http://schemas.openxmlformats.org/drawingml/2006/main">
            <a:r>
              <a:t>회차 / round: 장병별 날짜순 1·2·3차, 코드별 명칭 다름: 회차별 비교·측정값 연결</a:t>
            </a:r>
          </a:p>
          <a:p xmlns:a="http://schemas.openxmlformats.org/drawingml/2006/main">
            <a:r>
              <a:t>종목별 미달 여부: 기준 미만=True, 기준 이상=False, 결측=판정불가: 카이제곱의 범주 변수, 미달 수 집계</a:t>
            </a:r>
          </a:p>
          <a:p xmlns:a="http://schemas.openxmlformats.org/drawingml/2006/main">
            <a:r>
              <a:t>미달 종목 수: 네 체력 종목 중 미달 개수, 0~4: 위험 집계·그룹 분류·로지스틱 입력</a:t>
            </a:r>
          </a:p>
          <a:p xmlns:a="http://schemas.openxmlformats.org/drawingml/2006/main">
            <a:r>
              <a:t>동일종목 지속 미달 여부: 같은 종목이 1·2·3차 모두 미달이면 True: 종목별 지속 미달 인원과 해당 장병 목록 집계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변수: 의미·형태: 분석에서의 역할</a:t>
            </a:r>
          </a:p>
          <a:p xmlns:a="http://schemas.openxmlformats.org/drawingml/2006/main">
            <a:r>
              <a:t>동일종목_지속미달: 네 종목 중 하나 이상에서 동일종목 지속 미달이면 True: 장병 중복을 제거한 지속 미달 인원·비율 집계</a:t>
            </a:r>
          </a:p>
          <a:p xmlns:a="http://schemas.openxmlformats.org/drawingml/2006/main">
            <a:r>
              <a:t>BMI 그룹: 낮음·중간·높음, 첫 측정 BMI 삼분위: BMI ANOVA·카이제곱의 집단 변수</a:t>
            </a:r>
          </a:p>
          <a:p xmlns:a="http://schemas.openxmlformats.org/drawingml/2006/main">
            <a:r>
              <a:t>1·2·3차 상태코드: 0=충족(미달 0~1개), 1=미달(2~4개): 통과율 분석의 상태 정의</a:t>
            </a:r>
          </a:p>
          <a:p xmlns:a="http://schemas.openxmlformats.org/drawingml/2006/main">
            <a:r>
              <a:t>로지스틱 목표 y: 1=3차 통과, 0=3차 미통과: 원래 상태코드와 숫자 방향이 반대이므로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종목: 미달 조건: 충족 조건</a:t>
            </a:r>
          </a:p>
          <a:p xmlns:a="http://schemas.openxmlformats.org/drawingml/2006/main">
            <a:r>
              <a:t>근력: STRENGTH &lt; 51.8: 51.8 이상</a:t>
            </a:r>
          </a:p>
          <a:p xmlns:a="http://schemas.openxmlformats.org/drawingml/2006/main">
            <a:r>
              <a:t>근지구력: ENDURANCE &lt; 42: 42 이상</a:t>
            </a:r>
          </a:p>
          <a:p xmlns:a="http://schemas.openxmlformats.org/drawingml/2006/main">
            <a:r>
              <a:t>심폐지구력: CARDIO &lt; 42: 42 이상</a:t>
            </a:r>
          </a:p>
          <a:p xmlns:a="http://schemas.openxmlformats.org/drawingml/2006/main">
            <a:r>
              <a:t>유연성: FLEXIBILITY &lt; 6.1: 6.1 이상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네 종목 중 하나라도 판정불가이면 통과율 분석의 해당 회차 미달 수·상태는 판정불가로 처리합니다. 단, 과거 장병체력미달판정_3회비교.py의 미달 수는 관측된 미달 개수를 합산하고, 별도 evaluated_count·risk_status로 판정 가능 여부를 표시하므로 함께 확인해야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첫 측정의 유효 BMI로 1/3 분위수 q₁, 2/3 분위수 q₂를 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낮음: BMI ≤ q₁</a:t>
            </a:r>
          </a:p>
          <a:p xmlns:a="http://schemas.openxmlformats.org/drawingml/2006/main">
            <a:r>
              <a:t>중간: q₁ &lt; BMI ≤ q₂</a:t>
            </a:r>
          </a:p>
          <a:p xmlns:a="http://schemas.openxmlformats.org/drawingml/2006/main">
            <a:r>
              <a:t>높음: BMI &gt; q₂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기존 분석 시점의 경계는 22.51, 25.43이었으며, 데이터가 바뀌면 다시 계산합니다. 이 분류는 기준표의 BMI 18.5~25 범위나 의학적 비만 분류와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상위그룹: 1차 상태: 2차 상태: 소속 하위 조합 수</a:t>
            </a:r>
          </a:p>
          <a:p xmlns:a="http://schemas.openxmlformats.org/drawingml/2006/main">
            <a:r>
              <a:t>00: 충족: 충족: 4</a:t>
            </a:r>
          </a:p>
          <a:p xmlns:a="http://schemas.openxmlformats.org/drawingml/2006/main">
            <a:r>
              <a:t>01: 충족: 미달: 6</a:t>
            </a:r>
          </a:p>
          <a:p xmlns:a="http://schemas.openxmlformats.org/drawingml/2006/main">
            <a:r>
              <a:t>10: 미달: 충족: 6</a:t>
            </a:r>
          </a:p>
          <a:p xmlns:a="http://schemas.openxmlformats.org/drawingml/2006/main">
            <a:r>
              <a:t>11: 미달: 미달: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하위그룹은 실제 1차·2차 미달 종목 수의 순서쌍이며 총 25개입니다. 각 하위그룹의 통과율은 자기 그룹의 3차 평가 인원과 통과 인원으로 계산합니다.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ANOVA 귀무가설: 연령 또는 BMI 그룹의 해당 체력 종목 평균이 모두 같다</a:t>
            </a:r>
          </a:p>
          <a:p xmlns:a="http://schemas.openxmlformats.org/drawingml/2006/main">
            <a:r>
              <a:t>ANOVA 방법 선택: 종목별 중앙값 기준 Levene p ≥ 0.05이면 일반 ANOVA, p &lt; 0.05이면 Welch. 이는 현재 코드의 선택 규칙이며 등분산의 증명을 뜻하지 않음</a:t>
            </a:r>
          </a:p>
          <a:p xmlns:a="http://schemas.openxmlformats.org/drawingml/2006/main">
            <a:r>
              <a:t>ANOVA 판단: 선택된 검정의 원 p값 &lt; 0.05. 종목 사이 Holm 보정은 현재 적용하지 않음</a:t>
            </a:r>
          </a:p>
          <a:p xmlns:a="http://schemas.openxmlformats.org/drawingml/2006/main">
            <a:r>
              <a:t>사후검정: 전체 검정이 유의한 경우 일반 ANOVA → Tukey HSD(불균형 인원은 Tukey–Kramer), Welch → Games–Howell</a:t>
            </a:r>
          </a:p>
          <a:p xmlns:a="http://schemas.openxmlformats.org/drawingml/2006/main">
            <a:r>
              <a:t>사후검정 판단: 해당 종목 내 모든 쌍을 고려한 보정 p값 &lt; 0.05. 연령 15쌍, BMI 3쌍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효과크기: η²는 일반 ANOVA의 집단 간 제곱합/전체 제곱합. Welch의 검정통계량에서 계산한 효과크기는 아님</a:t>
            </a:r>
          </a:p>
          <a:p xmlns:a="http://schemas.openxmlformats.org/drawingml/2006/main">
            <a:r>
              <a:t>카이제곱 귀무가설: 연령 또는 BMI 그룹과 해당 종목의 미달 여부가 독립이다</a:t>
            </a:r>
          </a:p>
          <a:p xmlns:a="http://schemas.openxmlformats.org/drawingml/2006/main">
            <a:r>
              <a:t>카이제곱 판단: 종목별 원 p값과 Holm 보정 p값을 표시하고, 보정 p값 &lt; 0.05로 판단</a:t>
            </a:r>
          </a:p>
          <a:p xmlns:a="http://schemas.openxmlformats.org/drawingml/2006/main">
            <a:r>
              <a:t>기대빈도 점검: 기대빈도 1 미만 셀이 있거나, 5 미만 셀이 20%를 넘으면 점근 근사 해석에 주의 표시</a:t>
            </a:r>
          </a:p>
          <a:p xmlns:a="http://schemas.openxmlformats.org/drawingml/2006/main">
            <a:r>
              <a:t>카이제곱 효과크기: Cramér’s V. 평균 차이에 대한 η²와 구분</a:t>
            </a:r>
          </a:p>
          <a:p xmlns:a="http://schemas.openxmlformats.org/drawingml/2006/main">
            <a:r>
              <a:t>상관분석: Pearson은 선형 관계, Spearman은 순위의 단조 관계. 현재 원 p값을 보고하며 다중검정 보정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관측 통과율: 그룹 3차 통과 인원 ÷ 그룹 3차 판정 가능 인원</a:t>
            </a:r>
          </a:p>
          <a:p xmlns:a="http://schemas.openxmlformats.org/drawingml/2006/main">
            <a:r>
              <a:t>동일종목 지속 미달률: 하나 이상의 동일 종목에서 세 회차 모두 미달한 고유 장병 수 ÷ 세 회차 네 종목 모두 판정 가능한 고유 장병 수 × 100</a:t>
            </a:r>
          </a:p>
          <a:p xmlns:a="http://schemas.openxmlformats.org/drawingml/2006/main">
            <a:r>
              <a:t>인원 변동률: (비교 회차 미달 인원−기준 회차 미달 인원) ÷ 기준 회차 미달 인원 × 100</a:t>
            </a:r>
          </a:p>
          <a:p xmlns:a="http://schemas.openxmlformats.org/drawingml/2006/main">
            <a:r>
              <a:t>0명 처리: 통과자 0명·평가자 양수이면 0%. 평가자 0명이면 통과율 공란. 변동률의 기준 인원 0명도 공란</a:t>
            </a:r>
          </a:p>
          <a:p xmlns:a="http://schemas.openxmlformats.org/drawingml/2006/main">
            <a:r>
              <a:t>로지스틱 회귀: p=1/[1+exp(−(β₀+β₁×1차 미달 수+β₂×2차 미달 수))]. p≥0.5이면 통과로 분류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예측 검증: 개인별 학습 제외 예측으로 ROC_AUC·Brier·LogLoss 평가. 소수 클래스 수에 맞춰 최대 5분할, 각 클래스 2명 미만이면 교차검증 생략. 단일 클래스는 학습 불가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분석: 보고할 항목: 해석할 때 구분할 내용</a:t>
            </a:r>
          </a:p>
          <a:p xmlns:a="http://schemas.openxmlformats.org/drawingml/2006/main">
            <a:r>
              <a:t>기술통계·변화: 인원, 분모, 결측, 평균·표준편차, 미달률·변동률: 인원 변화율과 미달률의 %p 차이는 다름. 누적막대에서 종목 간 장병 중복 가능</a:t>
            </a:r>
          </a:p>
          <a:p xmlns:a="http://schemas.openxmlformats.org/drawingml/2006/main">
            <a:r>
              <a:t>ANOVA: 적용 방법, Levene p값, 적용 p값, 참고 η², 그룹별 평균: 전체 유의성이 모든 쌍의 유의성을 의미하지 않음. 사후검정의 평균차·95% 신뢰구간·보정 p값을 함께 보고</a:t>
            </a:r>
          </a:p>
          <a:p xmlns:a="http://schemas.openxmlformats.org/drawingml/2006/main">
            <a:r>
              <a:t>카이제곱: 교차표, χ²·자유도, 원·보정 p값, V, 그룹별 미달률: 평균 차이 검정과 다름. Pearson 잔차는 탐색 지표이며 그룹 쌍별 사후검정을 대신하지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분석: 보고할 항목: 해석할 때 구분할 내용</a:t>
            </a:r>
          </a:p>
          <a:p xmlns:a="http://schemas.openxmlformats.org/drawingml/2006/main">
            <a:r>
              <a:t>상관분석: 종목·회차별 r·ρ·p값·표본 수: 높은 상관은 체력 향상이나 운동처방 효과의 증거가 아님</a:t>
            </a:r>
          </a:p>
          <a:p xmlns:a="http://schemas.openxmlformats.org/drawingml/2006/main">
            <a:r>
              <a:t>동일종목 지속 미달: 종목별 인원, 하나 이상 해당하는 고유 장병 수·비율, 분석 분모·제외 인원: 종목별 인원은 서로 중복될 수 있음. 매 회차 미달 종목이 달라도 포함되는 기존 persistent_risk와 구분</a:t>
            </a:r>
          </a:p>
          <a:p xmlns:a="http://schemas.openxmlformats.org/drawingml/2006/main">
            <a:r>
              <a:t>관측 통과율: 상위·하위그룹별 평가·통과 인원, 관측 비율: 개인별 적용 비율에는 본인의 3차 결과도 집계에 포함될 수 있어 독립 검증된 예측확률이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분석: 보고할 항목: 해석할 때 구분할 내용</a:t>
            </a:r>
          </a:p>
          <a:p xmlns:a="http://schemas.openxmlformats.org/drawingml/2006/main">
            <a:r>
              <a:t>로지스틱 예측: 입력 변수·정답 정의, 회귀계수·오즈비, 교차검증 성능: 전체 적합 확률과 학습 제외 확률 구분. 같은 입력 조건이면 같은 모델확률. 미래·외부 자료 검증은 별도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장병 위험 기준은 혼용하지 않습니다. 위험장병식별·통과율 분석은 2개 이상 미달, 기존 전체 현황의 ‘취약’은 1개 이상 미달입니다. 분석 결과만으로 연령·BMI의 인과효과나 모든 개인의 변화를 단정하지 않습니다. 특히 상대악력과 BMI는 체중이 공통으로 관여하는 지표입니다.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 현재 파일명으로 위 계획표를 작성했습니다. 최근 파일명을 재정리했으므로 실행 전 내부 import와 실행 안내도 현재 이름에 맞는지 점검합니다.</a:t>
            </a:r>
          </a:p>
          <a:p xmlns:a="http://schemas.openxmlformats.org/drawingml/2006/main">
            <a:r>
              <a:t>- 상관분석은 fitness_risk_by_round.csv를 사용하므로 장병체력미달판정_3회비교.py에서 최신 데이터를 먼저 생성합니다.</a:t>
            </a:r>
          </a:p>
          <a:p xmlns:a="http://schemas.openxmlformats.org/drawingml/2006/main">
            <a:r>
              <a:t>- 동일종목_지속미달분석.py도 최신 fitness_risk_by_round.csv와 fitness_risk_summary.csv를 사용합니다. fitness_persistent_by_area.csv와 fitness_risk_dashboard.html을 생성합니다. 이전 파일명은 visualize_fitness_risk.py입니다.</a:t>
            </a:r>
          </a:p>
          <a:p xmlns:a="http://schemas.openxmlformats.org/drawingml/2006/main">
            <a:r>
              <a:t>- 단계별 분석 대상 수와 결측 제외 수를 기록하고, 완전측정 대상자 비교 옵션을 결과와 함께 보고합니다.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 본 문서는 분석계획과 변수 정의를 정리한 별도 문서이며, 기존 data/README.md와 data/scripts/README.md는 수정하지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기존 하위그룹 분석은 유지하고, 기여도 계산 버전과 장병별 비교 분석을 별도로 수행합니다.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목적·계산 방식: 각 하위그룹의 실제 3차 통과인원/해당 하위그룹 평가인원</a:t>
            </a:r>
          </a:p>
          <a:p xmlns:a="http://schemas.openxmlformats.org/drawingml/2006/main">
            <a:r>
              <a:t>사용 변수: 1·2차 미달 종목 수, 3차 상태, 하위 통과·평가인원</a:t>
            </a:r>
          </a:p>
          <a:p xmlns:a="http://schemas.openxmlformats.org/drawingml/2006/main">
            <a:r>
              <a:t>결과·관련 파일: 25개 세부그룹 관측 비율 및 장병별 적용 비율. 3차통과율_하위그룹_체력상태조합별.py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목적·계산 방식: 상위 내 하위 인원 비중×하위 자체 통과율. 기여도를 합산하여 상위 통과율 재계산</a:t>
            </a:r>
          </a:p>
          <a:p xmlns:a="http://schemas.openxmlformats.org/drawingml/2006/main">
            <a:r>
              <a:t>사용 변수: 하위 평가인원 nᵢ, 하위 통과인원 aᵢ, 상위 평가인원 E</a:t>
            </a:r>
          </a:p>
          <a:p xmlns:a="http://schemas.openxmlformats.org/drawingml/2006/main">
            <a:r>
              <a:t>결과·관련 파일: 하위 기여도(%p), 상위 합산 통과율, 장병별 소속그룹 비율. 3차통과율_하위그룹_체력상태조합별2.py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목적·계산 방식: 두 방법을 현재 자료로 다시 계산하여 장병별 입력·3차 결과를 대조한 뒤 비율 비교</a:t>
            </a:r>
          </a:p>
          <a:p xmlns:a="http://schemas.openxmlformats.org/drawingml/2006/main">
            <a:r>
              <a:t>사용 변수: M_CODE, 1·2차 미달 수, 실제 3차 상태, 그룹 관측 비율, 모델 확률, 교차검증 확률</a:t>
            </a:r>
          </a:p>
          <a:p xmlns:a="http://schemas.openxmlformats.org/drawingml/2006/main">
            <a:r>
              <a:t>결과·관련 파일: 개인별·하위그룹별 비교 CSV 및 검증 성능. 3차통과율_장병별방법비교.py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목적·계산 방식: 회귀 프로그램이 실제 저장한 장병 정보와 2번 버전의 장병 CSV를 M_CODE로 연결. 공통 정보가 일치하는지 검증</a:t>
            </a:r>
          </a:p>
          <a:p xmlns:a="http://schemas.openxmlformats.org/drawingml/2006/main">
            <a:r>
              <a:t>사용 변수: 장병별_소속그룹비율.csv, 회귀의 개인별통과확률.csv</a:t>
            </a:r>
          </a:p>
          <a:p xmlns:a="http://schemas.openxmlformats.org/drawingml/2006/main">
            <a:r>
              <a:t>결과·관련 파일: 직관적 컬럼명으로 정리한 results/3차통과율_저장된장병정보비교/장병별_저장결과비교.csv. 3차통과율_저장결과비교.py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하위그룹 i의 자체 통과율은 rᵢ=aᵢ/nᵢ이며, 상위그룹 통과율에 대한 기여도는 다음과 같습니다.</a:t>
            </a:r>
          </a:p>
          <a:p xmlns:a="http://schemas.openxmlformats.org/drawingml/2006/main">
            <a:r>
              <a:t/>
            </a:r>
          </a:p>
          <a:p xmlns:a="http://schemas.openxmlformats.org/drawingml/2006/main">
            <a:r>
              <a:t>c_i=\frac{n_i}{E}r_i=\frac{a_i}{E},\qquad</a:t>
            </a:r>
          </a:p>
          <a:p xmlns:a="http://schemas.openxmlformats.org/drawingml/2006/main">
            <a:r>
              <a:t>R_{\mathrm{상위}}=\sum_i c_i</a:t>
            </a:r>
          </a:p>
          <a:p xmlns:a="http://schemas.openxmlformats.org/drawingml/2006/main">
            <a:r>
              <a:t/>
            </a:r>
          </a:p>
          <a:p xmlns:a="http://schemas.openxmlformats.org/drawingml/2006/main">
            <a:r>
              <a:t>- 기여도(%p)=100cᵢ이며, 각 상위그룹 안에서 합산하면 상위 통과율(%)입니다.</a:t>
            </a:r>
          </a:p>
          <a:p xmlns:a="http://schemas.openxmlformats.org/drawingml/2006/main">
            <a:r>
              <a:t>- 개인에게 소속 하위그룹의 관측 비율을 적용할 때는 rᵢ=aᵢ/nᵢ를 사용합니다. 기여도 cᵢ 자체를 개인 통과확률로 사용하지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 nᵢ&gt;0이고 E&gt;0일 때 기여도를 하위 인원 비중으로 다시 나누면 rᵢ로 돌아옵니다. 따라서 기여도 방식이 별도의 개인 예측모형을 만드는 것은 아닙니다.</a:t>
            </a:r>
          </a:p>
          <a:p xmlns:a="http://schemas.openxmlformats.org/drawingml/2006/main">
            <a:r>
              <a:t>- 3차 판정불가 인원은 평가 분모에서 제외합니다. 통과자 0명·평가자 양수이면 비율 0%, 하위 평가자 0명이면 자체율 공란입니다. 상위 평가자 양수이면 빈 하위그룹의 기여도는 0입니다.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장병식별자: M_CODE. 동일 장병 연결 기준</a:t>
            </a:r>
          </a:p>
          <a:p xmlns:a="http://schemas.openxmlformats.org/drawingml/2006/main">
            <a:r>
              <a:t>상위그룹_1차2차상태코드: 00·01·10·11 상태 조합</a:t>
            </a:r>
          </a:p>
          <a:p xmlns:a="http://schemas.openxmlformats.org/drawingml/2006/main">
            <a:r>
              <a:t>하위그룹_1차2차미달종목수: (0,0)~(4,4) 하위 조합</a:t>
            </a:r>
          </a:p>
          <a:p xmlns:a="http://schemas.openxmlformats.org/drawingml/2006/main">
            <a:r>
              <a:t>하위그룹_실제통과율(%): 2번 버전에서 저장한 하위그룹 자체 관측 비율. 원래 버전의 자체율과 같은 정의</a:t>
            </a:r>
          </a:p>
          <a:p xmlns:a="http://schemas.openxmlformats.org/drawingml/2006/main">
            <a:r>
              <a:t>로지스틱_예측통과확률(%): 3차통과율_로지스틱회귀예측.py가 저장한 전체 자료 적합 모델의 개인 확률</a:t>
            </a:r>
          </a:p>
          <a:p xmlns:a="http://schemas.openxmlformats.org/drawingml/2006/main">
            <a:r>
              <a:t>통과율차이_로지스틱-하위그룹(%p): 회귀 확률(%)−하위 관측 통과율(%). 양수는 회귀가 더 높고 음수는 더 낮음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로지스틱_교차검증통과확률(%): 해당 장병을 학습에서 제외한 모델의 확률</a:t>
            </a:r>
          </a:p>
          <a:p xmlns:a="http://schemas.openxmlformats.org/drawingml/2006/main">
            <a:r>
              <a:t>하위그룹의_상위통과율기여도(%p): 해당 개인이 소속된 하위그룹 전체의 상위 기여도. 개인 확률이 아니며 장병별 행을 다시 합산하면 중복됨</a:t>
            </a:r>
          </a:p>
          <a:p xmlns:a="http://schemas.openxmlformats.org/drawingml/2006/main">
            <a:r>
              <a:t>3차상태: 실제 3차 충족·미달·판정불가</a:t>
            </a:r>
          </a:p>
          <a:p xmlns:a="http://schemas.openxmlformats.org/drawingml/2006/main">
            <a:r>
              <a:t>로지스틱_3차예측판정: 모델 통과확률 0.5 이상이면 통과, 미만이면 미통과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2026-10-21 확인한 저장 결과에서는 양쪽 장병 3,420명이 모두 연결됐으며, 1·2차 미달 수와 실제 3차 판정이 일치했습니다. 개인별 회귀 적합 확률과 하위그룹 관측 통과율의 평균 절대 차이는 약 2.49%p였습니다. 이는 현재 저장 결과의 비교값으로 데이터·모델이 바뀌면 재계산해야 합니다.</a:t>
            </a:r>
          </a:p>
          <a:p xmlns:a="http://schemas.openxmlformats.org/drawingml/2006/main">
            <a:r>
              <a:t>관측 통과율은 본인의 3차 결과도 포함할 수 있고, 회귀 적합 확률도 학습 대상자에 대한 값입니다. 따라서 두 비율의 차이만으로 어느 방법의 예측 성능이 더 좋은지 결론 내리지 않습니다. 예측 성능 판단에는 학습 제외 예측과 검증 지표를 사용하며, 방법 간 공정한 성능 비교에는 그룹 비율도 동일한 학습·검증 분리로 계산해야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체력 측정 항목의 전체 분포 기술통계는 아래 10절의 별도 분석으로 정리합니다.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목적: 등록 운동과 자주 처방되는 운동 파악</a:t>
            </a:r>
          </a:p>
          <a:p xmlns:a="http://schemas.openxmlformats.org/drawingml/2006/main">
            <a:r>
              <a:t>사용 변수·자료: DETAIL의 운동명·처방유형번호, PRESCRIPTION의 측정번호·처방 기록</a:t>
            </a:r>
          </a:p>
          <a:p xmlns:a="http://schemas.openxmlformats.org/drawingml/2006/main">
            <a:r>
              <a:t>방법: 운동 목록 조회·검색, 운동 포함 측정 수·비율·순위, 상위 10개 중 하나 이상 포함된 측정 비율, 처방 기록 없는 등록 운동 확인</a:t>
            </a:r>
          </a:p>
          <a:p xmlns:a="http://schemas.openxmlformats.org/drawingml/2006/main">
            <a:r>
              <a:t>결과·관련 파일: 운동_처방현황분석.py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목적: 미달 판정 근거를 개인·측정별 파일로 확인</a:t>
            </a:r>
          </a:p>
          <a:p xmlns:a="http://schemas.openxmlformats.org/drawingml/2006/main">
            <a:r>
              <a:t>사용 변수·자료: 첫 측정의 장병·측정 식별자, 나이·측정일, 체력 4종목, 기준표, 처방 기록 유무</a:t>
            </a:r>
          </a:p>
          <a:p xmlns:a="http://schemas.openxmlformats.org/drawingml/2006/main">
            <a:r>
              <a:t>방법: 종목별 기준 미만을 미달로 판정하고 값·기준·판정 함께 저장</a:t>
            </a:r>
          </a:p>
          <a:p xmlns:a="http://schemas.openxmlformats.org/drawingml/2006/main">
            <a:r>
              <a:t>결과·관련 파일: 운동_체력미달정보생성.py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목적: 미달 집단에 특정 운동이 더 자주 처방되는지 확인</a:t>
            </a:r>
          </a:p>
          <a:p xmlns:a="http://schemas.openxmlformats.org/drawingml/2006/main">
            <a:r>
              <a:t>사용 변수·자료: 별도 미달정보의 종목별 미달 여부와 같은 측정의 운동별 처방 여부</a:t>
            </a:r>
          </a:p>
          <a:p xmlns:a="http://schemas.openxmlformats.org/drawingml/2006/main">
            <a:r>
              <a:t>방법: 2×2 교차표, Pearson 카이제곱 또는 Fisher 정확검정, 방향 있는 Phi, Holm 보정</a:t>
            </a:r>
          </a:p>
          <a:p xmlns:a="http://schemas.openxmlformats.org/drawingml/2006/main">
            <a:r>
              <a:t>결과·관련 파일: 운동_체력미달여부별처방관련성.py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측정 파일: KS_NFA_PROCESSED.csv: M_CODE, MESURE_ID, AGE, MESURE_DE, STRENGTH, ENDURANCE, CARDIO, FLEXIBILITY</a:t>
            </a:r>
          </a:p>
          <a:p xmlns:a="http://schemas.openxmlformats.org/drawingml/2006/main">
            <a:r>
              <a:t>실제 처방 파일: KS_NFA_PRESCRIPTION.csv: PRESCRIPTION_ID, MESURE_ID, PRESCRIPTION_TYPE_ID</a:t>
            </a:r>
          </a:p>
          <a:p xmlns:a="http://schemas.openxmlformats.org/drawingml/2006/main">
            <a:r>
              <a:t>운동명 목록: KS_NFA_PRESCRIPTION_DETAIL.csv: PRESCRIPTION_TYPE_ID, PRESCRIPTION</a:t>
            </a:r>
          </a:p>
          <a:p xmlns:a="http://schemas.openxmlformats.org/drawingml/2006/main">
            <a:r>
              <a:t>연결: 측정과 처방은 MESURE_ID, 처방과 운동명은 PRESCRIPTION_TYPE_ID로 연결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처방 현황의 단위: 같은 MESURE_ID에 여러 운동이 있어도 전체 처방은 1건. 같은 날짜라도 측정번호가 다르면 별도. 사람이 아닌 측정 기준이며 처방 없는 측정은 분모에서 제외</a:t>
            </a:r>
          </a:p>
          <a:p xmlns:a="http://schemas.openxmlformats.org/drawingml/2006/main">
            <a:r>
              <a:t>관련성 분석의 단위: 장병별 날짜순 첫 측정 1건. 동일 장병 반복 측정을 독립 표본으로 중복 집계하지 않음</a:t>
            </a:r>
          </a:p>
          <a:p xmlns:a="http://schemas.openxmlformats.org/drawingml/2006/main">
            <a:r>
              <a:t>관련성 분석 대상: 첫 측정 당시 19~24세 중 해당 측정에 처방 기록이 있는 대상자. 첫 측정에 처방이 없다고 이후 측정으로 대체하지 않음</a:t>
            </a:r>
          </a:p>
          <a:p xmlns:a="http://schemas.openxmlformats.org/drawingml/2006/main">
            <a:r>
              <a:t>제외: 첫 측정 처방 기록이 없으면 관련성 분석 제외. 종목 측정값 결측은 해당 종목 검정에서 제외</a:t>
            </a:r>
          </a:p>
          <a:p xmlns:a="http://schemas.openxmlformats.org/drawingml/2006/main">
            <a:r>
              <a:t>운동 처방 없음의 정의: 다른 운동에 대한 기록은 있지만 비교하는 운동의 기록은 없는 경우. 처방 파일 자체에 기록이 없는 측정과 구분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운동명 단위: 같은 운동명이 여러 유형번호에 있으면 운동명으로 묶어 집계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전체 처방 건수(측정 기준): 처방 기록이 있는 고유 MESURE_ID 수. 현재 8,949건이며, 운동별 기록 48,499행과 구분</a:t>
            </a:r>
          </a:p>
          <a:p xmlns:a="http://schemas.openxmlformats.org/drawingml/2006/main">
            <a:r>
              <a:t>운동별 순위: 해당 운동 포함 고유 측정 수 내림차순. 같은 수는 공동 순위(1·2·2·4 방식). 검색 후에도 전체 순위 유지</a:t>
            </a:r>
          </a:p>
          <a:p xmlns:a="http://schemas.openxmlformats.org/drawingml/2006/main">
            <a:r>
              <a:t>상위 10개 운동 포함률(%): 상위 10개 운동 중 하나 이상 처방된 고유 측정 수 ÷ 전체 처방 측정 수 × 100. 여러 상위 운동이 함께 있어도 해당 측정은 1건</a:t>
            </a:r>
          </a:p>
          <a:p xmlns:a="http://schemas.openxmlformats.org/drawingml/2006/main">
            <a:r>
              <a:t>처방 기록 있는 측정 중 포함률(%): 해당 운동이 처방된 고유 측정 수 ÷ 처방 기록이 있는 고유 측정 수 × 100. 운동별 합계가 100%를 넘을 수 있음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종목별 미달: STRENGTH &lt; 51.8, ENDURANCE &lt; 42, CARDIO &lt; 42, FLEXIBILITY &lt; 6.1. 기준과 같으면 충족, 결측이면 판정불가</a:t>
            </a:r>
          </a:p>
          <a:p xmlns:a="http://schemas.openxmlformats.org/drawingml/2006/main">
            <a:r>
              <a:t>미달·충족 집단별 운동 처방률: 해당 집단에서 특정 운동이 처방된 장병 수 ÷ 해당 집단의 종목 평가 가능 장병 수 × 100</a:t>
            </a:r>
          </a:p>
          <a:p xmlns:a="http://schemas.openxmlformats.org/drawingml/2006/main">
            <a:r>
              <a:t>처방률 차이(%p): 미달 집단 처방률 − 충족 집단 처방률. 양수는 미달 집단에 더 흔한 처방</a:t>
            </a:r>
          </a:p>
          <a:p xmlns:a="http://schemas.openxmlformats.org/drawingml/2006/main">
            <a:r>
              <a:t>귀무가설: 해당 체력요소의 미달 여부와 해당 운동의 처방 여부는 독립이다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검정 선택: 미달/충족 × 처방 있음/없음의 2×2 표. 행·열에 변동이 없으면 검정 불가. 기대빈도 중 5 미만이 하나라도 있으면 Fisher 양측 정확검정, 그 외 Pearson 카이제곱(연속성 보정 없음)</a:t>
            </a:r>
          </a:p>
          <a:p xmlns:a="http://schemas.openxmlformats.org/drawingml/2006/main">
            <a:r>
              <a:t>Phi(φ): 두 이진변수의 방향 있는 상관계수. 양수는 미달 집단에서 처방이 더 흔하고, 음수는 충족 집단에서 더 흔함. 절댓값이 0에 가까우면 관련성이 약함</a:t>
            </a:r>
          </a:p>
          <a:p xmlns:a="http://schemas.openxmlformats.org/drawingml/2006/main">
            <a:r>
              <a:t>다중검정: 체력 4요소×전체 등록 운동의 계산 가능한 검정 전체를 하나로 묶어 Holm 보정. 보정 p &lt; 0.05로 관련성 판단</a:t>
            </a:r>
          </a:p>
          <a:p xmlns:a="http://schemas.openxmlformats.org/drawingml/2006/main">
            <a:r>
              <a:t>표시 필터: 최소 처방 인원, 상위 운동 수·정렬은 시각화와 해석 범위만 변경. 이미 계산한 전체 Holm 보정 범위는 유지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저장 폴더: data/experiments/results/운동_체력미달별처방관련성/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장병별_첫측정_체력미달정보.csv: 장병·측정번호, 체력값, 종목별 미달 기준값·미달 여부·판정, 처방 기록 유무. 관련성 분석 실행 시 원자료로 갱신한 뒤 재입력</a:t>
            </a:r>
          </a:p>
          <a:p xmlns:a="http://schemas.openxmlformats.org/drawingml/2006/main">
            <a:r>
              <a:t>장병별_미달정보_운동처방연결.csv: 처방 기록 있는 첫 측정의 미달정보와 운동처방 목록 연결</a:t>
            </a:r>
          </a:p>
          <a:p xmlns:a="http://schemas.openxmlformats.org/drawingml/2006/main">
            <a:r>
              <a:t>체력미달_운동처방관련성분석.csv: 체력요소×운동별 교차표 인원·처방률 차이·Phi·검정 p값·Holm 보정값</a:t>
            </a:r>
          </a:p>
          <a:p xmlns:a="http://schemas.openxmlformats.org/drawingml/2006/main">
            <a:r>
              <a:t>나란한 처방률 막대: 주황=미달 집단, 파랑=충족 집단. 미달 집단에서 자주 처방된 운동 또는 처방률 차이가 큰 운동을 표시</a:t>
            </a:r>
          </a:p>
          <a:p xmlns:a="http://schemas.openxmlformats.org/drawingml/2006/main">
            <a:r>
              <a:t>관련성 히트맵: 체력요소×운동별 Phi 방향·크기. 색의 진하기와 통계적 유의성은 별도로 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처방률 산점도: 가로=충족 집단 처방률, 세로=미달 집단 처방률. 대각선 위는 미달 집단에서 더 흔함</a:t>
            </a:r>
          </a:p>
          <a:p xmlns:a="http://schemas.openxmlformats.org/drawingml/2006/main">
            <a:r>
              <a:t>관련성 순위 막대: 선택 체력요소의 절대 Phi가 큰 운동과 관련성 방향 표시</a:t>
            </a:r>
          </a:p>
          <a:p xmlns:a="http://schemas.openxmlformats.org/drawingml/2006/main">
            <a:r>
              <a:t>분석 해석: 현재 인원 필터 내 검정 가능·유의 운동 수, 미달 집단에 더 흔한 주요 운동, 최대 관련성, 반대 방향 결과 및 해석 한계를 자동 설명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2026-10-21 실행 기준 첫 측정 미달정보는 3,420명이며, 처방 기록이 없는 439명을 제외한 2,981명을 관련성 분석에 사용했습니다. 등록 운동 367개×체력 4요소로 총 1,468개 조합을 구성합니다. 실제 검정 가능한 수와 유의한 수는 화면에서 확인하며 자료 갱신 시 재계산합니다.</a:t>
            </a:r>
          </a:p>
          <a:p xmlns:a="http://schemas.openxmlformats.org/drawingml/2006/main">
            <a:r>
              <a:t>미달 집단에서 특정 운동이 더 흔하면 부족한 요소를 보완하려는 처방 경향과 부합할 수 있습니다. 다만 운동명별 보완 목적을 검증한 분류표는 현재 적용하지 않았으므로, 해당 운동이 실제로 그 요소를 보완하기 위해 처방됐다고 확정하지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관련성이 약하다고 운동 효과가 없거나 처방이 부적절하다는 뜻은 아닙니다. 같은 목적의 운동이 여러 종류로 나뉘거나 충족자에게도 유지·향상 목적으로 처방될 수 있습니다. 실제 수행 여부·강도·빈도·후속 개선은 분석하지 않았으며 연령·BMI 등 다른 요인도 보정하지 않았습니다. 다음 확장 분석으로는 근거 있는 체력요소별 운동군을 정의한 뒤 보완 운동군 처방률을 비교할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분석 방법: 기술통계량 산출, 히스토그램, 박스플롯</a:t>
            </a:r>
          </a:p>
          <a:p xmlns:a="http://schemas.openxmlformats.org/drawingml/2006/main">
            <a:r>
              <a:t>사용 변수·대상: STRENGTH, ENDURANCE, CARDIO, FLEXIBILITY, BMI, BODY_FAT_PERCENTAGE. 첫 측정 당시 19~24세의 장병별 첫 측정 1건</a:t>
            </a:r>
          </a:p>
          <a:p xmlns:a="http://schemas.openxmlformats.org/drawingml/2006/main">
            <a:r>
              <a:t>분석 내용: 항목별 유효·결측 인원, 평균, 중앙값, 표본 표준편차, 최솟값·최댓값, 사분위수·IQR, 왜도, 1.5×IQR 밖 인원 확인</a:t>
            </a:r>
          </a:p>
          <a:p xmlns:a="http://schemas.openxmlformats.org/drawingml/2006/main">
            <a:r>
              <a:t>산출물·파일: 체력측정항목_전체분포분석.py, results/체력측정항목별분포/6개항목_기술통계.csv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 입력은 KS_NFA_PROCESSED.csv이며, 분석_연령별.py의 첫 측정 선정 방식을 재사용합니다. 동일 장병의 세 회차를 중복 합산하지 않습니다.</a:t>
            </a:r>
          </a:p>
          <a:p xmlns:a="http://schemas.openxmlformats.org/drawingml/2006/main">
            <a:r>
              <a:t>- 현재 분석 대상은 3,420명입니다. 결측은 항목별 제외하며 표준편차는 ddof=1 기준입니다.</a:t>
            </a:r>
          </a:p>
          <a:p xmlns:a="http://schemas.openxmlformats.org/drawingml/2006/main">
            <a:r>
              <a:t>- 6개 항목의 히스토그램을 함께 표시하고, 선택 항목의 박스플롯·평균·중앙값·산포를 해석합니다. 히스토그램 구간 수를 변경할 수 있습니다.</a:t>
            </a:r>
          </a:p>
          <a:p xmlns:a="http://schemas.openxmlformats.org/drawingml/2006/main">
            <a:r>
              <a:t>- 1.5×IQR 밖 관측값은 자동 제거하지 않으며, 측정 오류로 단정하지 않습니다. 왜도만으로 정규성을 확정하지 않습니다.</a:t>
            </a:r>
          </a:p>
          <a:p xmlns:a="http://schemas.openxmlformats.org/drawingml/2006/main">
            <a:r>
              <a:t>- 단위가 다른 항목의 표준편차 절댓값을 그대로 비교하지 않습니다. 전처리로 선정된 표본의 분포이며 원본 모집단 전체나 미달률·통과확률을 나타내는 분석은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질문·가설: 심폐 모집단 평균은 기준값 42와 다른가? H₀: μ=42, H₁: μ≠42</a:t>
            </a:r>
          </a:p>
          <a:p xmlns:a="http://schemas.openxmlformats.org/drawingml/2006/main">
            <a:r>
              <a:t>변수·대상: 첫 측정 당시 19~24세, 장병별 첫 측정 CARDIO 연속값. 결측 제외</a:t>
            </a:r>
          </a:p>
          <a:p xmlns:a="http://schemas.openxmlformats.org/drawingml/2006/main">
            <a:r>
              <a:t>방법·판정: 양측 단일표본 t검정, α=0.05. t=(표본평균−기준평균)/(s/√n), 자유도 n−1</a:t>
            </a:r>
          </a:p>
          <a:p xmlns:a="http://schemas.openxmlformats.org/drawingml/2006/main">
            <a:r>
              <a:t>파일·산출물: t검정_단일표본_심폐기준비교.py: 평균·차이·표준편차·t·p값·평균 95% CI·참고 Cohen d, 히스토그램·기준선, CSV 다운로드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질문·가설: BMI 낮음·높음 집단의 상대악력 모집단 평균이 다른가? H₀: μ낮음=μ높음, H₁: 두 평균 다름</a:t>
            </a:r>
          </a:p>
          <a:p xmlns:a="http://schemas.openxmlformats.org/drawingml/2006/main">
            <a:r>
              <a:t>변수·대상: 첫 측정 BMI 삼분위의 낮음·높음 집단, STRENGTH. 중간 집단 및 해당 변수 결측 제외</a:t>
            </a:r>
          </a:p>
          <a:p xmlns:a="http://schemas.openxmlformats.org/drawingml/2006/main">
            <a:r>
              <a:t>방법·판정: 중앙값 기준 Levene p≥0.05면 Student, p&lt;0.05면 Welch t검정. 양측 α=0.05</a:t>
            </a:r>
          </a:p>
          <a:p xmlns:a="http://schemas.openxmlformats.org/drawingml/2006/main">
            <a:r>
              <a:t>파일·산출물: t검정_독립표본_BMI별근력비교.py: 그룹 인원·평균·평균차(%p)·t·자유도·p값·차이 95% CI, 박스플롯·해석·CSV 다운로드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 첫 측정은 분석_연령별.py, BMI 삼분위는 분석_bmi별.py의 정의를 재사용합니다. 체력자료는 표본으로 다루되 전처리 선택 및 대표성에 따른 일반화 한계를 명시합니다.</a:t>
            </a:r>
          </a:p>
          <a:p xmlns:a="http://schemas.openxmlformats.org/drawingml/2006/main">
            <a:r>
              <a:t>- 단일표본의 42는 개인 심폐 기준 경계를 평균 비교 기준으로 사용한 것이며 알려진 모집단 평균이라는 뜻은 아닙니다. 화면에서 기준 변경 가능하나 반복 탐색 후 유의한 결과만 보고하지 않습니다.</a:t>
            </a:r>
          </a:p>
          <a:p xmlns:a="http://schemas.openxmlformats.org/drawingml/2006/main">
            <a:r>
              <a:t>- 독립표본 비교는 기존 BMI ANOVA·사후검정 결과를 확인한 뒤 선정한 탐색적 비교·수업 실습입니다. 새로운 독립적 증거로 중복 계산하지 않습니다.</a:t>
            </a:r>
          </a:p>
          <a:p xmlns:a="http://schemas.openxmlformats.org/drawingml/2006/main">
            <a:r>
              <a:t>- 두 집단 비교의 등분산 가정은 Student에 적용되며, Welch는 이분산을 허용합니다. 각 집단의 유효 인원 2명 이상과 양의 표본분산이 필요합니다. Levene 비유의성은 등분산의 증명이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data/experiments/분석계획표.md</a:t>
            </a:r>
          </a:p>
          <a:p xmlns:a="http://schemas.openxmlformats.org/drawingml/2006/main">
            <a:r>
              <a:t/>
            </a:r>
          </a:p>
          <a:p xmlns:a="http://schemas.openxmlformats.org/drawingml/2006/main">
            <a:r>
              <a:t>- 현재는 각각 하나의 지정 비교에 대해 원 p값을 보고하며 Holm 보정은 적용하지 않습니다. 여러 종목·그룹·기준으로 확장해 함께 결론 내릴 경우 다중검정 범위를 별도로 정의해야 합니다.</a:t>
            </a:r>
          </a:p>
          <a:p xmlns:a="http://schemas.openxmlformats.org/drawingml/2006/main">
            <a:r>
              <a:t>- 평균 기준 충족과 개인별 통과 여부는 다릅니다. 같은 장병의 1차·3차 비교는 독립표본이 아닌 대응표본 분석 대상입니다. 독립성·분포·극단값 검토와 인과해석 제한을 함께 보고합니다.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db3825cdb041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4ba2db3d2f41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34918e4bae4b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4f2eff534344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a756c066464c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66abd50a974a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51BA4A-32E6-4038-AEAC-4697F7C9939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72B1767-B080-46D7-BCF6-7FF42041D8F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932D7C-8064-4D98-B380-F2D83CBF15D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977408-E909-4ED0-B1A4-85FD47CE19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336B42-0540-417A-9DFC-06CD293D859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759181-E5FD-4BF6-9504-3243EFBDE4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E40F55-6249-482E-BA6B-F5BCD7C178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1EAED9-5B2B-422A-89DD-B6E165466A6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B580E6-438D-44FD-BFFD-9DA3B87EA5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315BF5-F8D8-4D60-9BB2-11DC8753E3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b365fec2ad40e8" /><Relationship Type="http://schemas.openxmlformats.org/officeDocument/2006/relationships/slideLayout" Target="/ppt/slideLayouts/slideLayout1.xml" Id="R025dcb504d29460d" /><Relationship Type="http://schemas.openxmlformats.org/officeDocument/2006/relationships/slideLayout" Target="/ppt/slideLayouts/slideLayout2.xml" Id="R94d1b73a3c7141c4" /><Relationship Type="http://schemas.openxmlformats.org/officeDocument/2006/relationships/slideLayout" Target="/ppt/slideLayouts/slideLayout3.xml" Id="R5b9644fb136d4080" /><Relationship Type="http://schemas.openxmlformats.org/officeDocument/2006/relationships/slideLayout" Target="/ppt/slideLayouts/slideLayout4.xml" Id="Re5c81dbf45444a7a" /><Relationship Type="http://schemas.openxmlformats.org/officeDocument/2006/relationships/slideLayout" Target="/ppt/slideLayouts/slideLayout5.xml" Id="R7f77fbdd792d4d9e" /><Relationship Type="http://schemas.openxmlformats.org/officeDocument/2006/relationships/slideLayout" Target="/ppt/slideLayouts/slideLayout6.xml" Id="R381ae83b3e5c4db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5dcb504d29460d"/>
    <p:sldLayoutId xmlns:r="http://schemas.openxmlformats.org/officeDocument/2006/relationships" id="2147483650" r:id="R94d1b73a3c7141c4"/>
    <p:sldLayoutId xmlns:r="http://schemas.openxmlformats.org/officeDocument/2006/relationships" id="2147483651" r:id="R5b9644fb136d4080"/>
    <p:sldLayoutId xmlns:r="http://schemas.openxmlformats.org/officeDocument/2006/relationships" id="2147483652" r:id="Re5c81dbf45444a7a"/>
    <p:sldLayoutId xmlns:r="http://schemas.openxmlformats.org/officeDocument/2006/relationships" id="2147483653" r:id="R7f77fbdd792d4d9e"/>
    <p:sldLayoutId xmlns:r="http://schemas.openxmlformats.org/officeDocument/2006/relationships" id="2147483654" r:id="R381ae83b3e5c4db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a607b060fc4210" /><Relationship Type="http://schemas.openxmlformats.org/officeDocument/2006/relationships/notesSlide" Target="/ppt/notesSlides/notesSlide1.xml" Id="R824945fa3b144f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ff992528a84cad" /><Relationship Type="http://schemas.openxmlformats.org/officeDocument/2006/relationships/notesSlide" Target="/ppt/notesSlides/notesSlide2.xml" Id="R9d79519bd15342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d76b761a2264fa4" /><Relationship Type="http://schemas.openxmlformats.org/officeDocument/2006/relationships/notesSlide" Target="/ppt/notesSlides/notesSlide3.xml" Id="R82638cbcff1643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258b1ffe924a13" /><Relationship Type="http://schemas.openxmlformats.org/officeDocument/2006/relationships/notesSlide" Target="/ppt/notesSlides/notesSlide4.xml" Id="R5d8740adad0341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75b9dffe0124d7a" /><Relationship Type="http://schemas.openxmlformats.org/officeDocument/2006/relationships/notesSlide" Target="/ppt/notesSlides/notesSlide5.xml" Id="R5f3d8395d3e748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28b67c71ebb48f6" /><Relationship Type="http://schemas.openxmlformats.org/officeDocument/2006/relationships/notesSlide" Target="/ppt/notesSlides/notesSlide6.xml" Id="R2165fce407f74f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c59eaa13824f78" /><Relationship Type="http://schemas.openxmlformats.org/officeDocument/2006/relationships/notesSlide" Target="/ppt/notesSlides/notesSlide7.xml" Id="Rc615f6eada5149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f114224582847ed" /><Relationship Type="http://schemas.openxmlformats.org/officeDocument/2006/relationships/notesSlide" Target="/ppt/notesSlides/notesSlide8.xml" Id="Re50bcf52207645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02cf4d0dc3441bc" /><Relationship Type="http://schemas.openxmlformats.org/officeDocument/2006/relationships/notesSlide" Target="/ppt/notesSlides/notesSlide9.xml" Id="Rb623cb404f584c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974e5f8a12549db" /><Relationship Type="http://schemas.openxmlformats.org/officeDocument/2006/relationships/notesSlide" Target="/ppt/notesSlides/notesSlide10.xml" Id="R320bbed1cf0641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92961ac50114006" /><Relationship Type="http://schemas.openxmlformats.org/officeDocument/2006/relationships/notesSlide" Target="/ppt/notesSlides/notesSlide11.xml" Id="R9cc110ac9f774d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35fcb6b4f54e15" /><Relationship Type="http://schemas.openxmlformats.org/officeDocument/2006/relationships/notesSlide" Target="/ppt/notesSlides/notesSlide12.xml" Id="Ra940b957ca824a1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ae8c36c4e014c38" /><Relationship Type="http://schemas.openxmlformats.org/officeDocument/2006/relationships/notesSlide" Target="/ppt/notesSlides/notesSlide13.xml" Id="R966b8fbe576b47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9e48de3003f45dc" /><Relationship Type="http://schemas.openxmlformats.org/officeDocument/2006/relationships/notesSlide" Target="/ppt/notesSlides/notesSlide14.xml" Id="Rb9c0d7f9781a423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a0b6738614e4de8" /><Relationship Type="http://schemas.openxmlformats.org/officeDocument/2006/relationships/notesSlide" Target="/ppt/notesSlides/notesSlide15.xml" Id="R6a79aec74fc540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edc7072962949e1" /><Relationship Type="http://schemas.openxmlformats.org/officeDocument/2006/relationships/notesSlide" Target="/ppt/notesSlides/notesSlide16.xml" Id="Rf30953e375784a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8ce0d37d92a44ec" /><Relationship Type="http://schemas.openxmlformats.org/officeDocument/2006/relationships/notesSlide" Target="/ppt/notesSlides/notesSlide17.xml" Id="R4d6bf89fd99343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002db6efe3c4496" /><Relationship Type="http://schemas.openxmlformats.org/officeDocument/2006/relationships/notesSlide" Target="/ppt/notesSlides/notesSlide18.xml" Id="R9f8406494e2f423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2d4ae1e6a114112" /><Relationship Type="http://schemas.openxmlformats.org/officeDocument/2006/relationships/notesSlide" Target="/ppt/notesSlides/notesSlide19.xml" Id="R1ed615f6a0b3437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19eb36671224d1a" /><Relationship Type="http://schemas.openxmlformats.org/officeDocument/2006/relationships/notesSlide" Target="/ppt/notesSlides/notesSlide20.xml" Id="Rb94c9db5c4a041f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536025330ab4009" /><Relationship Type="http://schemas.openxmlformats.org/officeDocument/2006/relationships/notesSlide" Target="/ppt/notesSlides/notesSlide21.xml" Id="Rf2cd32b4483c4d8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8584439db0f482d" /><Relationship Type="http://schemas.openxmlformats.org/officeDocument/2006/relationships/notesSlide" Target="/ppt/notesSlides/notesSlide22.xml" Id="Rcf125d7b99db4d0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a3dd946a73944b8" /><Relationship Type="http://schemas.openxmlformats.org/officeDocument/2006/relationships/notesSlide" Target="/ppt/notesSlides/notesSlide23.xml" Id="Rb49650410aa9461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c9b5032901e41dd" /><Relationship Type="http://schemas.openxmlformats.org/officeDocument/2006/relationships/notesSlide" Target="/ppt/notesSlides/notesSlide24.xml" Id="R6a2d33930ac94db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d4f8a12d82a41d8" /><Relationship Type="http://schemas.openxmlformats.org/officeDocument/2006/relationships/notesSlide" Target="/ppt/notesSlides/notesSlide25.xml" Id="R43ada9ddedae419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b6c6df99e54414f" /><Relationship Type="http://schemas.openxmlformats.org/officeDocument/2006/relationships/notesSlide" Target="/ppt/notesSlides/notesSlide26.xml" Id="R3f4c6b2cc2dc4f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7d1f4dade184d1d" /><Relationship Type="http://schemas.openxmlformats.org/officeDocument/2006/relationships/notesSlide" Target="/ppt/notesSlides/notesSlide27.xml" Id="Re5db5c226a78432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6863b8589f4466e" /><Relationship Type="http://schemas.openxmlformats.org/officeDocument/2006/relationships/notesSlide" Target="/ppt/notesSlides/notesSlide28.xml" Id="Rd8994cc43ff4431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39031a9f6484b5c" /><Relationship Type="http://schemas.openxmlformats.org/officeDocument/2006/relationships/notesSlide" Target="/ppt/notesSlides/notesSlide29.xml" Id="R6ed0f85ae8d84f0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e0ada9bf6174982" /><Relationship Type="http://schemas.openxmlformats.org/officeDocument/2006/relationships/notesSlide" Target="/ppt/notesSlides/notesSlide30.xml" Id="R9f5e3cd5c2204ba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8d3e10beab64677" /><Relationship Type="http://schemas.openxmlformats.org/officeDocument/2006/relationships/notesSlide" Target="/ppt/notesSlides/notesSlide31.xml" Id="R1c22214a48944cd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d0488ff6c9d498f" /><Relationship Type="http://schemas.openxmlformats.org/officeDocument/2006/relationships/notesSlide" Target="/ppt/notesSlides/notesSlide32.xml" Id="Rb16822289db84db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fbf8f9b6e054f3f" /><Relationship Type="http://schemas.openxmlformats.org/officeDocument/2006/relationships/notesSlide" Target="/ppt/notesSlides/notesSlide33.xml" Id="Rffc16aae12014f0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8732c9dbb004a28" /><Relationship Type="http://schemas.openxmlformats.org/officeDocument/2006/relationships/notesSlide" Target="/ppt/notesSlides/notesSlide34.xml" Id="R5a26ccbbc97042a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21ac84b30884043" /><Relationship Type="http://schemas.openxmlformats.org/officeDocument/2006/relationships/notesSlide" Target="/ppt/notesSlides/notesSlide35.xml" Id="Rc7403a3d182d42e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af869b44ce64b19" /><Relationship Type="http://schemas.openxmlformats.org/officeDocument/2006/relationships/notesSlide" Target="/ppt/notesSlides/notesSlide36.xml" Id="R2753740ffcb44e1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4cfe8fcf4034887" /><Relationship Type="http://schemas.openxmlformats.org/officeDocument/2006/relationships/notesSlide" Target="/ppt/notesSlides/notesSlide37.xml" Id="Ra2128e180f0b4d5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379d016c1c34f9e" /><Relationship Type="http://schemas.openxmlformats.org/officeDocument/2006/relationships/notesSlide" Target="/ppt/notesSlides/notesSlide38.xml" Id="R1a74c5438c864b3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4bc67d0a59d464a" /><Relationship Type="http://schemas.openxmlformats.org/officeDocument/2006/relationships/notesSlide" Target="/ppt/notesSlides/notesSlide39.xml" Id="R994aeb82f720463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c71cf7aea354403" /><Relationship Type="http://schemas.openxmlformats.org/officeDocument/2006/relationships/notesSlide" Target="/ppt/notesSlides/notesSlide40.xml" Id="Re775932951e04ec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392163065b64f9a" /><Relationship Type="http://schemas.openxmlformats.org/officeDocument/2006/relationships/notesSlide" Target="/ppt/notesSlides/notesSlide41.xml" Id="R20efc630d5234e1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5ba8e231c6d4e62" /><Relationship Type="http://schemas.openxmlformats.org/officeDocument/2006/relationships/notesSlide" Target="/ppt/notesSlides/notesSlide42.xml" Id="Rf4a8989e59f640c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11b98414f11b4ea8" /><Relationship Type="http://schemas.openxmlformats.org/officeDocument/2006/relationships/notesSlide" Target="/ppt/notesSlides/notesSlide43.xml" Id="Rb9b4edde1af94b3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29e553208344bd2" /><Relationship Type="http://schemas.openxmlformats.org/officeDocument/2006/relationships/notesSlide" Target="/ppt/notesSlides/notesSlide44.xml" Id="R84c50e7e43124e2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56d433bda674231" /><Relationship Type="http://schemas.openxmlformats.org/officeDocument/2006/relationships/notesSlide" Target="/ppt/notesSlides/notesSlide45.xml" Id="R7067af62a482493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b93661e606324a4f" /><Relationship Type="http://schemas.openxmlformats.org/officeDocument/2006/relationships/notesSlide" Target="/ppt/notesSlides/notesSlide46.xml" Id="R3c0a186b8c194e2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f7b8c146f7f846cb" /><Relationship Type="http://schemas.openxmlformats.org/officeDocument/2006/relationships/notesSlide" Target="/ppt/notesSlides/notesSlide47.xml" Id="R90efaadcbac647f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2da9015fcaa4d71" /><Relationship Type="http://schemas.openxmlformats.org/officeDocument/2006/relationships/notesSlide" Target="/ppt/notesSlides/notesSlide48.xml" Id="Rdf552e53ab774fe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a907246d191d4b2b" /><Relationship Type="http://schemas.openxmlformats.org/officeDocument/2006/relationships/notesSlide" Target="/ppt/notesSlides/notesSlide49.xml" Id="R5dea357e4022406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5b21f35b3238437c" /><Relationship Type="http://schemas.openxmlformats.org/officeDocument/2006/relationships/notesSlide" Target="/ppt/notesSlides/notesSlide50.xml" Id="Rf87450bc52ba4d4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705aeb68d6224e9b" /><Relationship Type="http://schemas.openxmlformats.org/officeDocument/2006/relationships/notesSlide" Target="/ppt/notesSlides/notesSlide51.xml" Id="R4e216c4326444e8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a0babac671974fc2" /><Relationship Type="http://schemas.openxmlformats.org/officeDocument/2006/relationships/notesSlide" Target="/ppt/notesSlides/notesSlide52.xml" Id="R83cc37539aad498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b24d52d04c9a46c7" /><Relationship Type="http://schemas.openxmlformats.org/officeDocument/2006/relationships/notesSlide" Target="/ppt/notesSlides/notesSlide53.xml" Id="R21c11e88ed3e445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1ea36e88280442ba" /><Relationship Type="http://schemas.openxmlformats.org/officeDocument/2006/relationships/notesSlide" Target="/ppt/notesSlides/notesSlide54.xml" Id="Rac05677afb6c4ad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6dde7c3ee8db4f5b" /><Relationship Type="http://schemas.openxmlformats.org/officeDocument/2006/relationships/notesSlide" Target="/ppt/notesSlides/notesSlide55.xml" Id="Ra8f265c58332438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a3e525235b0f49cf" /><Relationship Type="http://schemas.openxmlformats.org/officeDocument/2006/relationships/notesSlide" Target="/ppt/notesSlides/notesSlide56.xml" Id="Rdaf3184b3bc04cc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c306895d5f374da4" /><Relationship Type="http://schemas.openxmlformats.org/officeDocument/2006/relationships/notesSlide" Target="/ppt/notesSlides/notesSlide57.xml" Id="Rd2a72cb1020042f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c5144d68a65a4619" /><Relationship Type="http://schemas.openxmlformats.org/officeDocument/2006/relationships/notesSlide" Target="/ppt/notesSlides/notesSlide58.xml" Id="R584c0f59e59642a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3aca8d939b0f4e39" /><Relationship Type="http://schemas.openxmlformats.org/officeDocument/2006/relationships/notesSlide" Target="/ppt/notesSlides/notesSlide59.xml" Id="R0c78b7088e5248c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05bce28627e547ad" /><Relationship Type="http://schemas.openxmlformats.org/officeDocument/2006/relationships/notesSlide" Target="/ppt/notesSlides/notesSlide60.xml" Id="R978674e2ce66497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ad80c672d81c4f15" /><Relationship Type="http://schemas.openxmlformats.org/officeDocument/2006/relationships/notesSlide" Target="/ppt/notesSlides/notesSlide61.xml" Id="R7ccda81f0467467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1b76a0c9f1644613" /><Relationship Type="http://schemas.openxmlformats.org/officeDocument/2006/relationships/notesSlide" Target="/ppt/notesSlides/notesSlide62.xml" Id="R66bf4c6f654b46c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088d60a681764a39" /><Relationship Type="http://schemas.openxmlformats.org/officeDocument/2006/relationships/notesSlide" Target="/ppt/notesSlides/notesSlide63.xml" Id="Rc0f88425e4f04b6e"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4fb4b877629441bb" /><Relationship Type="http://schemas.openxmlformats.org/officeDocument/2006/relationships/notesSlide" Target="/ppt/notesSlides/notesSlide64.xml" Id="R6fca2105af8349e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b1b1140e55dd4305" /><Relationship Type="http://schemas.openxmlformats.org/officeDocument/2006/relationships/notesSlide" Target="/ppt/notesSlides/notesSlide65.xml" Id="Rba062db6527d4faf"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f5a84f6b96724294" /><Relationship Type="http://schemas.openxmlformats.org/officeDocument/2006/relationships/notesSlide" Target="/ppt/notesSlides/notesSlide66.xml" Id="Rdbcea423e58342d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ac4a039c5fda4203" /><Relationship Type="http://schemas.openxmlformats.org/officeDocument/2006/relationships/notesSlide" Target="/ppt/notesSlides/notesSlide67.xml" Id="R9bfcfa5ec0d447f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ce6b09e293bc4443" /><Relationship Type="http://schemas.openxmlformats.org/officeDocument/2006/relationships/notesSlide" Target="/ppt/notesSlides/notesSlide68.xml" Id="R2f46bc8422cc49c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cddb8e92216d4ce6" /><Relationship Type="http://schemas.openxmlformats.org/officeDocument/2006/relationships/notesSlide" Target="/ppt/notesSlides/notesSlide69.xml" Id="Rc435bed11deb4787"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427fa7e0a5d04434" /><Relationship Type="http://schemas.openxmlformats.org/officeDocument/2006/relationships/notesSlide" Target="/ppt/notesSlides/notesSlide70.xml" Id="Rc86df2c4b30b470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c8142302a1db46a0" /><Relationship Type="http://schemas.openxmlformats.org/officeDocument/2006/relationships/notesSlide" Target="/ppt/notesSlides/notesSlide71.xml" Id="Rfc82f2da8ace4a6e"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40baa2dc7ce64c8f" /><Relationship Type="http://schemas.openxmlformats.org/officeDocument/2006/relationships/notesSlide" Target="/ppt/notesSlides/notesSlide72.xml" Id="R462aa4d3641c4ec9"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fbb214513c504979" /><Relationship Type="http://schemas.openxmlformats.org/officeDocument/2006/relationships/notesSlide" Target="/ppt/notesSlides/notesSlide73.xml" Id="R8a8fc4805018447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aeeb973213ac4611" /><Relationship Type="http://schemas.openxmlformats.org/officeDocument/2006/relationships/notesSlide" Target="/ppt/notesSlides/notesSlide74.xml" Id="R8eea78b9103f479c"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0101c66c2d3b4702" /><Relationship Type="http://schemas.openxmlformats.org/officeDocument/2006/relationships/notesSlide" Target="/ppt/notesSlides/notesSlide75.xml" Id="R12a5132799584bc0"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46ca28c8503d48e5" /><Relationship Type="http://schemas.openxmlformats.org/officeDocument/2006/relationships/notesSlide" Target="/ppt/notesSlides/notesSlide76.xml" Id="Rde0088195266439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34A85F-5207-4FE6-BB26-96FFAA6D6067}"/>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장병 체력 측정 데이터 분석계획표</a:t>
            </a:r>
          </a:p>
        </p:txBody>
      </p:sp>
      <p:sp>
        <p:nvSpPr>
          <p:cNvPr id="2" name="">
            <a:extLst xmlns:a="http://schemas.openxmlformats.org/drawingml/2006/main">
              <a:ext uri="{FF2B5EF4-FFF2-40B4-BE49-F238E27FC236}">
                <a16:creationId xmlns:a16="http://schemas.microsoft.com/office/drawing/2014/main" id="{01A64D03-5FD5-4C58-BA99-133EF0322BD1}"/>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97259A15-B539-4AA9-B194-AC2C84DE1B72}"/>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a:t>
            </a:r>
          </a:p>
        </p:txBody>
      </p:sp>
      <p:sp>
        <p:nvSpPr>
          <p:cNvPr id="4" name="">
            <a:extLst xmlns:a="http://schemas.openxmlformats.org/drawingml/2006/main">
              <a:ext uri="{FF2B5EF4-FFF2-40B4-BE49-F238E27FC236}">
                <a16:creationId xmlns:a16="http://schemas.microsoft.com/office/drawing/2014/main" id="{D85E936C-643B-470F-A8A6-333DBA3D6A54}"/>
              </a:ext>
            </a:extLst>
          </p:cNvPr>
          <p:cNvSpPr>
            <a:spLocks xmlns:a="http://schemas.openxmlformats.org/drawingml/2006/main" noGrp="1"/>
          </p:cNvSpPr>
          <p:nvPr/>
        </p:nvSpPr>
        <p:spPr>
          <a:xfrm xmlns:a="http://schemas.openxmlformats.org/drawingml/2006/main">
            <a:off x="571500" y="185737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173C59"/>
                </a:solidFill>
                <a:latin typeface="Malgun Gothic"/>
                <a:ea typeface="Malgun Gothic"/>
                <a:cs typeface="Malgun Gothic"/>
              </a:defRPr>
            </a:defPPr>
            <a:lvl1pPr>
              <a:defRPr sz="4350" b="1">
                <a:solidFill>
                  <a:srgbClr val="173C59"/>
                </a:solidFill>
                <a:latin typeface="Malgun Gothic"/>
                <a:ea typeface="Malgun Gothic"/>
                <a:cs typeface="Malgun Gothic"/>
              </a:defRPr>
            </a:lvl1pPr>
            <a:lvl2pPr>
              <a:defRPr sz="4350" b="1">
                <a:solidFill>
                  <a:srgbClr val="173C59"/>
                </a:solidFill>
                <a:latin typeface="Malgun Gothic"/>
                <a:ea typeface="Malgun Gothic"/>
                <a:cs typeface="Malgun Gothic"/>
              </a:defRPr>
            </a:lvl2pPr>
            <a:lvl3pPr>
              <a:defRPr sz="4350" b="1">
                <a:solidFill>
                  <a:srgbClr val="173C59"/>
                </a:solidFill>
                <a:latin typeface="Malgun Gothic"/>
                <a:ea typeface="Malgun Gothic"/>
                <a:cs typeface="Malgun Gothic"/>
              </a:defRPr>
            </a:lvl3pPr>
            <a:lvl4pPr>
              <a:defRPr sz="4350" b="1">
                <a:solidFill>
                  <a:srgbClr val="173C59"/>
                </a:solidFill>
                <a:latin typeface="Malgun Gothic"/>
                <a:ea typeface="Malgun Gothic"/>
                <a:cs typeface="Malgun Gothic"/>
              </a:defRPr>
            </a:lvl4pPr>
            <a:lvl5pPr>
              <a:defRPr sz="4350" b="1">
                <a:solidFill>
                  <a:srgbClr val="173C59"/>
                </a:solidFill>
                <a:latin typeface="Malgun Gothic"/>
                <a:ea typeface="Malgun Gothic"/>
                <a:cs typeface="Malgun Gothic"/>
              </a:defRPr>
            </a:lvl5pPr>
            <a:lvl6pPr>
              <a:defRPr sz="4350" b="1">
                <a:solidFill>
                  <a:srgbClr val="173C59"/>
                </a:solidFill>
                <a:latin typeface="Malgun Gothic"/>
                <a:ea typeface="Malgun Gothic"/>
                <a:cs typeface="Malgun Gothic"/>
              </a:defRPr>
            </a:lvl6pPr>
            <a:lvl7pPr>
              <a:defRPr sz="4350" b="1">
                <a:solidFill>
                  <a:srgbClr val="173C59"/>
                </a:solidFill>
                <a:latin typeface="Malgun Gothic"/>
                <a:ea typeface="Malgun Gothic"/>
                <a:cs typeface="Malgun Gothic"/>
              </a:defRPr>
            </a:lvl7pPr>
            <a:lvl8pPr>
              <a:defRPr sz="4350" b="1">
                <a:solidFill>
                  <a:srgbClr val="173C59"/>
                </a:solidFill>
                <a:latin typeface="Malgun Gothic"/>
                <a:ea typeface="Malgun Gothic"/>
                <a:cs typeface="Malgun Gothic"/>
              </a:defRPr>
            </a:lvl8pPr>
            <a:lvl9pPr>
              <a:defRPr sz="4350" b="1">
                <a:solidFill>
                  <a:srgbClr val="173C59"/>
                </a:solidFill>
                <a:latin typeface="Malgun Gothic"/>
                <a:ea typeface="Malgun Gothic"/>
                <a:cs typeface="Malgun Gothic"/>
              </a:defRPr>
            </a:lvl9pPr>
          </a:lstStyle>
          <a:p xmlns:a="http://schemas.openxmlformats.org/drawingml/2006/main">
            <a:pPr>
              <a:defRPr sz="4350" b="1">
                <a:solidFill>
                  <a:srgbClr val="173C59"/>
                </a:solidFill>
                <a:latin typeface="Malgun Gothic"/>
                <a:ea typeface="Malgun Gothic"/>
                <a:cs typeface="Malgun Gothic"/>
              </a:defRPr>
            </a:pPr>
            <a:r>
              <a:rPr sz="4350" b="1">
                <a:solidFill>
                  <a:srgbClr val="173C59"/>
                </a:solidFill>
                <a:latin typeface="Malgun Gothic"/>
                <a:ea typeface="Malgun Gothic"/>
                <a:cs typeface="Malgun Gothic"/>
              </a:rPr>
              <a:t>장병 체력 측정 데이터</a:t>
            </a:r>
          </a:p>
          <a:p xmlns:a="http://schemas.openxmlformats.org/drawingml/2006/main">
            <a:pPr>
              <a:defRPr sz="4350" b="1">
                <a:solidFill>
                  <a:srgbClr val="173C59"/>
                </a:solidFill>
                <a:latin typeface="Malgun Gothic"/>
                <a:ea typeface="Malgun Gothic"/>
                <a:cs typeface="Malgun Gothic"/>
              </a:defRPr>
            </a:pPr>
            <a:r>
              <a:rPr sz="4350" b="1">
                <a:solidFill>
                  <a:srgbClr val="173C59"/>
                </a:solidFill>
                <a:latin typeface="Malgun Gothic"/>
                <a:ea typeface="Malgun Gothic"/>
                <a:cs typeface="Malgun Gothic"/>
              </a:rPr>
              <a:t>분석계획표</a:t>
            </a:r>
          </a:p>
        </p:txBody>
      </p:sp>
      <p:sp>
        <p:nvSpPr>
          <p:cNvPr id="5" name="">
            <a:extLst xmlns:a="http://schemas.openxmlformats.org/drawingml/2006/main">
              <a:ext uri="{FF2B5EF4-FFF2-40B4-BE49-F238E27FC236}">
                <a16:creationId xmlns:a16="http://schemas.microsoft.com/office/drawing/2014/main" id="{ACED1438-71B0-43C9-93EE-EE7DC2945483}"/>
              </a:ext>
            </a:extLst>
          </p:cNvPr>
          <p:cNvSpPr>
            <a:spLocks xmlns:a="http://schemas.openxmlformats.org/drawingml/2006/main" noGrp="1"/>
          </p:cNvSpPr>
          <p:nvPr/>
        </p:nvSpPr>
        <p:spPr>
          <a:xfrm xmlns:a="http://schemas.openxmlformats.org/drawingml/2006/main">
            <a:off x="619125" y="40005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5364A"/>
                </a:solidFill>
                <a:latin typeface="Malgun Gothic"/>
                <a:ea typeface="Malgun Gothic"/>
                <a:cs typeface="Malgun Gothic"/>
              </a:defRPr>
            </a:defPPr>
            <a:lvl1pPr>
              <a:defRPr sz="2250" b="0">
                <a:solidFill>
                  <a:srgbClr val="25364A"/>
                </a:solidFill>
                <a:latin typeface="Malgun Gothic"/>
                <a:ea typeface="Malgun Gothic"/>
                <a:cs typeface="Malgun Gothic"/>
              </a:defRPr>
            </a:lvl1pPr>
            <a:lvl2pPr>
              <a:defRPr sz="2250" b="0">
                <a:solidFill>
                  <a:srgbClr val="25364A"/>
                </a:solidFill>
                <a:latin typeface="Malgun Gothic"/>
                <a:ea typeface="Malgun Gothic"/>
                <a:cs typeface="Malgun Gothic"/>
              </a:defRPr>
            </a:lvl2pPr>
            <a:lvl3pPr>
              <a:defRPr sz="2250" b="0">
                <a:solidFill>
                  <a:srgbClr val="25364A"/>
                </a:solidFill>
                <a:latin typeface="Malgun Gothic"/>
                <a:ea typeface="Malgun Gothic"/>
                <a:cs typeface="Malgun Gothic"/>
              </a:defRPr>
            </a:lvl3pPr>
            <a:lvl4pPr>
              <a:defRPr sz="2250" b="0">
                <a:solidFill>
                  <a:srgbClr val="25364A"/>
                </a:solidFill>
                <a:latin typeface="Malgun Gothic"/>
                <a:ea typeface="Malgun Gothic"/>
                <a:cs typeface="Malgun Gothic"/>
              </a:defRPr>
            </a:lvl4pPr>
            <a:lvl5pPr>
              <a:defRPr sz="2250" b="0">
                <a:solidFill>
                  <a:srgbClr val="25364A"/>
                </a:solidFill>
                <a:latin typeface="Malgun Gothic"/>
                <a:ea typeface="Malgun Gothic"/>
                <a:cs typeface="Malgun Gothic"/>
              </a:defRPr>
            </a:lvl5pPr>
            <a:lvl6pPr>
              <a:defRPr sz="2250" b="0">
                <a:solidFill>
                  <a:srgbClr val="25364A"/>
                </a:solidFill>
                <a:latin typeface="Malgun Gothic"/>
                <a:ea typeface="Malgun Gothic"/>
                <a:cs typeface="Malgun Gothic"/>
              </a:defRPr>
            </a:lvl6pPr>
            <a:lvl7pPr>
              <a:defRPr sz="2250" b="0">
                <a:solidFill>
                  <a:srgbClr val="25364A"/>
                </a:solidFill>
                <a:latin typeface="Malgun Gothic"/>
                <a:ea typeface="Malgun Gothic"/>
                <a:cs typeface="Malgun Gothic"/>
              </a:defRPr>
            </a:lvl7pPr>
            <a:lvl8pPr>
              <a:defRPr sz="2250" b="0">
                <a:solidFill>
                  <a:srgbClr val="25364A"/>
                </a:solidFill>
                <a:latin typeface="Malgun Gothic"/>
                <a:ea typeface="Malgun Gothic"/>
                <a:cs typeface="Malgun Gothic"/>
              </a:defRPr>
            </a:lvl8pPr>
            <a:lvl9pPr>
              <a:defRPr sz="2250" b="0">
                <a:solidFill>
                  <a:srgbClr val="25364A"/>
                </a:solidFill>
                <a:latin typeface="Malgun Gothic"/>
                <a:ea typeface="Malgun Gothic"/>
                <a:cs typeface="Malgun Gothic"/>
              </a:defRPr>
            </a:lvl9pPr>
          </a:lstStyle>
          <a:p xmlns:a="http://schemas.openxmlformats.org/drawingml/2006/main">
            <a:pPr>
              <a:defRPr sz="2250" b="0">
                <a:solidFill>
                  <a:srgbClr val="25364A"/>
                </a:solidFill>
                <a:latin typeface="Malgun Gothic"/>
                <a:ea typeface="Malgun Gothic"/>
                <a:cs typeface="Malgun Gothic"/>
              </a:defRPr>
            </a:pPr>
            <a:r>
              <a:rPr sz="2250" b="0">
                <a:solidFill>
                  <a:srgbClr val="25364A"/>
                </a:solidFill>
                <a:latin typeface="Malgun Gothic"/>
                <a:ea typeface="Malgun Gothic"/>
                <a:cs typeface="Malgun Gothic"/>
              </a:rPr>
              <a:t>작성자 우주연</a:t>
            </a:r>
          </a:p>
          <a:p xmlns:a="http://schemas.openxmlformats.org/drawingml/2006/main">
            <a:pPr>
              <a:defRPr sz="2250" b="0">
                <a:solidFill>
                  <a:srgbClr val="25364A"/>
                </a:solidFill>
                <a:latin typeface="Malgun Gothic"/>
                <a:ea typeface="Malgun Gothic"/>
                <a:cs typeface="Malgun Gothic"/>
              </a:defRPr>
            </a:pPr>
            <a:r>
              <a:rPr sz="2250" b="0">
                <a:solidFill>
                  <a:srgbClr val="25364A"/>
                </a:solidFill>
                <a:latin typeface="Malgun Gothic"/>
                <a:ea typeface="Malgun Gothic"/>
                <a:cs typeface="Malgun Gothic"/>
              </a:rPr>
              <a:t>작성일 2026-10-21</a:t>
            </a:r>
          </a:p>
        </p:txBody>
      </p:sp>
      <p:sp>
        <p:nvSpPr>
          <p:cNvPr id="6" name="">
            <a:extLst xmlns:a="http://schemas.openxmlformats.org/drawingml/2006/main">
              <a:ext uri="{FF2B5EF4-FFF2-40B4-BE49-F238E27FC236}">
                <a16:creationId xmlns:a16="http://schemas.microsoft.com/office/drawing/2014/main" id="{B51E8077-77A1-4DB8-9420-999B8DFBFFAB}"/>
              </a:ext>
            </a:extLst>
          </p:cNvPr>
          <p:cNvSpPr>
            <a:spLocks xmlns:a="http://schemas.openxmlformats.org/drawingml/2006/main" noGrp="1"/>
          </p:cNvSpPr>
          <p:nvPr/>
        </p:nvSpPr>
        <p:spPr>
          <a:xfrm xmlns:a="http://schemas.openxmlformats.org/drawingml/2006/main">
            <a:off x="619125" y="5429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현재 분석 코드와 데이터·판정 기준 정리</a:t>
            </a:r>
          </a:p>
        </p:txBody>
      </p:sp>
    </p:spTree>
    <p:extLst>
      <p:ext uri="{BB962C8B-B14F-4D97-AF65-F5344CB8AC3E}">
        <p14:creationId xmlns:p14="http://schemas.microsoft.com/office/powerpoint/2010/main" val="1815723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226FB6-9E7A-4F25-B318-D9F85A250A9F}"/>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EED07C5A-ED41-4868-91E3-407AC3BAE0EB}"/>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BD50D382-C4FD-4E82-A9D2-49591223C8FC}"/>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a:t>
            </a:r>
          </a:p>
        </p:txBody>
      </p:sp>
      <p:sp>
        <p:nvSpPr>
          <p:cNvPr id="4" name="">
            <a:extLst xmlns:a="http://schemas.openxmlformats.org/drawingml/2006/main">
              <a:ext uri="{FF2B5EF4-FFF2-40B4-BE49-F238E27FC236}">
                <a16:creationId xmlns:a16="http://schemas.microsoft.com/office/drawing/2014/main" id="{E184ADD1-0742-43F5-9687-0AA4791C8D0F}"/>
              </a:ext>
            </a:extLst>
          </p:cNvPr>
          <p:cNvSpPr>
            <a:spLocks xmlns:a="http://schemas.openxmlformats.org/drawingml/2006/main" noGrp="1"/>
          </p:cNvSpPr>
          <p:nvPr/>
        </p:nvSpPr>
        <p:spPr>
          <a:xfrm xmlns:a="http://schemas.openxmlformats.org/drawingml/2006/main">
            <a:off x="619125" y="1333500"/>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작성 기준: 현재 data/experiments/의 분석 코드와 사용한 데이터·판정 기준을 정리한 계획표입니다. 이미 수행한 분석을 포함하며, 분석 전에 등록한 계획서는 아닙니다.</a:t>
            </a:r>
          </a:p>
        </p:txBody>
      </p:sp>
    </p:spTree>
    <p:extLst>
      <p:ext uri="{BB962C8B-B14F-4D97-AF65-F5344CB8AC3E}">
        <p14:creationId xmlns:p14="http://schemas.microsoft.com/office/powerpoint/2010/main" val="8928827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CFEE5F-6268-43E4-8352-8C9D53545973}"/>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1. 분석 목적과 대상</a:t>
            </a:r>
          </a:p>
        </p:txBody>
      </p:sp>
      <p:sp>
        <p:nvSpPr>
          <p:cNvPr id="2" name="">
            <a:extLst xmlns:a="http://schemas.openxmlformats.org/drawingml/2006/main">
              <a:ext uri="{FF2B5EF4-FFF2-40B4-BE49-F238E27FC236}">
                <a16:creationId xmlns:a16="http://schemas.microsoft.com/office/drawing/2014/main" id="{B9D3890E-C0A9-4CC9-811B-CE44AE66384F}"/>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A6BC9F14-9E85-4BBA-B2E1-3A06AD7BF4CB}"/>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a:t>
            </a:r>
          </a:p>
        </p:txBody>
      </p:sp>
      <p:sp>
        <p:nvSpPr>
          <p:cNvPr id="4" name="">
            <a:extLst xmlns:a="http://schemas.openxmlformats.org/drawingml/2006/main">
              <a:ext uri="{FF2B5EF4-FFF2-40B4-BE49-F238E27FC236}">
                <a16:creationId xmlns:a16="http://schemas.microsoft.com/office/drawing/2014/main" id="{341CF308-63E4-402A-87FF-AB1CBBE5D41D}"/>
              </a:ext>
            </a:extLst>
          </p:cNvPr>
          <p:cNvSpPr>
            <a:spLocks xmlns:a="http://schemas.openxmlformats.org/drawingml/2006/main" noGrp="1"/>
          </p:cNvSpPr>
          <p:nvPr/>
        </p:nvSpPr>
        <p:spPr>
          <a:xfrm xmlns:a="http://schemas.openxmlformats.org/drawingml/2006/main">
            <a:off x="619125" y="1333500"/>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장병의 체력 측정 현황을 파악하고, 연령·BMI에 따른 체력 평균과 미달 여부의 차이를 확인합니다. 또한 1·2차 체력 상태에 따른 실제 3차 통과율을 집계하고 로지스틱 회귀의 개인별 예측확률과 구분합니다.</a:t>
            </a:r>
          </a:p>
        </p:txBody>
      </p:sp>
    </p:spTree>
    <p:extLst>
      <p:ext uri="{BB962C8B-B14F-4D97-AF65-F5344CB8AC3E}">
        <p14:creationId xmlns:p14="http://schemas.microsoft.com/office/powerpoint/2010/main" val="9972093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B3F3EE-A306-4EEA-BB67-3D8ED46DAC4F}"/>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1. 분석 목적과 대상</a:t>
            </a:r>
          </a:p>
        </p:txBody>
      </p:sp>
      <p:sp>
        <p:nvSpPr>
          <p:cNvPr id="2" name="">
            <a:extLst xmlns:a="http://schemas.openxmlformats.org/drawingml/2006/main">
              <a:ext uri="{FF2B5EF4-FFF2-40B4-BE49-F238E27FC236}">
                <a16:creationId xmlns:a16="http://schemas.microsoft.com/office/drawing/2014/main" id="{FE8CBB26-006A-49D5-B04C-F59BE94C89E3}"/>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D050670A-412D-474A-9FB4-0F06E4DE46AF}"/>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a:t>
            </a:r>
          </a:p>
        </p:txBody>
      </p:sp>
      <p:graphicFrame>
        <p:nvGraphicFramePr>
          <p:cNvPr id="4" name="">
            <a:extLst xmlns:a="http://schemas.openxmlformats.org/drawingml/2006/main">
              <a:ext uri="{FF2B5EF4-FFF2-40B4-BE49-F238E27FC236}">
                <a16:creationId xmlns:a16="http://schemas.microsoft.com/office/drawing/2014/main" id="{D71694B6-509D-42E4-B2AF-040981516794}"/>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952500">
                <a:tc>
                  <a:txBody>
                    <a:bodyPr/>
                    <a:lstStyle/>
                    <a:p>
                      <a:r>
                        <a:rPr sz="1725" b="1">
                          <a:solidFill>
                            <a:srgbClr val="25364A"/>
                          </a:solidFill>
                          <a:latin typeface="Malgun Gothic"/>
                          <a:ea typeface="Malgun Gothic"/>
                          <a:cs typeface="Malgun Gothic"/>
                        </a:rPr>
                        <a:t>측정 데이터</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data/processed/KS_NFA_PROCESSED.csv</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컬럼 정의서</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data/definitions/KS_NFA_FINAL_DEFINITION.csv</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3등급기준표</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data/definitions/grade3_male_19_24.csv</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현재 데이터 규모</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10,260개 측정 기록, 고유 장병 식별자 3,420개 (30일간격). 데이터 갱신 시 재집계</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원자료 성격</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국민체력100 남성 19~24세 자료를 분석에서 장병 표본으로 사용. 실제 특정 부대 전체 모집단이라는 의미는 아님</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636313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CD942E-8D70-46FB-A3E4-4824FA154590}"/>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1. 분석 목적과 대상</a:t>
            </a:r>
          </a:p>
        </p:txBody>
      </p:sp>
      <p:sp>
        <p:nvSpPr>
          <p:cNvPr id="2" name="">
            <a:extLst xmlns:a="http://schemas.openxmlformats.org/drawingml/2006/main">
              <a:ext uri="{FF2B5EF4-FFF2-40B4-BE49-F238E27FC236}">
                <a16:creationId xmlns:a16="http://schemas.microsoft.com/office/drawing/2014/main" id="{559E8A07-311F-4610-9A18-402E2B6F3C56}"/>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BC705751-EF78-4FDB-87F2-6D54A167517C}"/>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a:t>
            </a:r>
          </a:p>
        </p:txBody>
      </p:sp>
      <p:graphicFrame>
        <p:nvGraphicFramePr>
          <p:cNvPr id="4" name="">
            <a:extLst xmlns:a="http://schemas.openxmlformats.org/drawingml/2006/main">
              <a:ext uri="{FF2B5EF4-FFF2-40B4-BE49-F238E27FC236}">
                <a16:creationId xmlns:a16="http://schemas.microsoft.com/office/drawing/2014/main" id="{AAC4C336-2941-4F37-8C41-61E02A3CA026}"/>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전처리 대상</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전처리 필터와 측정 기록 선정 조건을 통과한 자료. 원본 전체 19~24세 남성을 모두 분석한 결과는 아님</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첫 측정 분석</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장병별 날짜순 첫 측정 1건 사용. 동일 날짜이면 원본 행 순서 적용</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반복 측정 분석</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동일 장병의 1·2·3차 기록을 연결하여 비교</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연령 범위</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분석은 첫 측정 당시 19~24세. 회차별 분석은 코드의 연령 필터에 따라 선정</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6900952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9A87A8-B1F2-4ED3-83DC-217FE8F747F2}"/>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  분석 가능한 대상자와 결측 현황은 어떠한가?</a:t>
            </a:r>
          </a:p>
        </p:txBody>
      </p:sp>
      <p:sp>
        <p:nvSpPr>
          <p:cNvPr id="2" name="">
            <a:extLst xmlns:a="http://schemas.openxmlformats.org/drawingml/2006/main">
              <a:ext uri="{FF2B5EF4-FFF2-40B4-BE49-F238E27FC236}">
                <a16:creationId xmlns:a16="http://schemas.microsoft.com/office/drawing/2014/main" id="{E77E2C40-9A9B-48AF-87B0-4C1A71DFDA33}"/>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8917ACCD-3289-42FA-A8F6-6A86F4A3B980}"/>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a:t>
            </a:r>
          </a:p>
        </p:txBody>
      </p:sp>
      <p:graphicFrame>
        <p:nvGraphicFramePr>
          <p:cNvPr id="4" name="">
            <a:extLst xmlns:a="http://schemas.openxmlformats.org/drawingml/2006/main">
              <a:ext uri="{FF2B5EF4-FFF2-40B4-BE49-F238E27FC236}">
                <a16:creationId xmlns:a16="http://schemas.microsoft.com/office/drawing/2014/main" id="{AAC10D7D-5B25-4F3F-ABC1-D3E19D01BE75}"/>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M_CODE, MESURE_DE, 체력 4종목, 측정 건수</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장병별 기록 수, 중복·결측 확인</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고유 대상자 수, 3회 기록 여부, 종목별 판정불가 수</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check_분석데이터.py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20986056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7A1335-4311-4E50-A9FB-53E82939950A}"/>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2  연령별 인원과 측정값 분포는 어떠한가?</a:t>
            </a:r>
          </a:p>
        </p:txBody>
      </p:sp>
      <p:sp>
        <p:nvSpPr>
          <p:cNvPr id="2" name="">
            <a:extLst xmlns:a="http://schemas.openxmlformats.org/drawingml/2006/main">
              <a:ext uri="{FF2B5EF4-FFF2-40B4-BE49-F238E27FC236}">
                <a16:creationId xmlns:a16="http://schemas.microsoft.com/office/drawing/2014/main" id="{CF0162EF-B60C-451B-9396-C9222CFCAF77}"/>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9A0090DC-79E4-4341-8756-95BFCA19D1F7}"/>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7</a:t>
            </a:r>
          </a:p>
        </p:txBody>
      </p:sp>
      <p:graphicFrame>
        <p:nvGraphicFramePr>
          <p:cNvPr id="4" name="">
            <a:extLst xmlns:a="http://schemas.openxmlformats.org/drawingml/2006/main">
              <a:ext uri="{FF2B5EF4-FFF2-40B4-BE49-F238E27FC236}">
                <a16:creationId xmlns:a16="http://schemas.microsoft.com/office/drawing/2014/main" id="{68917F35-E678-494C-B475-7C0515DB7C17}"/>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AGE, 체력 4종목, HEIGHT, WEIGHT, BMI, BODY_FAT_PERCENTAGE</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연령별 기술통계</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인원·구성비·평균·표본 표준편차</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분석_연령별.py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7322590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8A8FA7-47C6-4393-BB6C-F28619D1376C}"/>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3  BMI 그룹별 인원과 측정값 분포는 어떠한가?</a:t>
            </a:r>
          </a:p>
        </p:txBody>
      </p:sp>
      <p:sp>
        <p:nvSpPr>
          <p:cNvPr id="2" name="">
            <a:extLst xmlns:a="http://schemas.openxmlformats.org/drawingml/2006/main">
              <a:ext uri="{FF2B5EF4-FFF2-40B4-BE49-F238E27FC236}">
                <a16:creationId xmlns:a16="http://schemas.microsoft.com/office/drawing/2014/main" id="{0A6E68C6-D2E6-4831-9424-2BD73AD9F606}"/>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2AFE3B62-4911-49E0-A0E7-87003B8816C8}"/>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8</a:t>
            </a:r>
          </a:p>
        </p:txBody>
      </p:sp>
      <p:graphicFrame>
        <p:nvGraphicFramePr>
          <p:cNvPr id="4" name="">
            <a:extLst xmlns:a="http://schemas.openxmlformats.org/drawingml/2006/main">
              <a:ext uri="{FF2B5EF4-FFF2-40B4-BE49-F238E27FC236}">
                <a16:creationId xmlns:a16="http://schemas.microsoft.com/office/drawing/2014/main" id="{8178737F-CF22-484D-AA2C-96E2632C7CA6}"/>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BMI, BMI 그룹, 체력·신체 측정값</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BMI 삼분위 그룹별 기술통계</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구간 경계, 그룹 인원, 평균·표준편차</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분석_bmi별.py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3906742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9DB55A-3D60-450E-AA13-DF5DE087395D}"/>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4  연령별 체력 평균에 차이가 있는가?</a:t>
            </a:r>
          </a:p>
        </p:txBody>
      </p:sp>
      <p:sp>
        <p:nvSpPr>
          <p:cNvPr id="2" name="">
            <a:extLst xmlns:a="http://schemas.openxmlformats.org/drawingml/2006/main">
              <a:ext uri="{FF2B5EF4-FFF2-40B4-BE49-F238E27FC236}">
                <a16:creationId xmlns:a16="http://schemas.microsoft.com/office/drawing/2014/main" id="{48E48D0A-6D07-47D1-8037-0E269E344D97}"/>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D1E5D18C-4070-49B9-B2A4-5FB6DDA775D7}"/>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9</a:t>
            </a:r>
          </a:p>
        </p:txBody>
      </p:sp>
      <p:graphicFrame>
        <p:nvGraphicFramePr>
          <p:cNvPr id="4" name="">
            <a:extLst xmlns:a="http://schemas.openxmlformats.org/drawingml/2006/main">
              <a:ext uri="{FF2B5EF4-FFF2-40B4-BE49-F238E27FC236}">
                <a16:creationId xmlns:a16="http://schemas.microsoft.com/office/drawing/2014/main" id="{7BB2C10E-A9BC-4DE4-B928-5290F97768A5}"/>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요인: AGE 6집단, 종속변수: 체력 각 종목의 연속 측정값</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종목별 Levene 검정 후 일반 또는 Welch 일원분산분석</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적용 검정, F·p값, η², 유의한 경우 연령 15쌍 사후검정</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아노바_연령.py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780052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DA0E33-021E-4A46-B4E3-AE9A91C47835}"/>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5  BMI 그룹별 체력 평균에 차이가 있는가?</a:t>
            </a:r>
          </a:p>
        </p:txBody>
      </p:sp>
      <p:sp>
        <p:nvSpPr>
          <p:cNvPr id="2" name="">
            <a:extLst xmlns:a="http://schemas.openxmlformats.org/drawingml/2006/main">
              <a:ext uri="{FF2B5EF4-FFF2-40B4-BE49-F238E27FC236}">
                <a16:creationId xmlns:a16="http://schemas.microsoft.com/office/drawing/2014/main" id="{89C23A5C-D76B-4320-BAB9-DB94C3BBA84F}"/>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4E999E6E-C543-4601-ACF3-1A0424CA1049}"/>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10</a:t>
            </a:r>
          </a:p>
        </p:txBody>
      </p:sp>
      <p:graphicFrame>
        <p:nvGraphicFramePr>
          <p:cNvPr id="4" name="">
            <a:extLst xmlns:a="http://schemas.openxmlformats.org/drawingml/2006/main">
              <a:ext uri="{FF2B5EF4-FFF2-40B4-BE49-F238E27FC236}">
                <a16:creationId xmlns:a16="http://schemas.microsoft.com/office/drawing/2014/main" id="{566A9B63-1F2F-4BEC-B71B-8942618D5E85}"/>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요인: BMI 3집단, 종속변수: 체력 각 종목의 연속 측정값</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종목별 Levene 검정 후 일반 또는 Welch 일원분산분석</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적용 p값, η², 유의한 경우 BMI 3쌍 사후검정·평균차·신뢰구간</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아노바_bmi.py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3354208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41A898-948A-4301-B2F9-6D4EEC3D380B}"/>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6  연령과 종목별 미달 여부가 관련 있는가?</a:t>
            </a:r>
          </a:p>
        </p:txBody>
      </p:sp>
      <p:sp>
        <p:nvSpPr>
          <p:cNvPr id="2" name="">
            <a:extLst xmlns:a="http://schemas.openxmlformats.org/drawingml/2006/main">
              <a:ext uri="{FF2B5EF4-FFF2-40B4-BE49-F238E27FC236}">
                <a16:creationId xmlns:a16="http://schemas.microsoft.com/office/drawing/2014/main" id="{5F47CDAF-D5C8-4A1B-9006-1843C4EBD443}"/>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CBFFBCF9-29C6-4423-908D-712A88A41509}"/>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11</a:t>
            </a:r>
          </a:p>
        </p:txBody>
      </p:sp>
      <p:graphicFrame>
        <p:nvGraphicFramePr>
          <p:cNvPr id="4" name="">
            <a:extLst xmlns:a="http://schemas.openxmlformats.org/drawingml/2006/main">
              <a:ext uri="{FF2B5EF4-FFF2-40B4-BE49-F238E27FC236}">
                <a16:creationId xmlns:a16="http://schemas.microsoft.com/office/drawing/2014/main" id="{89CD3635-3575-4B9B-894D-609ED66C77D8}"/>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AGE, 종목별 미달·충족 범주</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종목별 6×2 교차표와 카이제곱 독립성 검정</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관측·기대빈도, χ², 자유도, Holm 보정 p값, Cramér’s V</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카이제곱_연령별미달여부.py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613868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EF5DD6-74F8-4CEC-AE89-A8504BEE06D8}"/>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7  BMI 그룹과 종목별 미달 여부가 관련 있는가?</a:t>
            </a:r>
          </a:p>
        </p:txBody>
      </p:sp>
      <p:sp>
        <p:nvSpPr>
          <p:cNvPr id="2" name="">
            <a:extLst xmlns:a="http://schemas.openxmlformats.org/drawingml/2006/main">
              <a:ext uri="{FF2B5EF4-FFF2-40B4-BE49-F238E27FC236}">
                <a16:creationId xmlns:a16="http://schemas.microsoft.com/office/drawing/2014/main" id="{B7B8D6B9-6ED2-476E-894F-37D25B352B31}"/>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8DB8DC7E-01C1-4766-ABC9-5D5CA4E6D52A}"/>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12</a:t>
            </a:r>
          </a:p>
        </p:txBody>
      </p:sp>
      <p:graphicFrame>
        <p:nvGraphicFramePr>
          <p:cNvPr id="4" name="">
            <a:extLst xmlns:a="http://schemas.openxmlformats.org/drawingml/2006/main">
              <a:ext uri="{FF2B5EF4-FFF2-40B4-BE49-F238E27FC236}">
                <a16:creationId xmlns:a16="http://schemas.microsoft.com/office/drawing/2014/main" id="{E7FC2FBD-F74E-433D-91CF-B4B06350666C}"/>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BMI 3집단, 종목별 미달·충족 범주</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종목별 3×2 교차표와 카이제곱 독립성 검정</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그룹별 미달률, χ², Holm 보정 p값, Cramér’s V</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카이제곱_bmi별미달여부.py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550337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F9C21FD-DB5A-4B74-984A-952ED94BD776}"/>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8  이전 회차 측정값이 높은 사람이 다음 회차에도 높은가?</a:t>
            </a:r>
          </a:p>
        </p:txBody>
      </p:sp>
      <p:sp>
        <p:nvSpPr>
          <p:cNvPr id="2" name="">
            <a:extLst xmlns:a="http://schemas.openxmlformats.org/drawingml/2006/main">
              <a:ext uri="{FF2B5EF4-FFF2-40B4-BE49-F238E27FC236}">
                <a16:creationId xmlns:a16="http://schemas.microsoft.com/office/drawing/2014/main" id="{0A9F64FF-794E-4A81-BDEC-025C17522C72}"/>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687A9D02-1B5C-4701-8087-4902BC7D8F61}"/>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13</a:t>
            </a:r>
          </a:p>
        </p:txBody>
      </p:sp>
      <p:graphicFrame>
        <p:nvGraphicFramePr>
          <p:cNvPr id="4" name="">
            <a:extLst xmlns:a="http://schemas.openxmlformats.org/drawingml/2006/main">
              <a:ext uri="{FF2B5EF4-FFF2-40B4-BE49-F238E27FC236}">
                <a16:creationId xmlns:a16="http://schemas.microsoft.com/office/drawing/2014/main" id="{F187FA28-BBA5-43CA-B2EA-B6665FFB052F}"/>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M_CODE, round, 각 종목의 회차별 측정값</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장병별 짝 자료, Pearson·Spearman 상관분석. 1↔2·2↔3·1↔3차</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4종목×3쌍의 상관계수·원 p값·표본 수</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체력측정회차별상관분석.py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7731246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FBF956-D4CC-488B-BCD5-52CCCE8DCFA2}"/>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9  종목별 미달 인원과 비율이 회차별로 어떻게 달라지는가?</a:t>
            </a:r>
          </a:p>
        </p:txBody>
      </p:sp>
      <p:sp>
        <p:nvSpPr>
          <p:cNvPr id="2" name="">
            <a:extLst xmlns:a="http://schemas.openxmlformats.org/drawingml/2006/main">
              <a:ext uri="{FF2B5EF4-FFF2-40B4-BE49-F238E27FC236}">
                <a16:creationId xmlns:a16="http://schemas.microsoft.com/office/drawing/2014/main" id="{184369F2-3943-4F59-943F-656CC1F51CD8}"/>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E96617AD-FB91-4D84-88B3-5F88C171F009}"/>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14</a:t>
            </a:r>
          </a:p>
        </p:txBody>
      </p:sp>
      <p:graphicFrame>
        <p:nvGraphicFramePr>
          <p:cNvPr id="4" name="">
            <a:extLst xmlns:a="http://schemas.openxmlformats.org/drawingml/2006/main">
              <a:ext uri="{FF2B5EF4-FFF2-40B4-BE49-F238E27FC236}">
                <a16:creationId xmlns:a16="http://schemas.microsoft.com/office/drawing/2014/main" id="{83BB1886-1B68-43CD-B870-88AF8A0DF95A}"/>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종목별 미달 여부, 회차, 장병 식별자</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종목별 동일 완전측정 대상자 비교가 기본. 인원·미달률·변동률 집계</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회차별 인원, 미달률, 1→2·2→3·1→3차 인원 변동률</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종목별체력미달자_회차별변화율.py 및 회차중심·누적막대 버전</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9608285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C7AFAC-913D-4DED-B9B3-DAFBB43FD127}"/>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10  여러 종목에서 미달한 위험 장병은 얼마나 되는가?</a:t>
            </a:r>
          </a:p>
        </p:txBody>
      </p:sp>
      <p:sp>
        <p:nvSpPr>
          <p:cNvPr id="2" name="">
            <a:extLst xmlns:a="http://schemas.openxmlformats.org/drawingml/2006/main">
              <a:ext uri="{FF2B5EF4-FFF2-40B4-BE49-F238E27FC236}">
                <a16:creationId xmlns:a16="http://schemas.microsoft.com/office/drawing/2014/main" id="{BA5414DB-411E-43FA-BAAE-B61D8CDF77BA}"/>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0979A06A-ACE1-4916-A1B0-5A1F49095DDE}"/>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15</a:t>
            </a:r>
          </a:p>
        </p:txBody>
      </p:sp>
      <p:graphicFrame>
        <p:nvGraphicFramePr>
          <p:cNvPr id="4" name="">
            <a:extLst xmlns:a="http://schemas.openxmlformats.org/drawingml/2006/main">
              <a:ext uri="{FF2B5EF4-FFF2-40B4-BE49-F238E27FC236}">
                <a16:creationId xmlns:a16="http://schemas.microsoft.com/office/drawing/2014/main" id="{1B1AD0A5-F3B2-49D9-A7A1-7DED3C5C2D1C}"/>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회차별 미달 종목 수 0~4개</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정확히 2·3·4개 미달 및 2개 이상 미달 인원·비율 집계</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회차별 위험 규모, 변동률, 해당 장병 목록</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위험장병식별.py 및 변동률 버전</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3093046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B5D863-F9EE-4258-AF66-0247CE0B97E2}"/>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11  전체 미달 현황과 개인의 상태 변화는 어떠한가?</a:t>
            </a:r>
          </a:p>
        </p:txBody>
      </p:sp>
      <p:sp>
        <p:nvSpPr>
          <p:cNvPr id="2" name="">
            <a:extLst xmlns:a="http://schemas.openxmlformats.org/drawingml/2006/main">
              <a:ext uri="{FF2B5EF4-FFF2-40B4-BE49-F238E27FC236}">
                <a16:creationId xmlns:a16="http://schemas.microsoft.com/office/drawing/2014/main" id="{6C31C471-3CC3-4E03-A7AA-38D2748AE2F8}"/>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0362288A-83C0-4FDE-805A-63C3241E3DB7}"/>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16</a:t>
            </a:r>
          </a:p>
        </p:txBody>
      </p:sp>
      <p:graphicFrame>
        <p:nvGraphicFramePr>
          <p:cNvPr id="4" name="">
            <a:extLst xmlns:a="http://schemas.openxmlformats.org/drawingml/2006/main">
              <a:ext uri="{FF2B5EF4-FFF2-40B4-BE49-F238E27FC236}">
                <a16:creationId xmlns:a16="http://schemas.microsoft.com/office/drawing/2014/main" id="{3D064D74-2FF5-4773-8F22-3F2FA37BA429}"/>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회차별 미달 수, 정상·취약 상태</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기존 기준인 1개 이상 미달을 취약으로 집계. 1차 대비 3차 미달 수 비교</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개선·악화·유지, 현재 취약, 지속 취약</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장병체력미달판정_3회비교.py, 장병체력미달현황_회차별변화.py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2988850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86CF3C-B2CE-4F0C-B699-1D8A33BEB59B}"/>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12  1·2차 상태 조합에 따라 실제 3차 통과율이 다른가?</a:t>
            </a:r>
          </a:p>
        </p:txBody>
      </p:sp>
      <p:sp>
        <p:nvSpPr>
          <p:cNvPr id="2" name="">
            <a:extLst xmlns:a="http://schemas.openxmlformats.org/drawingml/2006/main">
              <a:ext uri="{FF2B5EF4-FFF2-40B4-BE49-F238E27FC236}">
                <a16:creationId xmlns:a16="http://schemas.microsoft.com/office/drawing/2014/main" id="{F4353851-5117-40EC-9A29-461CC49850A1}"/>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1B63A004-B49F-4A33-A515-399FBD3CFB91}"/>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17</a:t>
            </a:r>
          </a:p>
        </p:txBody>
      </p:sp>
      <p:graphicFrame>
        <p:nvGraphicFramePr>
          <p:cNvPr id="4" name="">
            <a:extLst xmlns:a="http://schemas.openxmlformats.org/drawingml/2006/main">
              <a:ext uri="{FF2B5EF4-FFF2-40B4-BE49-F238E27FC236}">
                <a16:creationId xmlns:a16="http://schemas.microsoft.com/office/drawing/2014/main" id="{83B2A0C6-B83E-43A5-84FD-793AB6E69386}"/>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1·2차 상태코드, 3차 상태코드</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00·01·10·11 상위 4그룹의 관측 통과율 집계</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그룹별 통과·미통과·판정불가 인원 및 통과율</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3차통과율_체력상태조합별.py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6472665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53EEAF-7630-4F9C-99B6-05F2102917B2}"/>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13  상위그룹을 세분화하면 각 하위그룹의 통과율은 어떠한가?</a:t>
            </a:r>
          </a:p>
        </p:txBody>
      </p:sp>
      <p:sp>
        <p:nvSpPr>
          <p:cNvPr id="2" name="">
            <a:extLst xmlns:a="http://schemas.openxmlformats.org/drawingml/2006/main">
              <a:ext uri="{FF2B5EF4-FFF2-40B4-BE49-F238E27FC236}">
                <a16:creationId xmlns:a16="http://schemas.microsoft.com/office/drawing/2014/main" id="{C0EF708C-0DEB-4179-AB91-50925AFFC0E0}"/>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DAB0C999-E927-4105-9272-72B6FA6CBFF7}"/>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18</a:t>
            </a:r>
          </a:p>
        </p:txBody>
      </p:sp>
      <p:graphicFrame>
        <p:nvGraphicFramePr>
          <p:cNvPr id="4" name="">
            <a:extLst xmlns:a="http://schemas.openxmlformats.org/drawingml/2006/main">
              <a:ext uri="{FF2B5EF4-FFF2-40B4-BE49-F238E27FC236}">
                <a16:creationId xmlns:a16="http://schemas.microsoft.com/office/drawing/2014/main" id="{F7FEF80E-E87A-47EE-A667-7AB0E3CDD48F}"/>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1·2차 미달 종목 수, 3차 통과 여부</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(0,0)~(4,4) 25개 하위그룹별 관측 통과율과 개인별 비율 연결</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하위그룹 자체 통과율, 그룹 인원, 장병별 적용 비율</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3차통과율_하위그룹_체력상태조합별.py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52718886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E6BB49-4C00-4735-9E96-E6381C7F16F5}"/>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14  1·2차 미달 수로 개인의 3차 통과확률을 예측할 수 있는가?</a:t>
            </a:r>
          </a:p>
        </p:txBody>
      </p:sp>
      <p:sp>
        <p:nvSpPr>
          <p:cNvPr id="2" name="">
            <a:extLst xmlns:a="http://schemas.openxmlformats.org/drawingml/2006/main">
              <a:ext uri="{FF2B5EF4-FFF2-40B4-BE49-F238E27FC236}">
                <a16:creationId xmlns:a16="http://schemas.microsoft.com/office/drawing/2014/main" id="{81C851EF-E724-42C2-8136-145F4DE8A98A}"/>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A47710EB-DAAE-4C2F-8795-D6BE9808ED76}"/>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19</a:t>
            </a:r>
          </a:p>
        </p:txBody>
      </p:sp>
      <p:graphicFrame>
        <p:nvGraphicFramePr>
          <p:cNvPr id="4" name="">
            <a:extLst xmlns:a="http://schemas.openxmlformats.org/drawingml/2006/main">
              <a:ext uri="{FF2B5EF4-FFF2-40B4-BE49-F238E27FC236}">
                <a16:creationId xmlns:a16="http://schemas.microsoft.com/office/drawing/2014/main" id="{1D9FCA9B-DEB6-4626-9636-1A964F28264A}"/>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입력: 1·2차 미달 수, 목표: 3차 통과 여부</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L2 로지스틱 회귀(C=1), 최대 5분할 층화 교차검증</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개인별 확률, 회귀계수·오즈비, 검증 ROC_AUC·Brier·LogLoss</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3차통과율_로지스틱회귀예측.py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92181242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CE7549-E333-4224-AE05-06D4E48967B0}"/>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15  같은 체력 종목에서 세 회차 모두 미달한 장병은 얼마나 되는가?</a:t>
            </a:r>
          </a:p>
        </p:txBody>
      </p:sp>
      <p:sp>
        <p:nvSpPr>
          <p:cNvPr id="2" name="">
            <a:extLst xmlns:a="http://schemas.openxmlformats.org/drawingml/2006/main">
              <a:ext uri="{FF2B5EF4-FFF2-40B4-BE49-F238E27FC236}">
                <a16:creationId xmlns:a16="http://schemas.microsoft.com/office/drawing/2014/main" id="{114522AE-69E4-4F76-A5F7-3F7881B86090}"/>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FAC8E7DE-DF45-42A2-A59D-1EE1A6C69493}"/>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20</a:t>
            </a:r>
          </a:p>
        </p:txBody>
      </p:sp>
      <p:graphicFrame>
        <p:nvGraphicFramePr>
          <p:cNvPr id="4" name="">
            <a:extLst xmlns:a="http://schemas.openxmlformats.org/drawingml/2006/main">
              <a:ext uri="{FF2B5EF4-FFF2-40B4-BE49-F238E27FC236}">
                <a16:creationId xmlns:a16="http://schemas.microsoft.com/office/drawing/2014/main" id="{7E3C21D7-CF98-4F10-B26F-2E67540DA407}"/>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M_CODE, round, strength_risk, endurance_risk, cardio_risk, flexibility_risk</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세 회차 네 종목 모두 판정 가능한 장병에서 종목별 1·2·3차 미달 여부를 연결. 동일 종목 지속 미달 및 하나 이상 해당하는 장병 집계</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종목별 지속 미달 인원, 동일 종목 지속 미달 고유 인원·비율, 개인별 CSV·HTML 시각화</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동일종목_지속미달분석.py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95091461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12EA5D-714C-4B24-8280-D4706D717813}"/>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16  부족체력과 운동처방의 관련성 분석</a:t>
            </a:r>
          </a:p>
        </p:txBody>
      </p:sp>
      <p:sp>
        <p:nvSpPr>
          <p:cNvPr id="2" name="">
            <a:extLst xmlns:a="http://schemas.openxmlformats.org/drawingml/2006/main">
              <a:ext uri="{FF2B5EF4-FFF2-40B4-BE49-F238E27FC236}">
                <a16:creationId xmlns:a16="http://schemas.microsoft.com/office/drawing/2014/main" id="{45678D84-2E64-4E0F-A0BA-08607B7110B2}"/>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AD68F179-EE2E-405B-878A-E086DE4C68F6}"/>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21</a:t>
            </a:r>
          </a:p>
        </p:txBody>
      </p:sp>
      <p:graphicFrame>
        <p:nvGraphicFramePr>
          <p:cNvPr id="4" name="">
            <a:extLst xmlns:a="http://schemas.openxmlformats.org/drawingml/2006/main">
              <a:ext uri="{FF2B5EF4-FFF2-40B4-BE49-F238E27FC236}">
                <a16:creationId xmlns:a16="http://schemas.microsoft.com/office/drawing/2014/main" id="{EDE503A6-8D15-4356-B10B-5F4B7E7D0EB9}"/>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측정의 종목별 미달·충족 여부, 운동별 처방 유무, M_CODE, MESURE_ID</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별도 미달정보 CSV 생성 후 처방과 연결. 2×2 카이제곱 또는 희소 시 Fisher 정확검정, Phi·Holm 보정</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부족한 체력요소에 따라 어떤 운동이 더 자주 처방되는지 확인. 집단별 처방률·차이(%p), 관련성 크기·유의성, 비교 막대·히트맵·산점도</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운동_체력미달여부별처방관련성.py, 운동_체력미달정보생성.py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71704417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91D1DF-A41E-471C-BB63-C96DFFB3A630}"/>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17  모집단의 심폐 평균은 기준값 42와 다른가?</a:t>
            </a:r>
          </a:p>
        </p:txBody>
      </p:sp>
      <p:sp>
        <p:nvSpPr>
          <p:cNvPr id="2" name="">
            <a:extLst xmlns:a="http://schemas.openxmlformats.org/drawingml/2006/main">
              <a:ext uri="{FF2B5EF4-FFF2-40B4-BE49-F238E27FC236}">
                <a16:creationId xmlns:a16="http://schemas.microsoft.com/office/drawing/2014/main" id="{EAC998FB-48F4-4B27-A870-1F9C349A6FD4}"/>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B5ADEF2A-F235-47DD-9D96-7F29B1DD38EE}"/>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22</a:t>
            </a:r>
          </a:p>
        </p:txBody>
      </p:sp>
      <p:graphicFrame>
        <p:nvGraphicFramePr>
          <p:cNvPr id="4" name="">
            <a:extLst xmlns:a="http://schemas.openxmlformats.org/drawingml/2006/main">
              <a:ext uri="{FF2B5EF4-FFF2-40B4-BE49-F238E27FC236}">
                <a16:creationId xmlns:a16="http://schemas.microsoft.com/office/drawing/2014/main" id="{21F7A566-2D37-4F61-BA73-14966F621D90}"/>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CARDIO, 비교 기준평균 42</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장병별 첫 측정, 양측 단일표본 t검정(α=0.05)</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표본 평균·표준편차, t·자유도·p값, 모집단 평균 95% 신뢰구간 및 추론</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t검정_단일표본_심폐기준비교.py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4240626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B8480C-74C3-4CF7-B83D-6158A083A7F1}"/>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18  BMI 낮음·높음 집단의 모집단 근력 평균은 다른가?</a:t>
            </a:r>
          </a:p>
        </p:txBody>
      </p:sp>
      <p:sp>
        <p:nvSpPr>
          <p:cNvPr id="2" name="">
            <a:extLst xmlns:a="http://schemas.openxmlformats.org/drawingml/2006/main">
              <a:ext uri="{FF2B5EF4-FFF2-40B4-BE49-F238E27FC236}">
                <a16:creationId xmlns:a16="http://schemas.microsoft.com/office/drawing/2014/main" id="{26559CEE-1DBD-4176-AA05-09AA2231E02F}"/>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D34447DE-3928-45CD-A854-492DE316A47E}"/>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23</a:t>
            </a:r>
          </a:p>
        </p:txBody>
      </p:sp>
      <p:graphicFrame>
        <p:nvGraphicFramePr>
          <p:cNvPr id="4" name="">
            <a:extLst xmlns:a="http://schemas.openxmlformats.org/drawingml/2006/main">
              <a:ext uri="{FF2B5EF4-FFF2-40B4-BE49-F238E27FC236}">
                <a16:creationId xmlns:a16="http://schemas.microsoft.com/office/drawing/2014/main" id="{7BA97743-1B6C-41E0-96BF-2C4C98E644F5}"/>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BMI 삼분위의 낮음·높음 집단, STRENGTH</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양측 독립표본 t검정. Levene p≥0.05이면 Student, 미만이면 Welch(α=0.05)</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집단별 표본 평균·인원, 평균차·t·자유도·p값, 모집단 평균 차이 95% 신뢰구간 및 추론</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t검정_독립표본_BMI별근력비교.py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75510150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69CCFE-1E54-4C0A-B61B-A43816B90CE5}"/>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 19  어떤 운동이 많이 처방됐을까? · 측정별 운동처방 현황</a:t>
            </a:r>
          </a:p>
        </p:txBody>
      </p:sp>
      <p:sp>
        <p:nvSpPr>
          <p:cNvPr id="2" name="">
            <a:extLst xmlns:a="http://schemas.openxmlformats.org/drawingml/2006/main">
              <a:ext uri="{FF2B5EF4-FFF2-40B4-BE49-F238E27FC236}">
                <a16:creationId xmlns:a16="http://schemas.microsoft.com/office/drawing/2014/main" id="{338BAA59-0155-48A4-8F77-52B6F368DDF3}"/>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7F993916-C12D-4813-A133-48E7A1210DCA}"/>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24</a:t>
            </a:r>
          </a:p>
        </p:txBody>
      </p:sp>
      <p:graphicFrame>
        <p:nvGraphicFramePr>
          <p:cNvPr id="4" name="">
            <a:extLst xmlns:a="http://schemas.openxmlformats.org/drawingml/2006/main">
              <a:ext uri="{FF2B5EF4-FFF2-40B4-BE49-F238E27FC236}">
                <a16:creationId xmlns:a16="http://schemas.microsoft.com/office/drawing/2014/main" id="{88E551A2-1C87-44ED-BD01-32984E4C5654}"/>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운동명, 처방유형번호, MESURE_ID, 실제 처방 기록</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단위·방법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같은 측정번호는 1건. 운동별 포함 측정 수·포함률·공동 순위, 상위 10개 중 하나 이상 포함된 측정 비율, 처방 기록 없는 등록 운동 확인</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확인할 결과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운동목록·측정 기준 순위·포함률·그래프·CSV</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운동_처방현황분석.py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3383306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578DE8-FE9D-43FB-8B1B-141E92E3C8EB}"/>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3. 사용 변수와 정의</a:t>
            </a:r>
          </a:p>
        </p:txBody>
      </p:sp>
      <p:sp>
        <p:nvSpPr>
          <p:cNvPr id="2" name="">
            <a:extLst xmlns:a="http://schemas.openxmlformats.org/drawingml/2006/main">
              <a:ext uri="{FF2B5EF4-FFF2-40B4-BE49-F238E27FC236}">
                <a16:creationId xmlns:a16="http://schemas.microsoft.com/office/drawing/2014/main" id="{066140BA-7117-4E6A-927E-E0D6D88E9B9F}"/>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FE50B5E1-1739-4FC4-990F-18521D6DD1A3}"/>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25</a:t>
            </a:r>
          </a:p>
        </p:txBody>
      </p:sp>
      <p:graphicFrame>
        <p:nvGraphicFramePr>
          <p:cNvPr id="4" name="">
            <a:extLst xmlns:a="http://schemas.openxmlformats.org/drawingml/2006/main">
              <a:ext uri="{FF2B5EF4-FFF2-40B4-BE49-F238E27FC236}">
                <a16:creationId xmlns:a16="http://schemas.microsoft.com/office/drawing/2014/main" id="{896B38A5-D5BF-41FF-A098-0C4823E40067}"/>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4095750"/>
                <a:gridCol w="4572000"/>
              </a:tblGrid>
              <a:tr h="793750">
                <a:tc>
                  <a:txBody>
                    <a:bodyPr/>
                    <a:lstStyle/>
                    <a:p>
                      <a:r>
                        <a:rPr sz="1650" b="1">
                          <a:solidFill>
                            <a:srgbClr val="FFFFFF"/>
                          </a:solidFill>
                          <a:latin typeface="Malgun Gothic"/>
                          <a:ea typeface="Malgun Gothic"/>
                          <a:cs typeface="Malgun Gothic"/>
                        </a:rPr>
                        <a:t>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의미·형태</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분석에서의 역할</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r>
              <a:tr h="793750">
                <a:tc>
                  <a:txBody>
                    <a:bodyPr/>
                    <a:lstStyle/>
                    <a:p>
                      <a:r>
                        <a:rPr sz="1725" b="1">
                          <a:solidFill>
                            <a:srgbClr val="25364A"/>
                          </a:solidFill>
                          <a:latin typeface="Malgun Gothic"/>
                          <a:ea typeface="Malgun Gothic"/>
                          <a:cs typeface="Malgun Gothic"/>
                        </a:rPr>
                        <a:t>M_CODE</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장병 식별자, 문자열</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개인 연결·중복 확인. 설명변수로 사용하지 않음</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MESURE_ID / M_SEQ_NO</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측정 식별번호 / 측정 일련번호</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원자료 식별·추적. 현재 통계검정·예측의 입력 변수는 아님</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MESURE_DE</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측정일, YYYYMMDD</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측정 순서 결정</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AGE</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나이, 19~24세</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연령 그룹 정의, ANOVA·카이제곱의 집단 변수</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STRENGTH</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근력: 상대악력(%)</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연속 측정값 또는 미달 여부로 변환</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31515540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D78C7A-D5BB-4C6D-9E04-CC48C5D7D3BA}"/>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3. 사용 변수와 정의</a:t>
            </a:r>
          </a:p>
        </p:txBody>
      </p:sp>
      <p:sp>
        <p:nvSpPr>
          <p:cNvPr id="2" name="">
            <a:extLst xmlns:a="http://schemas.openxmlformats.org/drawingml/2006/main">
              <a:ext uri="{FF2B5EF4-FFF2-40B4-BE49-F238E27FC236}">
                <a16:creationId xmlns:a16="http://schemas.microsoft.com/office/drawing/2014/main" id="{B4926922-3846-42C8-832C-407C4A9CBD76}"/>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0DF6476D-DCA0-4C7A-AC3F-AA95DC2592E9}"/>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26</a:t>
            </a:r>
          </a:p>
        </p:txBody>
      </p:sp>
      <p:graphicFrame>
        <p:nvGraphicFramePr>
          <p:cNvPr id="4" name="">
            <a:extLst xmlns:a="http://schemas.openxmlformats.org/drawingml/2006/main">
              <a:ext uri="{FF2B5EF4-FFF2-40B4-BE49-F238E27FC236}">
                <a16:creationId xmlns:a16="http://schemas.microsoft.com/office/drawing/2014/main" id="{4FAB6343-E898-40AC-9F8C-ABFA869588B0}"/>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4095750"/>
                <a:gridCol w="4572000"/>
              </a:tblGrid>
              <a:tr h="793750">
                <a:tc>
                  <a:txBody>
                    <a:bodyPr/>
                    <a:lstStyle/>
                    <a:p>
                      <a:r>
                        <a:rPr sz="1650" b="1">
                          <a:solidFill>
                            <a:srgbClr val="FFFFFF"/>
                          </a:solidFill>
                          <a:latin typeface="Malgun Gothic"/>
                          <a:ea typeface="Malgun Gothic"/>
                          <a:cs typeface="Malgun Gothic"/>
                        </a:rPr>
                        <a:t>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의미·형태</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분석에서의 역할</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r>
              <a:tr h="793750">
                <a:tc>
                  <a:txBody>
                    <a:bodyPr/>
                    <a:lstStyle/>
                    <a:p>
                      <a:r>
                        <a:rPr sz="1725" b="1">
                          <a:solidFill>
                            <a:srgbClr val="25364A"/>
                          </a:solidFill>
                          <a:latin typeface="Malgun Gothic"/>
                          <a:ea typeface="Malgun Gothic"/>
                          <a:cs typeface="Malgun Gothic"/>
                        </a:rPr>
                        <a:t>ENDURANCE</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근지구력: 교차윗몸일으키기(회)</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연속 측정값 또는 미달 여부로 변환</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CARDIO</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심폐지구력: 통합 VO₂max(mL/kg/min)</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연속 측정값 또는 미달 여부로 변환. 달리기 횟수가 아님</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FLEXIBILITY</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유연성: 앉아윗몸앞으로굽히기(cm)</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연속 측정값 또는 미달 여부로 변환</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HEIGHT / WEIGHT</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키(cm) / 체중(kg)</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기술통계 항목. 현재 로지스틱 입력에 포함하지 않음</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BMI</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체질량지수(kg/m²)</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기술통계 및 BMI 그룹 구분</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6741545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7C3C7E-C325-47D3-B8BE-25E165BEFE5C}"/>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3. 사용 변수와 정의</a:t>
            </a:r>
          </a:p>
        </p:txBody>
      </p:sp>
      <p:sp>
        <p:nvSpPr>
          <p:cNvPr id="2" name="">
            <a:extLst xmlns:a="http://schemas.openxmlformats.org/drawingml/2006/main">
              <a:ext uri="{FF2B5EF4-FFF2-40B4-BE49-F238E27FC236}">
                <a16:creationId xmlns:a16="http://schemas.microsoft.com/office/drawing/2014/main" id="{3D0223A6-22E8-46B0-A46A-8FD2FD92FD80}"/>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96B37293-85C8-45BD-B307-DA2C57F95896}"/>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27</a:t>
            </a:r>
          </a:p>
        </p:txBody>
      </p:sp>
      <p:graphicFrame>
        <p:nvGraphicFramePr>
          <p:cNvPr id="4" name="">
            <a:extLst xmlns:a="http://schemas.openxmlformats.org/drawingml/2006/main">
              <a:ext uri="{FF2B5EF4-FFF2-40B4-BE49-F238E27FC236}">
                <a16:creationId xmlns:a16="http://schemas.microsoft.com/office/drawing/2014/main" id="{FB885B66-DF5B-460C-8301-D1A14627C126}"/>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4095750"/>
                <a:gridCol w="4572000"/>
              </a:tblGrid>
              <a:tr h="793750">
                <a:tc>
                  <a:txBody>
                    <a:bodyPr/>
                    <a:lstStyle/>
                    <a:p>
                      <a:r>
                        <a:rPr sz="1650" b="1">
                          <a:solidFill>
                            <a:srgbClr val="FFFFFF"/>
                          </a:solidFill>
                          <a:latin typeface="Malgun Gothic"/>
                          <a:ea typeface="Malgun Gothic"/>
                          <a:cs typeface="Malgun Gothic"/>
                        </a:rPr>
                        <a:t>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의미·형태</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분석에서의 역할</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r>
              <a:tr h="793750">
                <a:tc>
                  <a:txBody>
                    <a:bodyPr/>
                    <a:lstStyle/>
                    <a:p>
                      <a:r>
                        <a:rPr sz="1725" b="1">
                          <a:solidFill>
                            <a:srgbClr val="25364A"/>
                          </a:solidFill>
                          <a:latin typeface="Malgun Gothic"/>
                          <a:ea typeface="Malgun Gothic"/>
                          <a:cs typeface="Malgun Gothic"/>
                        </a:rPr>
                        <a:t>BODY_FAT_PERCENTAGE</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체지방률(%)</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기술통계 항목. 현재 로지스틱 입력에 포함하지 않음</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회차 / round</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장병별 날짜순 1·2·3차, 코드별 명칭 다름</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회차별 비교·측정값 연결</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종목별 미달 여부</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기준 미만=True, 기준 이상=False, 결측=판정불가</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카이제곱의 범주 변수, 미달 수 집계</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미달 종목 수</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네 체력 종목 중 미달 개수, 0~4</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위험 집계·그룹 분류·로지스틱 입력</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동일종목 지속 미달 여부</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같은 종목이 1·2·3차 모두 미달이면 True</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종목별 지속 미달 인원과 해당 장병 목록 집계</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84719102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3E0691-8227-4267-859A-988A25C47D1A}"/>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3. 사용 변수와 정의</a:t>
            </a:r>
          </a:p>
        </p:txBody>
      </p:sp>
      <p:sp>
        <p:nvSpPr>
          <p:cNvPr id="2" name="">
            <a:extLst xmlns:a="http://schemas.openxmlformats.org/drawingml/2006/main">
              <a:ext uri="{FF2B5EF4-FFF2-40B4-BE49-F238E27FC236}">
                <a16:creationId xmlns:a16="http://schemas.microsoft.com/office/drawing/2014/main" id="{3D4489FB-3968-4C1C-905F-34DDDBAD3FA9}"/>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D12A5BBD-5E88-4D92-9C62-DC76153C3808}"/>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28</a:t>
            </a:r>
          </a:p>
        </p:txBody>
      </p:sp>
      <p:graphicFrame>
        <p:nvGraphicFramePr>
          <p:cNvPr id="4" name="">
            <a:extLst xmlns:a="http://schemas.openxmlformats.org/drawingml/2006/main">
              <a:ext uri="{FF2B5EF4-FFF2-40B4-BE49-F238E27FC236}">
                <a16:creationId xmlns:a16="http://schemas.microsoft.com/office/drawing/2014/main" id="{FD516838-B823-4E63-A8C1-67C6B01691CC}"/>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4095750"/>
                <a:gridCol w="4572000"/>
              </a:tblGrid>
              <a:tr h="952500">
                <a:tc>
                  <a:txBody>
                    <a:bodyPr/>
                    <a:lstStyle/>
                    <a:p>
                      <a:r>
                        <a:rPr sz="1650" b="1">
                          <a:solidFill>
                            <a:srgbClr val="FFFFFF"/>
                          </a:solidFill>
                          <a:latin typeface="Malgun Gothic"/>
                          <a:ea typeface="Malgun Gothic"/>
                          <a:cs typeface="Malgun Gothic"/>
                        </a:rPr>
                        <a:t>변수</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의미·형태</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분석에서의 역할</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r>
              <a:tr h="952500">
                <a:tc>
                  <a:txBody>
                    <a:bodyPr/>
                    <a:lstStyle/>
                    <a:p>
                      <a:r>
                        <a:rPr sz="1725" b="1">
                          <a:solidFill>
                            <a:srgbClr val="25364A"/>
                          </a:solidFill>
                          <a:latin typeface="Malgun Gothic"/>
                          <a:ea typeface="Malgun Gothic"/>
                          <a:cs typeface="Malgun Gothic"/>
                        </a:rPr>
                        <a:t>동일종목_지속미달</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네 종목 중 하나 이상에서 동일종목 지속 미달이면 True</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장병 중복을 제거한 지속 미달 인원·비율 집계</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BMI 그룹</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낮음·중간·높음, 첫 측정 BMI 삼분위</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BMI ANOVA·카이제곱의 집단 변수</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1·2·3차 상태코드</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0=충족(미달 0~1개), 1=미달(2~4개)</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통과율 분석의 상태 정의</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로지스틱 목표 y</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1=3차 통과, 0=3차 미통과</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원래 상태코드와 숫자 방향이 반대이므로 구분</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36632007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1856AAB-ADC5-4852-8D66-7F24984E1812}"/>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종목별 미달 기준</a:t>
            </a:r>
          </a:p>
        </p:txBody>
      </p:sp>
      <p:sp>
        <p:nvSpPr>
          <p:cNvPr id="2" name="">
            <a:extLst xmlns:a="http://schemas.openxmlformats.org/drawingml/2006/main">
              <a:ext uri="{FF2B5EF4-FFF2-40B4-BE49-F238E27FC236}">
                <a16:creationId xmlns:a16="http://schemas.microsoft.com/office/drawing/2014/main" id="{B67DF22A-1DEC-4FBE-B4FB-30CF9F4507CE}"/>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E6CDA847-E03F-4EB0-BD50-D3B89A44C0D3}"/>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29</a:t>
            </a:r>
          </a:p>
        </p:txBody>
      </p:sp>
      <p:graphicFrame>
        <p:nvGraphicFramePr>
          <p:cNvPr id="4" name="">
            <a:extLst xmlns:a="http://schemas.openxmlformats.org/drawingml/2006/main">
              <a:ext uri="{FF2B5EF4-FFF2-40B4-BE49-F238E27FC236}">
                <a16:creationId xmlns:a16="http://schemas.microsoft.com/office/drawing/2014/main" id="{9E8B9F69-DAA5-42BF-9D10-2C3C3BD12D08}"/>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4095750"/>
                <a:gridCol w="4572000"/>
              </a:tblGrid>
              <a:tr h="952500">
                <a:tc>
                  <a:txBody>
                    <a:bodyPr/>
                    <a:lstStyle/>
                    <a:p>
                      <a:r>
                        <a:rPr sz="1650" b="1">
                          <a:solidFill>
                            <a:srgbClr val="FFFFFF"/>
                          </a:solidFill>
                          <a:latin typeface="Malgun Gothic"/>
                          <a:ea typeface="Malgun Gothic"/>
                          <a:cs typeface="Malgun Gothic"/>
                        </a:rPr>
                        <a:t>종목</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미달 조건</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충족 조건</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r>
              <a:tr h="952500">
                <a:tc>
                  <a:txBody>
                    <a:bodyPr/>
                    <a:lstStyle/>
                    <a:p>
                      <a:r>
                        <a:rPr sz="1725" b="1">
                          <a:solidFill>
                            <a:srgbClr val="25364A"/>
                          </a:solidFill>
                          <a:latin typeface="Malgun Gothic"/>
                          <a:ea typeface="Malgun Gothic"/>
                          <a:cs typeface="Malgun Gothic"/>
                        </a:rPr>
                        <a:t>근력</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STRENGTH &lt; 51.8</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51.8 이상</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근지구력</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ENDURANCE &lt; 42</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42 이상</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심폐지구력</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CARDIO &lt; 42</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42 이상</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유연성</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FLEXIBILITY &lt; 6.1</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6.1 이상</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81544771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E61290-82D9-45D8-B964-3A5E8D7F43B9}"/>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종목별 미달 기준</a:t>
            </a:r>
          </a:p>
        </p:txBody>
      </p:sp>
      <p:sp>
        <p:nvSpPr>
          <p:cNvPr id="2" name="">
            <a:extLst xmlns:a="http://schemas.openxmlformats.org/drawingml/2006/main">
              <a:ext uri="{FF2B5EF4-FFF2-40B4-BE49-F238E27FC236}">
                <a16:creationId xmlns:a16="http://schemas.microsoft.com/office/drawing/2014/main" id="{0F8F07D8-4BA6-45DE-8AB8-BF3AE5A73261}"/>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50702416-A672-4FD6-9873-D7BD0B533D25}"/>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30</a:t>
            </a:r>
          </a:p>
        </p:txBody>
      </p:sp>
      <p:sp>
        <p:nvSpPr>
          <p:cNvPr id="4" name="">
            <a:extLst xmlns:a="http://schemas.openxmlformats.org/drawingml/2006/main">
              <a:ext uri="{FF2B5EF4-FFF2-40B4-BE49-F238E27FC236}">
                <a16:creationId xmlns:a16="http://schemas.microsoft.com/office/drawing/2014/main" id="{F603917B-07A3-4E59-96D1-F72C70ED7D19}"/>
              </a:ext>
            </a:extLst>
          </p:cNvPr>
          <p:cNvSpPr>
            <a:spLocks xmlns:a="http://schemas.openxmlformats.org/drawingml/2006/main" noGrp="1"/>
          </p:cNvSpPr>
          <p:nvPr/>
        </p:nvSpPr>
        <p:spPr>
          <a:xfrm xmlns:a="http://schemas.openxmlformats.org/drawingml/2006/main">
            <a:off x="619125" y="1333500"/>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네 종목 중 하나라도 판정불가이면 통과율 분석의 해당 회차 미달 수·상태는 판정불가로 처리합니다. 단, 과거 장병체력미달판정_3회비교.py의 미달 수는 관측된 미달 개수를 합산하고, 별도 evaluated_count·risk_status로 판정 가능 여부를 표시하므로 함께 확인해야 합니다.</a:t>
            </a:r>
          </a:p>
        </p:txBody>
      </p:sp>
    </p:spTree>
    <p:extLst>
      <p:ext uri="{BB962C8B-B14F-4D97-AF65-F5344CB8AC3E}">
        <p14:creationId xmlns:p14="http://schemas.microsoft.com/office/powerpoint/2010/main" val="249630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EDFEC6-CE64-4B2B-86F2-77F8C139EC16}"/>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BMI 그룹</a:t>
            </a:r>
          </a:p>
        </p:txBody>
      </p:sp>
      <p:sp>
        <p:nvSpPr>
          <p:cNvPr id="2" name="">
            <a:extLst xmlns:a="http://schemas.openxmlformats.org/drawingml/2006/main">
              <a:ext uri="{FF2B5EF4-FFF2-40B4-BE49-F238E27FC236}">
                <a16:creationId xmlns:a16="http://schemas.microsoft.com/office/drawing/2014/main" id="{8C4EDDC2-3222-46E6-8928-95EF9CEE532B}"/>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09E81E2B-DA07-4AA6-8AA2-F33937FA40B7}"/>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31</a:t>
            </a:r>
          </a:p>
        </p:txBody>
      </p:sp>
      <p:sp>
        <p:nvSpPr>
          <p:cNvPr id="4" name="">
            <a:extLst xmlns:a="http://schemas.openxmlformats.org/drawingml/2006/main">
              <a:ext uri="{FF2B5EF4-FFF2-40B4-BE49-F238E27FC236}">
                <a16:creationId xmlns:a16="http://schemas.microsoft.com/office/drawing/2014/main" id="{FFFFDA2E-C736-4833-8E5D-CC276B8BA2B3}"/>
              </a:ext>
            </a:extLst>
          </p:cNvPr>
          <p:cNvSpPr>
            <a:spLocks xmlns:a="http://schemas.openxmlformats.org/drawingml/2006/main" noGrp="1"/>
          </p:cNvSpPr>
          <p:nvPr/>
        </p:nvSpPr>
        <p:spPr>
          <a:xfrm xmlns:a="http://schemas.openxmlformats.org/drawingml/2006/main">
            <a:off x="619125" y="13335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첫 측정의 유효 BMI로 1/3 분위수 q₁, 2/3 분위수 q₂를 구합니다.</a:t>
            </a:r>
          </a:p>
        </p:txBody>
      </p:sp>
    </p:spTree>
    <p:extLst>
      <p:ext uri="{BB962C8B-B14F-4D97-AF65-F5344CB8AC3E}">
        <p14:creationId xmlns:p14="http://schemas.microsoft.com/office/powerpoint/2010/main" val="9357040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5B4A85-2817-4FC8-B441-43D5AB53B4E8}"/>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BMI 그룹</a:t>
            </a:r>
          </a:p>
        </p:txBody>
      </p:sp>
      <p:sp>
        <p:nvSpPr>
          <p:cNvPr id="2" name="">
            <a:extLst xmlns:a="http://schemas.openxmlformats.org/drawingml/2006/main">
              <a:ext uri="{FF2B5EF4-FFF2-40B4-BE49-F238E27FC236}">
                <a16:creationId xmlns:a16="http://schemas.microsoft.com/office/drawing/2014/main" id="{6A668DAA-3250-4BC8-B646-A2502D28E45B}"/>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5BF40774-34A5-4D62-8104-CB2E469BA922}"/>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32</a:t>
            </a:r>
          </a:p>
        </p:txBody>
      </p:sp>
      <p:graphicFrame>
        <p:nvGraphicFramePr>
          <p:cNvPr id="4" name="">
            <a:extLst xmlns:a="http://schemas.openxmlformats.org/drawingml/2006/main">
              <a:ext uri="{FF2B5EF4-FFF2-40B4-BE49-F238E27FC236}">
                <a16:creationId xmlns:a16="http://schemas.microsoft.com/office/drawing/2014/main" id="{78036280-791E-4EC4-BEC5-C1E74D128689}"/>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587500">
                <a:tc>
                  <a:txBody>
                    <a:bodyPr/>
                    <a:lstStyle/>
                    <a:p>
                      <a:r>
                        <a:rPr sz="1725" b="1">
                          <a:solidFill>
                            <a:srgbClr val="25364A"/>
                          </a:solidFill>
                          <a:latin typeface="Malgun Gothic"/>
                          <a:ea typeface="Malgun Gothic"/>
                          <a:cs typeface="Malgun Gothic"/>
                        </a:rPr>
                        <a:t>낮음</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BMI ≤ q₁</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중간</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q₁ &lt; BMI ≤ q₂</a:t>
                      </a:r>
                    </a:p>
                  </a:txBody>
                  <a:tcPr marL="91440" marR="91440" marT="45720" marB="45720">
                    <a:lnR w="9525">
                      <a:solidFill>
                        <a:srgbClr val="D7E0E8"/>
                      </a:solidFill>
                      <a:prstDash val="solid"/>
                    </a:lnR>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높음</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BMI &gt; q₂</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23289064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34C3A6-5BE1-4E9A-B2E5-94AD36303AF7}"/>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BMI 그룹</a:t>
            </a:r>
          </a:p>
        </p:txBody>
      </p:sp>
      <p:sp>
        <p:nvSpPr>
          <p:cNvPr id="2" name="">
            <a:extLst xmlns:a="http://schemas.openxmlformats.org/drawingml/2006/main">
              <a:ext uri="{FF2B5EF4-FFF2-40B4-BE49-F238E27FC236}">
                <a16:creationId xmlns:a16="http://schemas.microsoft.com/office/drawing/2014/main" id="{E393E6B1-1BFD-4FAE-A844-60C7BB906C27}"/>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E2A241C9-F1DE-4DB3-B044-3F9A864A4894}"/>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33</a:t>
            </a:r>
          </a:p>
        </p:txBody>
      </p:sp>
      <p:sp>
        <p:nvSpPr>
          <p:cNvPr id="4" name="">
            <a:extLst xmlns:a="http://schemas.openxmlformats.org/drawingml/2006/main">
              <a:ext uri="{FF2B5EF4-FFF2-40B4-BE49-F238E27FC236}">
                <a16:creationId xmlns:a16="http://schemas.microsoft.com/office/drawing/2014/main" id="{2976CE55-8957-4B04-81DD-A1E779D6BEE6}"/>
              </a:ext>
            </a:extLst>
          </p:cNvPr>
          <p:cNvSpPr>
            <a:spLocks xmlns:a="http://schemas.openxmlformats.org/drawingml/2006/main" noGrp="1"/>
          </p:cNvSpPr>
          <p:nvPr/>
        </p:nvSpPr>
        <p:spPr>
          <a:xfrm xmlns:a="http://schemas.openxmlformats.org/drawingml/2006/main">
            <a:off x="619125" y="1333500"/>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기존 분석 시점의 경계는 22.51, 25.43이었으며, 데이터가 바뀌면 다시 계산합니다. 이 분류는 기준표의 BMI 18.5~25 범위나 의학적 비만 분류와 다릅니다.</a:t>
            </a:r>
          </a:p>
        </p:txBody>
      </p:sp>
    </p:spTree>
    <p:extLst>
      <p:ext uri="{BB962C8B-B14F-4D97-AF65-F5344CB8AC3E}">
        <p14:creationId xmlns:p14="http://schemas.microsoft.com/office/powerpoint/2010/main" val="91606258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A74FEB-9DB3-4C69-8F26-C9754AEFB4DF}"/>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체력상태 상위그룹과 하위그룹</a:t>
            </a:r>
          </a:p>
        </p:txBody>
      </p:sp>
      <p:sp>
        <p:nvSpPr>
          <p:cNvPr id="2" name="">
            <a:extLst xmlns:a="http://schemas.openxmlformats.org/drawingml/2006/main">
              <a:ext uri="{FF2B5EF4-FFF2-40B4-BE49-F238E27FC236}">
                <a16:creationId xmlns:a16="http://schemas.microsoft.com/office/drawing/2014/main" id="{712D25FE-4811-4154-86B3-0E6BF56A812E}"/>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3EF80ADA-4102-4AE1-8350-A7190B965966}"/>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34</a:t>
            </a:r>
          </a:p>
        </p:txBody>
      </p:sp>
      <p:graphicFrame>
        <p:nvGraphicFramePr>
          <p:cNvPr id="4" name="">
            <a:extLst xmlns:a="http://schemas.openxmlformats.org/drawingml/2006/main">
              <a:ext uri="{FF2B5EF4-FFF2-40B4-BE49-F238E27FC236}">
                <a16:creationId xmlns:a16="http://schemas.microsoft.com/office/drawing/2014/main" id="{A5D08F1D-8253-4BFA-98B2-EF30391D8C2A}"/>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476500"/>
                <a:gridCol w="2857500"/>
                <a:gridCol w="2857500"/>
                <a:gridCol w="2857500"/>
              </a:tblGrid>
              <a:tr h="952500">
                <a:tc>
                  <a:txBody>
                    <a:bodyPr/>
                    <a:lstStyle/>
                    <a:p>
                      <a:r>
                        <a:rPr sz="1650" b="1">
                          <a:solidFill>
                            <a:srgbClr val="FFFFFF"/>
                          </a:solidFill>
                          <a:latin typeface="Malgun Gothic"/>
                          <a:ea typeface="Malgun Gothic"/>
                          <a:cs typeface="Malgun Gothic"/>
                        </a:rPr>
                        <a:t>상위그룹</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1차 상태</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2차 상태</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소속 하위 조합 수</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r>
              <a:tr h="952500">
                <a:tc>
                  <a:txBody>
                    <a:bodyPr/>
                    <a:lstStyle/>
                    <a:p>
                      <a:r>
                        <a:rPr sz="1725" b="1">
                          <a:solidFill>
                            <a:srgbClr val="25364A"/>
                          </a:solidFill>
                          <a:latin typeface="Malgun Gothic"/>
                          <a:ea typeface="Malgun Gothic"/>
                          <a:cs typeface="Malgun Gothic"/>
                        </a:rPr>
                        <a:t>00</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충족</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충족</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4</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01</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충족</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미달</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6</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10</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미달</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충족</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6</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11</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미달</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미달</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9</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30715927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526A8C-EA9E-49ED-9BA9-E61E5A73BD12}"/>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체력상태 상위그룹과 하위그룹</a:t>
            </a:r>
          </a:p>
        </p:txBody>
      </p:sp>
      <p:sp>
        <p:nvSpPr>
          <p:cNvPr id="2" name="">
            <a:extLst xmlns:a="http://schemas.openxmlformats.org/drawingml/2006/main">
              <a:ext uri="{FF2B5EF4-FFF2-40B4-BE49-F238E27FC236}">
                <a16:creationId xmlns:a16="http://schemas.microsoft.com/office/drawing/2014/main" id="{63E1EAAD-40EE-45BA-93E9-CC0BCAAD3F4A}"/>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9FA0780C-7D39-4B20-A160-30C68B2FB1AA}"/>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35</a:t>
            </a:r>
          </a:p>
        </p:txBody>
      </p:sp>
      <p:sp>
        <p:nvSpPr>
          <p:cNvPr id="4" name="">
            <a:extLst xmlns:a="http://schemas.openxmlformats.org/drawingml/2006/main">
              <a:ext uri="{FF2B5EF4-FFF2-40B4-BE49-F238E27FC236}">
                <a16:creationId xmlns:a16="http://schemas.microsoft.com/office/drawing/2014/main" id="{28DFB9D7-3A8C-4528-A41E-B77BE933D466}"/>
              </a:ext>
            </a:extLst>
          </p:cNvPr>
          <p:cNvSpPr>
            <a:spLocks xmlns:a="http://schemas.openxmlformats.org/drawingml/2006/main" noGrp="1"/>
          </p:cNvSpPr>
          <p:nvPr/>
        </p:nvSpPr>
        <p:spPr>
          <a:xfrm xmlns:a="http://schemas.openxmlformats.org/drawingml/2006/main">
            <a:off x="619125" y="13335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하위그룹은 실제 1차·2차 미달 종목 수의 순서쌍이며 총 25개입니다. 각 하위그룹의 통과율은 자기 그룹의 3차 평가 인원과 통과 인원으로 계산합니다.</a:t>
            </a:r>
          </a:p>
        </p:txBody>
      </p:sp>
    </p:spTree>
    <p:extLst>
      <p:ext uri="{BB962C8B-B14F-4D97-AF65-F5344CB8AC3E}">
        <p14:creationId xmlns:p14="http://schemas.microsoft.com/office/powerpoint/2010/main" val="13107096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FD607D-3F8B-45B2-8ADE-EF2FEFD9EAB9}"/>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5. 통계 검정과 계산 기준</a:t>
            </a:r>
          </a:p>
        </p:txBody>
      </p:sp>
      <p:sp>
        <p:nvSpPr>
          <p:cNvPr id="2" name="">
            <a:extLst xmlns:a="http://schemas.openxmlformats.org/drawingml/2006/main">
              <a:ext uri="{FF2B5EF4-FFF2-40B4-BE49-F238E27FC236}">
                <a16:creationId xmlns:a16="http://schemas.microsoft.com/office/drawing/2014/main" id="{ADE12B45-2652-4932-94D0-13D12D46490A}"/>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03D38F20-8F30-494E-AFBA-7F153E322C68}"/>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36</a:t>
            </a:r>
          </a:p>
        </p:txBody>
      </p:sp>
      <p:graphicFrame>
        <p:nvGraphicFramePr>
          <p:cNvPr id="4" name="">
            <a:extLst xmlns:a="http://schemas.openxmlformats.org/drawingml/2006/main">
              <a:ext uri="{FF2B5EF4-FFF2-40B4-BE49-F238E27FC236}">
                <a16:creationId xmlns:a16="http://schemas.microsoft.com/office/drawing/2014/main" id="{56FFE144-F000-4E9A-A56C-E468B9A814B2}"/>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952500">
                <a:tc>
                  <a:txBody>
                    <a:bodyPr/>
                    <a:lstStyle/>
                    <a:p>
                      <a:r>
                        <a:rPr sz="1725" b="1">
                          <a:solidFill>
                            <a:srgbClr val="25364A"/>
                          </a:solidFill>
                          <a:latin typeface="Malgun Gothic"/>
                          <a:ea typeface="Malgun Gothic"/>
                          <a:cs typeface="Malgun Gothic"/>
                        </a:rPr>
                        <a:t>ANOVA 귀무가설</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연령 또는 BMI 그룹의 해당 체력 종목 평균이 모두 같다</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ANOVA 방법 선택</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종목별 중앙값 기준 Levene p ≥ 0.05이면 일반 ANOVA, p &lt; 0.05이면 Welch. 이는 현재 코드의 선택 규칙이며 등분산의 증명을 뜻하지 않음</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ANOVA 판단</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선택된 검정의 원 p값 &lt; 0.05. 종목 사이 Holm 보정은 현재 적용하지 않음</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사후검정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전체 검정이 유의한 경우 일반 ANOVA → Tukey HSD(불균형 인원은 Tukey–Kramer), Welch → Games–Howell</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사후검정 판단</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해당 종목 내 모든 쌍을 고려한 보정 p값 &lt; 0.05. 연령 15쌍, BMI 3쌍</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55268305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959139-23FF-439A-98E0-7355D449A364}"/>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5. 통계 검정과 계산 기준</a:t>
            </a:r>
          </a:p>
        </p:txBody>
      </p:sp>
      <p:sp>
        <p:nvSpPr>
          <p:cNvPr id="2" name="">
            <a:extLst xmlns:a="http://schemas.openxmlformats.org/drawingml/2006/main">
              <a:ext uri="{FF2B5EF4-FFF2-40B4-BE49-F238E27FC236}">
                <a16:creationId xmlns:a16="http://schemas.microsoft.com/office/drawing/2014/main" id="{C7624D02-08F2-4AAB-A9B7-A23CC26D0365}"/>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F0CEFAFF-7C2C-4957-8894-784A9073D982}"/>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37</a:t>
            </a:r>
          </a:p>
        </p:txBody>
      </p:sp>
      <p:graphicFrame>
        <p:nvGraphicFramePr>
          <p:cNvPr id="4" name="">
            <a:extLst xmlns:a="http://schemas.openxmlformats.org/drawingml/2006/main">
              <a:ext uri="{FF2B5EF4-FFF2-40B4-BE49-F238E27FC236}">
                <a16:creationId xmlns:a16="http://schemas.microsoft.com/office/drawing/2014/main" id="{FF9E8358-3E5B-4296-9AF0-9DC99D3DD630}"/>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793750">
                <a:tc>
                  <a:txBody>
                    <a:bodyPr/>
                    <a:lstStyle/>
                    <a:p>
                      <a:r>
                        <a:rPr sz="1725" b="1">
                          <a:solidFill>
                            <a:srgbClr val="25364A"/>
                          </a:solidFill>
                          <a:latin typeface="Malgun Gothic"/>
                          <a:ea typeface="Malgun Gothic"/>
                          <a:cs typeface="Malgun Gothic"/>
                        </a:rPr>
                        <a:t>효과크기</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η²는 일반 ANOVA의 집단 간 제곱합/전체 제곱합. Welch의 검정통계량에서 계산한 효과크기는 아님</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카이제곱 귀무가설</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연령 또는 BMI 그룹과 해당 종목의 미달 여부가 독립이다</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카이제곱 판단</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종목별 원 p값과 Holm 보정 p값을 표시하고, 보정 p값 &lt; 0.05로 판단</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기대빈도 점검</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기대빈도 1 미만 셀이 있거나, 5 미만 셀이 20%를 넘으면 점근 근사 해석에 주의 표시</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카이제곱 효과크기</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Cramér’s V. 평균 차이에 대한 η²와 구분</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상관분석</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Pearson은 선형 관계, Spearman은 순위의 단조 관계. 현재 원 p값을 보고하며 다중검정 보정 없음</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09222840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AAD7CB-BA05-45F5-A34E-8269F930AB4A}"/>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5. 통계 검정과 계산 기준</a:t>
            </a:r>
          </a:p>
        </p:txBody>
      </p:sp>
      <p:sp>
        <p:nvSpPr>
          <p:cNvPr id="2" name="">
            <a:extLst xmlns:a="http://schemas.openxmlformats.org/drawingml/2006/main">
              <a:ext uri="{FF2B5EF4-FFF2-40B4-BE49-F238E27FC236}">
                <a16:creationId xmlns:a16="http://schemas.microsoft.com/office/drawing/2014/main" id="{2E110A4A-D0D7-4AA2-B1C4-623527E48F8F}"/>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F914EE0D-E4A8-4A2C-9A2A-7B26E86C18B1}"/>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38</a:t>
            </a:r>
          </a:p>
        </p:txBody>
      </p:sp>
      <p:graphicFrame>
        <p:nvGraphicFramePr>
          <p:cNvPr id="4" name="">
            <a:extLst xmlns:a="http://schemas.openxmlformats.org/drawingml/2006/main">
              <a:ext uri="{FF2B5EF4-FFF2-40B4-BE49-F238E27FC236}">
                <a16:creationId xmlns:a16="http://schemas.microsoft.com/office/drawing/2014/main" id="{2739B8D9-17C5-4348-8EB5-6E5AA2364BC9}"/>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952500">
                <a:tc>
                  <a:txBody>
                    <a:bodyPr/>
                    <a:lstStyle/>
                    <a:p>
                      <a:r>
                        <a:rPr sz="1725" b="1">
                          <a:solidFill>
                            <a:srgbClr val="25364A"/>
                          </a:solidFill>
                          <a:latin typeface="Malgun Gothic"/>
                          <a:ea typeface="Malgun Gothic"/>
                          <a:cs typeface="Malgun Gothic"/>
                        </a:rPr>
                        <a:t>관측 통과율</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그룹 3차 통과 인원 ÷ 그룹 3차 판정 가능 인원</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동일종목 지속 미달률</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하나 이상의 동일 종목에서 세 회차 모두 미달한 고유 장병 수 ÷ 세 회차 네 종목 모두 판정 가능한 고유 장병 수 × 100</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인원 변동률</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(비교 회차 미달 인원−기준 회차 미달 인원) ÷ 기준 회차 미달 인원 × 100</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0명 처리</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통과자 0명·평가자 양수이면 0%. 평가자 0명이면 통과율 공란. 변동률의 기준 인원 0명도 공란</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로지스틱 회귀</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p=1/[1+exp(−(β₀+β₁×1차 미달 수+β₂×2차 미달 수))]. p≥0.5이면 통과로 분류</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17029649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9C38610-71FF-4E0C-8140-B32006F1D0CB}"/>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5. 통계 검정과 계산 기준</a:t>
            </a:r>
          </a:p>
        </p:txBody>
      </p:sp>
      <p:sp>
        <p:nvSpPr>
          <p:cNvPr id="2" name="">
            <a:extLst xmlns:a="http://schemas.openxmlformats.org/drawingml/2006/main">
              <a:ext uri="{FF2B5EF4-FFF2-40B4-BE49-F238E27FC236}">
                <a16:creationId xmlns:a16="http://schemas.microsoft.com/office/drawing/2014/main" id="{C052791D-98F7-4F6E-B30F-6716463FE1E2}"/>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95D5CA8F-F089-49E8-B8EA-3FD3BCF8EE8E}"/>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39</a:t>
            </a:r>
          </a:p>
        </p:txBody>
      </p:sp>
      <p:graphicFrame>
        <p:nvGraphicFramePr>
          <p:cNvPr id="4" name="">
            <a:extLst xmlns:a="http://schemas.openxmlformats.org/drawingml/2006/main">
              <a:ext uri="{FF2B5EF4-FFF2-40B4-BE49-F238E27FC236}">
                <a16:creationId xmlns:a16="http://schemas.microsoft.com/office/drawing/2014/main" id="{9530A17F-5034-49F9-AAD2-7CC06A8DFE75}"/>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4762500">
                <a:tc>
                  <a:txBody>
                    <a:bodyPr/>
                    <a:lstStyle/>
                    <a:p>
                      <a:r>
                        <a:rPr sz="1725" b="1">
                          <a:solidFill>
                            <a:srgbClr val="25364A"/>
                          </a:solidFill>
                          <a:latin typeface="Malgun Gothic"/>
                          <a:ea typeface="Malgun Gothic"/>
                          <a:cs typeface="Malgun Gothic"/>
                        </a:rPr>
                        <a:t>예측 검증</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개인별 학습 제외 예측으로 ROC_AUC·Brier·LogLoss 평가. 소수 클래스 수에 맞춰 최대 5분할, 각 클래스 2명 미만이면 교차검증 생략. 단일 클래스는 학습 불가</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43067602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51B6DB-B4D8-4044-8A59-2A5D5D24C40E}"/>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6. 결과 보고 및 해석 원칙</a:t>
            </a:r>
          </a:p>
        </p:txBody>
      </p:sp>
      <p:sp>
        <p:nvSpPr>
          <p:cNvPr id="2" name="">
            <a:extLst xmlns:a="http://schemas.openxmlformats.org/drawingml/2006/main">
              <a:ext uri="{FF2B5EF4-FFF2-40B4-BE49-F238E27FC236}">
                <a16:creationId xmlns:a16="http://schemas.microsoft.com/office/drawing/2014/main" id="{D570E89C-BCA3-4825-A27B-092A23D54149}"/>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144F5680-49B4-4536-BE95-0D80089F1F5E}"/>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40</a:t>
            </a:r>
          </a:p>
        </p:txBody>
      </p:sp>
      <p:graphicFrame>
        <p:nvGraphicFramePr>
          <p:cNvPr id="4" name="">
            <a:extLst xmlns:a="http://schemas.openxmlformats.org/drawingml/2006/main">
              <a:ext uri="{FF2B5EF4-FFF2-40B4-BE49-F238E27FC236}">
                <a16:creationId xmlns:a16="http://schemas.microsoft.com/office/drawing/2014/main" id="{59BBC841-E1F5-4FD1-A03A-A184EA7AE11D}"/>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4095750"/>
                <a:gridCol w="4572000"/>
              </a:tblGrid>
              <a:tr h="1190625">
                <a:tc>
                  <a:txBody>
                    <a:bodyPr/>
                    <a:lstStyle/>
                    <a:p>
                      <a:r>
                        <a:rPr sz="1650" b="1">
                          <a:solidFill>
                            <a:srgbClr val="FFFFFF"/>
                          </a:solidFill>
                          <a:latin typeface="Malgun Gothic"/>
                          <a:ea typeface="Malgun Gothic"/>
                          <a:cs typeface="Malgun Gothic"/>
                        </a:rPr>
                        <a:t>분석</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보고할 항목</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해석할 때 구분할 내용</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r>
              <a:tr h="1190625">
                <a:tc>
                  <a:txBody>
                    <a:bodyPr/>
                    <a:lstStyle/>
                    <a:p>
                      <a:r>
                        <a:rPr sz="1725" b="1">
                          <a:solidFill>
                            <a:srgbClr val="25364A"/>
                          </a:solidFill>
                          <a:latin typeface="Malgun Gothic"/>
                          <a:ea typeface="Malgun Gothic"/>
                          <a:cs typeface="Malgun Gothic"/>
                        </a:rPr>
                        <a:t>기술통계·변화</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인원, 분모, 결측, 평균·표준편차, 미달률·변동률</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인원 변화율과 미달률의 %p 차이는 다름. 누적막대에서 종목 간 장병 중복 가능</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ANOVA</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적용 방법, Levene p값, 적용 p값, 참고 η², 그룹별 평균</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전체 유의성이 모든 쌍의 유의성을 의미하지 않음. 사후검정의 평균차·95% 신뢰구간·보정 p값을 함께 보고</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카이제곱</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교차표, χ²·자유도, 원·보정 p값, V, 그룹별 미달률</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평균 차이 검정과 다름. Pearson 잔차는 탐색 지표이며 그룹 쌍별 사후검정을 대신하지 않음</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88396373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A254C0-8659-40E4-A191-9F48BD386732}"/>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6. 결과 보고 및 해석 원칙</a:t>
            </a:r>
          </a:p>
        </p:txBody>
      </p:sp>
      <p:sp>
        <p:nvSpPr>
          <p:cNvPr id="2" name="">
            <a:extLst xmlns:a="http://schemas.openxmlformats.org/drawingml/2006/main">
              <a:ext uri="{FF2B5EF4-FFF2-40B4-BE49-F238E27FC236}">
                <a16:creationId xmlns:a16="http://schemas.microsoft.com/office/drawing/2014/main" id="{3E837D44-BBE1-4E76-A50C-79FE131A9E12}"/>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5B1A3093-067E-418A-8F07-AD29B2BD207B}"/>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41</a:t>
            </a:r>
          </a:p>
        </p:txBody>
      </p:sp>
      <p:graphicFrame>
        <p:nvGraphicFramePr>
          <p:cNvPr id="4" name="">
            <a:extLst xmlns:a="http://schemas.openxmlformats.org/drawingml/2006/main">
              <a:ext uri="{FF2B5EF4-FFF2-40B4-BE49-F238E27FC236}">
                <a16:creationId xmlns:a16="http://schemas.microsoft.com/office/drawing/2014/main" id="{9309E710-7368-4BF6-B12D-63EB436FA5E7}"/>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4095750"/>
                <a:gridCol w="4572000"/>
              </a:tblGrid>
              <a:tr h="1190625">
                <a:tc>
                  <a:txBody>
                    <a:bodyPr/>
                    <a:lstStyle/>
                    <a:p>
                      <a:r>
                        <a:rPr sz="1650" b="1">
                          <a:solidFill>
                            <a:srgbClr val="FFFFFF"/>
                          </a:solidFill>
                          <a:latin typeface="Malgun Gothic"/>
                          <a:ea typeface="Malgun Gothic"/>
                          <a:cs typeface="Malgun Gothic"/>
                        </a:rPr>
                        <a:t>분석</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보고할 항목</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해석할 때 구분할 내용</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r>
              <a:tr h="1190625">
                <a:tc>
                  <a:txBody>
                    <a:bodyPr/>
                    <a:lstStyle/>
                    <a:p>
                      <a:r>
                        <a:rPr sz="1725" b="1">
                          <a:solidFill>
                            <a:srgbClr val="25364A"/>
                          </a:solidFill>
                          <a:latin typeface="Malgun Gothic"/>
                          <a:ea typeface="Malgun Gothic"/>
                          <a:cs typeface="Malgun Gothic"/>
                        </a:rPr>
                        <a:t>상관분석</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종목·회차별 r·ρ·p값·표본 수</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높은 상관은 체력 향상이나 운동처방 효과의 증거가 아님</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동일종목 지속 미달</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종목별 인원, 하나 이상 해당하는 고유 장병 수·비율, 분석 분모·제외 인원</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종목별 인원은 서로 중복될 수 있음. 매 회차 미달 종목이 달라도 포함되는 기존 persistent_risk와 구분</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관측 통과율</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상위·하위그룹별 평가·통과 인원, 관측 비율</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개인별 적용 비율에는 본인의 3차 결과도 집계에 포함될 수 있어 독립 검증된 예측확률이 아님</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98419820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3CE6CE-01DF-44A8-A0A8-A8DA2465E58A}"/>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6. 결과 보고 및 해석 원칙</a:t>
            </a:r>
          </a:p>
        </p:txBody>
      </p:sp>
      <p:sp>
        <p:nvSpPr>
          <p:cNvPr id="2" name="">
            <a:extLst xmlns:a="http://schemas.openxmlformats.org/drawingml/2006/main">
              <a:ext uri="{FF2B5EF4-FFF2-40B4-BE49-F238E27FC236}">
                <a16:creationId xmlns:a16="http://schemas.microsoft.com/office/drawing/2014/main" id="{3535EE74-F3C6-4A65-A97B-8A85B89D1F0F}"/>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B2B5F197-369E-4BD0-BD08-BC9AD3FADEB1}"/>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42</a:t>
            </a:r>
          </a:p>
        </p:txBody>
      </p:sp>
      <p:graphicFrame>
        <p:nvGraphicFramePr>
          <p:cNvPr id="4" name="">
            <a:extLst xmlns:a="http://schemas.openxmlformats.org/drawingml/2006/main">
              <a:ext uri="{FF2B5EF4-FFF2-40B4-BE49-F238E27FC236}">
                <a16:creationId xmlns:a16="http://schemas.microsoft.com/office/drawing/2014/main" id="{B500D5B8-21EA-4AB2-A85A-81BA08BFB7E7}"/>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4095750"/>
                <a:gridCol w="4572000"/>
              </a:tblGrid>
              <a:tr h="2381250">
                <a:tc>
                  <a:txBody>
                    <a:bodyPr/>
                    <a:lstStyle/>
                    <a:p>
                      <a:r>
                        <a:rPr sz="1650" b="1">
                          <a:solidFill>
                            <a:srgbClr val="FFFFFF"/>
                          </a:solidFill>
                          <a:latin typeface="Malgun Gothic"/>
                          <a:ea typeface="Malgun Gothic"/>
                          <a:cs typeface="Malgun Gothic"/>
                        </a:rPr>
                        <a:t>분석</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보고할 항목</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c>
                  <a:txBody>
                    <a:bodyPr/>
                    <a:lstStyle/>
                    <a:p>
                      <a:r>
                        <a:rPr sz="1650" b="1">
                          <a:solidFill>
                            <a:srgbClr val="FFFFFF"/>
                          </a:solidFill>
                          <a:latin typeface="Malgun Gothic"/>
                          <a:ea typeface="Malgun Gothic"/>
                          <a:cs typeface="Malgun Gothic"/>
                        </a:rPr>
                        <a:t>해석할 때 구분할 내용</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73C59"/>
                    </a:solidFill>
                  </a:tcPr>
                </a:tc>
              </a:tr>
              <a:tr h="2381250">
                <a:tc>
                  <a:txBody>
                    <a:bodyPr/>
                    <a:lstStyle/>
                    <a:p>
                      <a:r>
                        <a:rPr sz="1725" b="1">
                          <a:solidFill>
                            <a:srgbClr val="25364A"/>
                          </a:solidFill>
                          <a:latin typeface="Malgun Gothic"/>
                          <a:ea typeface="Malgun Gothic"/>
                          <a:cs typeface="Malgun Gothic"/>
                        </a:rPr>
                        <a:t>로지스틱 예측</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725" b="0">
                          <a:solidFill>
                            <a:srgbClr val="25364A"/>
                          </a:solidFill>
                          <a:latin typeface="Malgun Gothic"/>
                          <a:ea typeface="Malgun Gothic"/>
                          <a:cs typeface="Malgun Gothic"/>
                        </a:rPr>
                        <a:t>입력 변수·정답 정의, 회귀계수·오즈비, 교차검증 성능</a:t>
                      </a:r>
                    </a:p>
                  </a:txBody>
                  <a:tcPr marL="91440" marR="91440" marT="45720" marB="45720">
                    <a:lnR w="9525">
                      <a:solidFill>
                        <a:srgbClr val="D7E0E8"/>
                      </a:solidFill>
                      <a:prstDash val="solid"/>
                    </a:lnR>
                    <a:lnB w="9525">
                      <a:solidFill>
                        <a:srgbClr val="D7E0E8"/>
                      </a:solidFill>
                      <a:prstDash val="solid"/>
                    </a:lnB>
                    <a:solidFill>
                      <a:srgbClr val="FFFFFF"/>
                    </a:solidFill>
                  </a:tcPr>
                </a:tc>
                <a:tc>
                  <a:txBody>
                    <a:bodyPr/>
                    <a:lstStyle/>
                    <a:p>
                      <a:r>
                        <a:rPr sz="1725" b="0">
                          <a:solidFill>
                            <a:srgbClr val="25364A"/>
                          </a:solidFill>
                          <a:latin typeface="Malgun Gothic"/>
                          <a:ea typeface="Malgun Gothic"/>
                          <a:cs typeface="Malgun Gothic"/>
                        </a:rPr>
                        <a:t>전체 적합 확률과 학습 제외 확률 구분. 같은 입력 조건이면 같은 모델확률. 미래·외부 자료 검증은 별도</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46154486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85A030-4737-4EFD-AAAF-65AD9203EAC9}"/>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6. 결과 보고 및 해석 원칙</a:t>
            </a:r>
          </a:p>
        </p:txBody>
      </p:sp>
      <p:sp>
        <p:nvSpPr>
          <p:cNvPr id="2" name="">
            <a:extLst xmlns:a="http://schemas.openxmlformats.org/drawingml/2006/main">
              <a:ext uri="{FF2B5EF4-FFF2-40B4-BE49-F238E27FC236}">
                <a16:creationId xmlns:a16="http://schemas.microsoft.com/office/drawing/2014/main" id="{D1801701-D4E7-4A68-B21A-D473A3943AFF}"/>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8FB8CA50-81F5-499A-8584-837716C29802}"/>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43</a:t>
            </a:r>
          </a:p>
        </p:txBody>
      </p:sp>
      <p:sp>
        <p:nvSpPr>
          <p:cNvPr id="4" name="">
            <a:extLst xmlns:a="http://schemas.openxmlformats.org/drawingml/2006/main">
              <a:ext uri="{FF2B5EF4-FFF2-40B4-BE49-F238E27FC236}">
                <a16:creationId xmlns:a16="http://schemas.microsoft.com/office/drawing/2014/main" id="{C3D420F6-3DFA-438E-BADB-74584F702FC3}"/>
              </a:ext>
            </a:extLst>
          </p:cNvPr>
          <p:cNvSpPr>
            <a:spLocks xmlns:a="http://schemas.openxmlformats.org/drawingml/2006/main" noGrp="1"/>
          </p:cNvSpPr>
          <p:nvPr/>
        </p:nvSpPr>
        <p:spPr>
          <a:xfrm xmlns:a="http://schemas.openxmlformats.org/drawingml/2006/main">
            <a:off x="619125" y="1333500"/>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장병 위험 기준은 혼용하지 않습니다. 위험장병식별·통과율 분석은 2개 이상 미달, 기존 전체 현황의 ‘취약’은 1개 이상 미달입니다. 분석 결과만으로 연령·BMI의 인과효과나 모든 개인의 변화를 단정하지 않습니다. 특히 상대악력과 BMI는 체중이 공통으로 관여하는 지표입니다.</a:t>
            </a:r>
          </a:p>
        </p:txBody>
      </p:sp>
    </p:spTree>
    <p:extLst>
      <p:ext uri="{BB962C8B-B14F-4D97-AF65-F5344CB8AC3E}">
        <p14:creationId xmlns:p14="http://schemas.microsoft.com/office/powerpoint/2010/main" val="207095723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BA67B7-9EA9-4E19-81C0-C762549D31E6}"/>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7. 실행 전 확인 사항</a:t>
            </a:r>
          </a:p>
        </p:txBody>
      </p:sp>
      <p:sp>
        <p:nvSpPr>
          <p:cNvPr id="2" name="">
            <a:extLst xmlns:a="http://schemas.openxmlformats.org/drawingml/2006/main">
              <a:ext uri="{FF2B5EF4-FFF2-40B4-BE49-F238E27FC236}">
                <a16:creationId xmlns:a16="http://schemas.microsoft.com/office/drawing/2014/main" id="{639161ED-4C21-4C33-8513-04988384D15E}"/>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B78CFB2D-9A1D-4276-91CF-ADA4A890E3F2}"/>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44</a:t>
            </a:r>
          </a:p>
        </p:txBody>
      </p:sp>
      <p:sp>
        <p:nvSpPr>
          <p:cNvPr id="4" name="">
            <a:extLst xmlns:a="http://schemas.openxmlformats.org/drawingml/2006/main">
              <a:ext uri="{FF2B5EF4-FFF2-40B4-BE49-F238E27FC236}">
                <a16:creationId xmlns:a16="http://schemas.microsoft.com/office/drawing/2014/main" id="{D241B7EE-5B02-4395-BAD1-79E18697602D}"/>
              </a:ext>
            </a:extLst>
          </p:cNvPr>
          <p:cNvSpPr>
            <a:spLocks xmlns:a="http://schemas.openxmlformats.org/drawingml/2006/main" noGrp="1"/>
          </p:cNvSpPr>
          <p:nvPr/>
        </p:nvSpPr>
        <p:spPr>
          <a:xfrm xmlns:a="http://schemas.openxmlformats.org/drawingml/2006/main">
            <a:off x="619125" y="13335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현재 파일명으로 위 계획표를 작성했습니다. 최근 파일명을 재정리했으므로 실행 전 내부 import와 실행 안내도 현재 이름에 맞는지 점검합니다.</a:t>
            </a:r>
          </a:p>
        </p:txBody>
      </p:sp>
      <p:sp>
        <p:nvSpPr>
          <p:cNvPr id="5" name="">
            <a:extLst xmlns:a="http://schemas.openxmlformats.org/drawingml/2006/main">
              <a:ext uri="{FF2B5EF4-FFF2-40B4-BE49-F238E27FC236}">
                <a16:creationId xmlns:a16="http://schemas.microsoft.com/office/drawing/2014/main" id="{7D772CE3-76FE-4EBB-8E57-7B60FEB174A2}"/>
              </a:ext>
            </a:extLst>
          </p:cNvPr>
          <p:cNvSpPr>
            <a:spLocks xmlns:a="http://schemas.openxmlformats.org/drawingml/2006/main" noGrp="1"/>
          </p:cNvSpPr>
          <p:nvPr/>
        </p:nvSpPr>
        <p:spPr>
          <a:xfrm xmlns:a="http://schemas.openxmlformats.org/drawingml/2006/main">
            <a:off x="619125" y="22098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상관분석은 fitness_risk_by_round.csv를 사용하므로 장병체력미달판정_3회비교.py에서 최신 데이터를 먼저 생성합니다.</a:t>
            </a:r>
          </a:p>
        </p:txBody>
      </p:sp>
      <p:sp>
        <p:nvSpPr>
          <p:cNvPr id="6" name="">
            <a:extLst xmlns:a="http://schemas.openxmlformats.org/drawingml/2006/main">
              <a:ext uri="{FF2B5EF4-FFF2-40B4-BE49-F238E27FC236}">
                <a16:creationId xmlns:a16="http://schemas.microsoft.com/office/drawing/2014/main" id="{228FAEFA-0117-4A21-91EA-2070A72472FA}"/>
              </a:ext>
            </a:extLst>
          </p:cNvPr>
          <p:cNvSpPr>
            <a:spLocks xmlns:a="http://schemas.openxmlformats.org/drawingml/2006/main" noGrp="1"/>
          </p:cNvSpPr>
          <p:nvPr/>
        </p:nvSpPr>
        <p:spPr>
          <a:xfrm xmlns:a="http://schemas.openxmlformats.org/drawingml/2006/main">
            <a:off x="619125" y="3086100"/>
            <a:ext cx="1095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동일종목_지속미달분석.py도 최신 fitness_risk_by_round.csv와 fitness_risk_summary.csv를 사용합니다. fitness_persistent_by_area.csv와 fitness_risk_dashboard.html을 생성합니다. 이전 파일명은 visualize_fitness_risk.py입니다.</a:t>
            </a:r>
          </a:p>
        </p:txBody>
      </p:sp>
      <p:sp>
        <p:nvSpPr>
          <p:cNvPr id="7" name="">
            <a:extLst xmlns:a="http://schemas.openxmlformats.org/drawingml/2006/main">
              <a:ext uri="{FF2B5EF4-FFF2-40B4-BE49-F238E27FC236}">
                <a16:creationId xmlns:a16="http://schemas.microsoft.com/office/drawing/2014/main" id="{AF0D5000-98D5-4573-AE33-F234EACE8E43}"/>
              </a:ext>
            </a:extLst>
          </p:cNvPr>
          <p:cNvSpPr>
            <a:spLocks xmlns:a="http://schemas.openxmlformats.org/drawingml/2006/main" noGrp="1"/>
          </p:cNvSpPr>
          <p:nvPr/>
        </p:nvSpPr>
        <p:spPr>
          <a:xfrm xmlns:a="http://schemas.openxmlformats.org/drawingml/2006/main">
            <a:off x="619125" y="49911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단계별 분석 대상 수와 결측 제외 수를 기록하고, 완전측정 대상자 비교 옵션을 결과와 함께 보고합니다.</a:t>
            </a:r>
          </a:p>
        </p:txBody>
      </p:sp>
    </p:spTree>
    <p:extLst>
      <p:ext uri="{BB962C8B-B14F-4D97-AF65-F5344CB8AC3E}">
        <p14:creationId xmlns:p14="http://schemas.microsoft.com/office/powerpoint/2010/main" val="42013629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B30731-C5D6-4D99-B11A-7B3D2558DEA8}"/>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7. 실행 전 확인 사항</a:t>
            </a:r>
          </a:p>
        </p:txBody>
      </p:sp>
      <p:sp>
        <p:nvSpPr>
          <p:cNvPr id="2" name="">
            <a:extLst xmlns:a="http://schemas.openxmlformats.org/drawingml/2006/main">
              <a:ext uri="{FF2B5EF4-FFF2-40B4-BE49-F238E27FC236}">
                <a16:creationId xmlns:a16="http://schemas.microsoft.com/office/drawing/2014/main" id="{D137D5B6-2283-4283-8DAE-7E10BA19ED0A}"/>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E6298874-7CCB-449C-89A2-88CAA7E694B9}"/>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45</a:t>
            </a:r>
          </a:p>
        </p:txBody>
      </p:sp>
      <p:sp>
        <p:nvSpPr>
          <p:cNvPr id="4" name="">
            <a:extLst xmlns:a="http://schemas.openxmlformats.org/drawingml/2006/main">
              <a:ext uri="{FF2B5EF4-FFF2-40B4-BE49-F238E27FC236}">
                <a16:creationId xmlns:a16="http://schemas.microsoft.com/office/drawing/2014/main" id="{CED552D9-7FD8-4901-BA04-3758A9EB30F2}"/>
              </a:ext>
            </a:extLst>
          </p:cNvPr>
          <p:cNvSpPr>
            <a:spLocks xmlns:a="http://schemas.openxmlformats.org/drawingml/2006/main" noGrp="1"/>
          </p:cNvSpPr>
          <p:nvPr/>
        </p:nvSpPr>
        <p:spPr>
          <a:xfrm xmlns:a="http://schemas.openxmlformats.org/drawingml/2006/main">
            <a:off x="619125" y="13335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본 문서는 분석계획과 변수 정의를 정리한 별도 문서이며, 기존 data/README.md와 data/scripts/README.md는 수정하지 않습니다.</a:t>
            </a:r>
          </a:p>
        </p:txBody>
      </p:sp>
    </p:spTree>
    <p:extLst>
      <p:ext uri="{BB962C8B-B14F-4D97-AF65-F5344CB8AC3E}">
        <p14:creationId xmlns:p14="http://schemas.microsoft.com/office/powerpoint/2010/main" val="33784138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55D401-F57D-40C5-81E9-257204408738}"/>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8. 하위그룹 기여도 및 개인별 로지스틱 예측 비교</a:t>
            </a:r>
          </a:p>
        </p:txBody>
      </p:sp>
      <p:sp>
        <p:nvSpPr>
          <p:cNvPr id="2" name="">
            <a:extLst xmlns:a="http://schemas.openxmlformats.org/drawingml/2006/main">
              <a:ext uri="{FF2B5EF4-FFF2-40B4-BE49-F238E27FC236}">
                <a16:creationId xmlns:a16="http://schemas.microsoft.com/office/drawing/2014/main" id="{8090897A-E7CB-4226-882D-048DE45BE3E2}"/>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7FD77AEA-8DA0-4B31-8736-01AEBD91AB81}"/>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46</a:t>
            </a:r>
          </a:p>
        </p:txBody>
      </p:sp>
      <p:sp>
        <p:nvSpPr>
          <p:cNvPr id="4" name="">
            <a:extLst xmlns:a="http://schemas.openxmlformats.org/drawingml/2006/main">
              <a:ext uri="{FF2B5EF4-FFF2-40B4-BE49-F238E27FC236}">
                <a16:creationId xmlns:a16="http://schemas.microsoft.com/office/drawing/2014/main" id="{73ACBB85-B2E4-4A41-B089-E635FB987FAA}"/>
              </a:ext>
            </a:extLst>
          </p:cNvPr>
          <p:cNvSpPr>
            <a:spLocks xmlns:a="http://schemas.openxmlformats.org/drawingml/2006/main" noGrp="1"/>
          </p:cNvSpPr>
          <p:nvPr/>
        </p:nvSpPr>
        <p:spPr>
          <a:xfrm xmlns:a="http://schemas.openxmlformats.org/drawingml/2006/main">
            <a:off x="619125" y="13335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기존 하위그룹 분석은 유지하고, 기여도 계산 버전과 장병별 비교 분석을 별도로 수행합니다.</a:t>
            </a:r>
          </a:p>
        </p:txBody>
      </p:sp>
    </p:spTree>
    <p:extLst>
      <p:ext uri="{BB962C8B-B14F-4D97-AF65-F5344CB8AC3E}">
        <p14:creationId xmlns:p14="http://schemas.microsoft.com/office/powerpoint/2010/main" val="34737541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1A711B-7BFC-4FFD-BD9C-52455B2608BB}"/>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8. 하위그룹 기여도 및 개인별 로지스틱 예측 비교  하위그룹 자체 통과율</a:t>
            </a:r>
          </a:p>
        </p:txBody>
      </p:sp>
      <p:sp>
        <p:nvSpPr>
          <p:cNvPr id="2" name="">
            <a:extLst xmlns:a="http://schemas.openxmlformats.org/drawingml/2006/main">
              <a:ext uri="{FF2B5EF4-FFF2-40B4-BE49-F238E27FC236}">
                <a16:creationId xmlns:a16="http://schemas.microsoft.com/office/drawing/2014/main" id="{49020FC3-EF9A-41ED-B7BD-096A4BE8F252}"/>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03D78C87-F257-4E93-9841-26F924C8FA00}"/>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47</a:t>
            </a:r>
          </a:p>
        </p:txBody>
      </p:sp>
      <p:graphicFrame>
        <p:nvGraphicFramePr>
          <p:cNvPr id="4" name="">
            <a:extLst xmlns:a="http://schemas.openxmlformats.org/drawingml/2006/main">
              <a:ext uri="{FF2B5EF4-FFF2-40B4-BE49-F238E27FC236}">
                <a16:creationId xmlns:a16="http://schemas.microsoft.com/office/drawing/2014/main" id="{AF0C5ED5-E771-49AB-9D1D-BA9CC90C7C9E}"/>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587500">
                <a:tc>
                  <a:txBody>
                    <a:bodyPr/>
                    <a:lstStyle/>
                    <a:p>
                      <a:r>
                        <a:rPr sz="1725" b="1">
                          <a:solidFill>
                            <a:srgbClr val="25364A"/>
                          </a:solidFill>
                          <a:latin typeface="Malgun Gothic"/>
                          <a:ea typeface="Malgun Gothic"/>
                          <a:cs typeface="Malgun Gothic"/>
                        </a:rPr>
                        <a:t>목적·계산 방식</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각 하위그룹의 실제 3차 통과인원/해당 하위그룹 평가인원</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1·2차 미달 종목 수, 3차 상태, 하위 통과·평가인원</a:t>
                      </a:r>
                    </a:p>
                  </a:txBody>
                  <a:tcPr marL="91440" marR="91440" marT="45720" marB="45720">
                    <a:lnR w="9525">
                      <a:solidFill>
                        <a:srgbClr val="D7E0E8"/>
                      </a:solidFill>
                      <a:prstDash val="solid"/>
                    </a:lnR>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결과·관련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25개 세부그룹 관측 비율 및 장병별 적용 비율. 3차통과율_하위그룹_체력상태조합별.py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3317837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65AF63-8E7D-4CD5-9744-05D5A740A55C}"/>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8. 하위그룹 기여도 및 개인별 로지스틱 예측 비교  하위그룹의 상위 통과율 기여도</a:t>
            </a:r>
          </a:p>
        </p:txBody>
      </p:sp>
      <p:sp>
        <p:nvSpPr>
          <p:cNvPr id="2" name="">
            <a:extLst xmlns:a="http://schemas.openxmlformats.org/drawingml/2006/main">
              <a:ext uri="{FF2B5EF4-FFF2-40B4-BE49-F238E27FC236}">
                <a16:creationId xmlns:a16="http://schemas.microsoft.com/office/drawing/2014/main" id="{F7DC3F81-73B7-4765-A211-808333715101}"/>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D9EF1D1A-998A-41DF-928C-7B12FE6E25F1}"/>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48</a:t>
            </a:r>
          </a:p>
        </p:txBody>
      </p:sp>
      <p:graphicFrame>
        <p:nvGraphicFramePr>
          <p:cNvPr id="4" name="">
            <a:extLst xmlns:a="http://schemas.openxmlformats.org/drawingml/2006/main">
              <a:ext uri="{FF2B5EF4-FFF2-40B4-BE49-F238E27FC236}">
                <a16:creationId xmlns:a16="http://schemas.microsoft.com/office/drawing/2014/main" id="{5BC7D6AF-AC72-4349-A32D-1C92A536B03F}"/>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587500">
                <a:tc>
                  <a:txBody>
                    <a:bodyPr/>
                    <a:lstStyle/>
                    <a:p>
                      <a:r>
                        <a:rPr sz="1725" b="1">
                          <a:solidFill>
                            <a:srgbClr val="25364A"/>
                          </a:solidFill>
                          <a:latin typeface="Malgun Gothic"/>
                          <a:ea typeface="Malgun Gothic"/>
                          <a:cs typeface="Malgun Gothic"/>
                        </a:rPr>
                        <a:t>목적·계산 방식</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상위 내 하위 인원 비중×하위 자체 통과율. 기여도를 합산하여 상위 통과율 재계산</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하위 평가인원 nᵢ, 하위 통과인원 aᵢ, 상위 평가인원 E</a:t>
                      </a:r>
                    </a:p>
                  </a:txBody>
                  <a:tcPr marL="91440" marR="91440" marT="45720" marB="45720">
                    <a:lnR w="9525">
                      <a:solidFill>
                        <a:srgbClr val="D7E0E8"/>
                      </a:solidFill>
                      <a:prstDash val="solid"/>
                    </a:lnR>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결과·관련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하위 기여도(%p), 상위 합산 통과율, 장병별 소속그룹 비율. 3차통과율_하위그룹_체력상태조합별2.py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78766745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DA401D-A047-4124-B79A-39B9D4A8FC40}"/>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8. 하위그룹 기여도 및 개인별 로지스틱 예측 비교  동일 원자료 재계산 비교</a:t>
            </a:r>
          </a:p>
        </p:txBody>
      </p:sp>
      <p:sp>
        <p:nvSpPr>
          <p:cNvPr id="2" name="">
            <a:extLst xmlns:a="http://schemas.openxmlformats.org/drawingml/2006/main">
              <a:ext uri="{FF2B5EF4-FFF2-40B4-BE49-F238E27FC236}">
                <a16:creationId xmlns:a16="http://schemas.microsoft.com/office/drawing/2014/main" id="{C34E287C-383F-4E82-B1E1-DB26E9CA8207}"/>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25BA9846-EB29-4AC1-A158-AAC9A802DF7E}"/>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49</a:t>
            </a:r>
          </a:p>
        </p:txBody>
      </p:sp>
      <p:graphicFrame>
        <p:nvGraphicFramePr>
          <p:cNvPr id="4" name="">
            <a:extLst xmlns:a="http://schemas.openxmlformats.org/drawingml/2006/main">
              <a:ext uri="{FF2B5EF4-FFF2-40B4-BE49-F238E27FC236}">
                <a16:creationId xmlns:a16="http://schemas.microsoft.com/office/drawing/2014/main" id="{6CFB3B49-585A-441E-8313-5E31D0A6088F}"/>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587500">
                <a:tc>
                  <a:txBody>
                    <a:bodyPr/>
                    <a:lstStyle/>
                    <a:p>
                      <a:r>
                        <a:rPr sz="1725" b="1">
                          <a:solidFill>
                            <a:srgbClr val="25364A"/>
                          </a:solidFill>
                          <a:latin typeface="Malgun Gothic"/>
                          <a:ea typeface="Malgun Gothic"/>
                          <a:cs typeface="Malgun Gothic"/>
                        </a:rPr>
                        <a:t>목적·계산 방식</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두 방법을 현재 자료로 다시 계산하여 장병별 입력·3차 결과를 대조한 뒤 비율 비교</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M_CODE, 1·2차 미달 수, 실제 3차 상태, 그룹 관측 비율, 모델 확률, 교차검증 확률</a:t>
                      </a:r>
                    </a:p>
                  </a:txBody>
                  <a:tcPr marL="91440" marR="91440" marT="45720" marB="45720">
                    <a:lnR w="9525">
                      <a:solidFill>
                        <a:srgbClr val="D7E0E8"/>
                      </a:solidFill>
                      <a:prstDash val="solid"/>
                    </a:lnR>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결과·관련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개인별·하위그룹별 비교 CSV 및 검증 성능. 3차통과율_장병별방법비교.py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9162441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20CD2A-D458-47F5-9A71-252969C23C16}"/>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8. 하위그룹 기여도 및 개인별 로지스틱 예측 비교  저장된 개인 결과 비교</a:t>
            </a:r>
          </a:p>
        </p:txBody>
      </p:sp>
      <p:sp>
        <p:nvSpPr>
          <p:cNvPr id="2" name="">
            <a:extLst xmlns:a="http://schemas.openxmlformats.org/drawingml/2006/main">
              <a:ext uri="{FF2B5EF4-FFF2-40B4-BE49-F238E27FC236}">
                <a16:creationId xmlns:a16="http://schemas.microsoft.com/office/drawing/2014/main" id="{F8E4AE6A-8AA2-4172-A1D2-954CF10C9344}"/>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9D7AF780-F695-4C02-AB6B-DEFA7B28FC65}"/>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50</a:t>
            </a:r>
          </a:p>
        </p:txBody>
      </p:sp>
      <p:graphicFrame>
        <p:nvGraphicFramePr>
          <p:cNvPr id="4" name="">
            <a:extLst xmlns:a="http://schemas.openxmlformats.org/drawingml/2006/main">
              <a:ext uri="{FF2B5EF4-FFF2-40B4-BE49-F238E27FC236}">
                <a16:creationId xmlns:a16="http://schemas.microsoft.com/office/drawing/2014/main" id="{72581ECB-C181-4165-AA23-F1EBF3A3CDE7}"/>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587500">
                <a:tc>
                  <a:txBody>
                    <a:bodyPr/>
                    <a:lstStyle/>
                    <a:p>
                      <a:r>
                        <a:rPr sz="1725" b="1">
                          <a:solidFill>
                            <a:srgbClr val="25364A"/>
                          </a:solidFill>
                          <a:latin typeface="Malgun Gothic"/>
                          <a:ea typeface="Malgun Gothic"/>
                          <a:cs typeface="Malgun Gothic"/>
                        </a:rPr>
                        <a:t>목적·계산 방식</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회귀 프로그램이 실제 저장한 장병 정보와 2번 버전의 장병 CSV를 M_CODE로 연결. 공통 정보가 일치하는지 검증</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사용 변수</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장병별_소속그룹비율.csv, 회귀의 개인별통과확률.csv</a:t>
                      </a:r>
                    </a:p>
                  </a:txBody>
                  <a:tcPr marL="91440" marR="91440" marT="45720" marB="45720">
                    <a:lnR w="9525">
                      <a:solidFill>
                        <a:srgbClr val="D7E0E8"/>
                      </a:solidFill>
                      <a:prstDash val="solid"/>
                    </a:lnR>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결과·관련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직관적 컬럼명으로 정리한 results/3차통과율_저장된장병정보비교/장병별_저장결과비교.csv. 3차통과율_저장결과비교.py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711276938"/>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5A5FBB-59E1-4EA7-BECB-B24EC769EC72}"/>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기여도와 개인 적용 비율의 구분</a:t>
            </a:r>
          </a:p>
        </p:txBody>
      </p:sp>
      <p:sp>
        <p:nvSpPr>
          <p:cNvPr id="2" name="">
            <a:extLst xmlns:a="http://schemas.openxmlformats.org/drawingml/2006/main">
              <a:ext uri="{FF2B5EF4-FFF2-40B4-BE49-F238E27FC236}">
                <a16:creationId xmlns:a16="http://schemas.microsoft.com/office/drawing/2014/main" id="{C057F6C6-E6F4-403C-8ABB-4C03E9D50CDD}"/>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1691D80A-E0A1-479A-897A-E9BB859B08ED}"/>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51</a:t>
            </a:r>
          </a:p>
        </p:txBody>
      </p:sp>
      <p:sp>
        <p:nvSpPr>
          <p:cNvPr id="4" name="">
            <a:extLst xmlns:a="http://schemas.openxmlformats.org/drawingml/2006/main">
              <a:ext uri="{FF2B5EF4-FFF2-40B4-BE49-F238E27FC236}">
                <a16:creationId xmlns:a16="http://schemas.microsoft.com/office/drawing/2014/main" id="{7B50410E-C71A-4116-8472-35ACD0FF47A8}"/>
              </a:ext>
            </a:extLst>
          </p:cNvPr>
          <p:cNvSpPr>
            <a:spLocks xmlns:a="http://schemas.openxmlformats.org/drawingml/2006/main" noGrp="1"/>
          </p:cNvSpPr>
          <p:nvPr/>
        </p:nvSpPr>
        <p:spPr>
          <a:xfrm xmlns:a="http://schemas.openxmlformats.org/drawingml/2006/main">
            <a:off x="619125" y="13335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하위그룹 i의 자체 통과율은 rᵢ=aᵢ/nᵢ이며, 상위그룹 통과율에 대한 기여도는 다음과 같습니다.</a:t>
            </a:r>
          </a:p>
        </p:txBody>
      </p:sp>
      <p:sp>
        <p:nvSpPr>
          <p:cNvPr id="5" name="">
            <a:extLst xmlns:a="http://schemas.openxmlformats.org/drawingml/2006/main">
              <a:ext uri="{FF2B5EF4-FFF2-40B4-BE49-F238E27FC236}">
                <a16:creationId xmlns:a16="http://schemas.microsoft.com/office/drawing/2014/main" id="{F20315FC-27F2-439E-8EC5-62A6A62B7183}"/>
              </a:ext>
            </a:extLst>
          </p:cNvPr>
          <p:cNvSpPr>
            <a:spLocks xmlns:a="http://schemas.openxmlformats.org/drawingml/2006/main" noGrp="1"/>
          </p:cNvSpPr>
          <p:nvPr/>
        </p:nvSpPr>
        <p:spPr>
          <a:xfrm xmlns:a="http://schemas.openxmlformats.org/drawingml/2006/main">
            <a:off x="619125" y="2209800"/>
            <a:ext cx="1095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6A00F686-6448-4621-8AFA-CEDD5C01466C}"/>
              </a:ext>
            </a:extLst>
          </p:cNvPr>
          <p:cNvSpPr>
            <a:spLocks xmlns:a="http://schemas.openxmlformats.org/drawingml/2006/main" noGrp="1"/>
          </p:cNvSpPr>
          <p:nvPr/>
        </p:nvSpPr>
        <p:spPr>
          <a:xfrm xmlns:a="http://schemas.openxmlformats.org/drawingml/2006/main">
            <a:off x="619125" y="24003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c_i=\frac{n_i}{E}r_i=\frac{a_i}{E},\qquad</a:t>
            </a:r>
          </a:p>
        </p:txBody>
      </p:sp>
      <p:sp>
        <p:nvSpPr>
          <p:cNvPr id="7" name="">
            <a:extLst xmlns:a="http://schemas.openxmlformats.org/drawingml/2006/main">
              <a:ext uri="{FF2B5EF4-FFF2-40B4-BE49-F238E27FC236}">
                <a16:creationId xmlns:a16="http://schemas.microsoft.com/office/drawing/2014/main" id="{DA48EF73-3B22-4CA7-BE14-F3DDB6A8E3DC}"/>
              </a:ext>
            </a:extLst>
          </p:cNvPr>
          <p:cNvSpPr>
            <a:spLocks xmlns:a="http://schemas.openxmlformats.org/drawingml/2006/main" noGrp="1"/>
          </p:cNvSpPr>
          <p:nvPr/>
        </p:nvSpPr>
        <p:spPr>
          <a:xfrm xmlns:a="http://schemas.openxmlformats.org/drawingml/2006/main">
            <a:off x="619125" y="29337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R_{\mathrm{상위}}=\sum_i c_i</a:t>
            </a:r>
          </a:p>
        </p:txBody>
      </p:sp>
      <p:sp>
        <p:nvSpPr>
          <p:cNvPr id="8" name="">
            <a:extLst xmlns:a="http://schemas.openxmlformats.org/drawingml/2006/main">
              <a:ext uri="{FF2B5EF4-FFF2-40B4-BE49-F238E27FC236}">
                <a16:creationId xmlns:a16="http://schemas.microsoft.com/office/drawing/2014/main" id="{213BACB4-6EA9-4ABA-B7C9-C4CF5D0FEA23}"/>
              </a:ext>
            </a:extLst>
          </p:cNvPr>
          <p:cNvSpPr>
            <a:spLocks xmlns:a="http://schemas.openxmlformats.org/drawingml/2006/main" noGrp="1"/>
          </p:cNvSpPr>
          <p:nvPr/>
        </p:nvSpPr>
        <p:spPr>
          <a:xfrm xmlns:a="http://schemas.openxmlformats.org/drawingml/2006/main">
            <a:off x="619125" y="3467100"/>
            <a:ext cx="10953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ADB1F633-F9ED-4D97-939A-864ECD28FD14}"/>
              </a:ext>
            </a:extLst>
          </p:cNvPr>
          <p:cNvSpPr>
            <a:spLocks xmlns:a="http://schemas.openxmlformats.org/drawingml/2006/main" noGrp="1"/>
          </p:cNvSpPr>
          <p:nvPr/>
        </p:nvSpPr>
        <p:spPr>
          <a:xfrm xmlns:a="http://schemas.openxmlformats.org/drawingml/2006/main">
            <a:off x="619125" y="36576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기여도(%p)=100cᵢ이며, 각 상위그룹 안에서 합산하면 상위 통과율(%)입니다.</a:t>
            </a:r>
          </a:p>
        </p:txBody>
      </p:sp>
      <p:sp>
        <p:nvSpPr>
          <p:cNvPr id="10" name="">
            <a:extLst xmlns:a="http://schemas.openxmlformats.org/drawingml/2006/main">
              <a:ext uri="{FF2B5EF4-FFF2-40B4-BE49-F238E27FC236}">
                <a16:creationId xmlns:a16="http://schemas.microsoft.com/office/drawing/2014/main" id="{8D8D8DDF-65C8-4455-8F35-33F1E27548BE}"/>
              </a:ext>
            </a:extLst>
          </p:cNvPr>
          <p:cNvSpPr>
            <a:spLocks xmlns:a="http://schemas.openxmlformats.org/drawingml/2006/main" noGrp="1"/>
          </p:cNvSpPr>
          <p:nvPr/>
        </p:nvSpPr>
        <p:spPr>
          <a:xfrm xmlns:a="http://schemas.openxmlformats.org/drawingml/2006/main">
            <a:off x="619125" y="45339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개인에게 소속 하위그룹의 관측 비율을 적용할 때는 rᵢ=aᵢ/nᵢ를 사용합니다. 기여도 cᵢ 자체를 개인 통과확률로 사용하지 않습니다.</a:t>
            </a:r>
          </a:p>
        </p:txBody>
      </p:sp>
    </p:spTree>
    <p:extLst>
      <p:ext uri="{BB962C8B-B14F-4D97-AF65-F5344CB8AC3E}">
        <p14:creationId xmlns:p14="http://schemas.microsoft.com/office/powerpoint/2010/main" val="81463481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6840D8-9950-48D0-8B30-9D1ED6F82F03}"/>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기여도와 개인 적용 비율의 구분</a:t>
            </a:r>
          </a:p>
        </p:txBody>
      </p:sp>
      <p:sp>
        <p:nvSpPr>
          <p:cNvPr id="2" name="">
            <a:extLst xmlns:a="http://schemas.openxmlformats.org/drawingml/2006/main">
              <a:ext uri="{FF2B5EF4-FFF2-40B4-BE49-F238E27FC236}">
                <a16:creationId xmlns:a16="http://schemas.microsoft.com/office/drawing/2014/main" id="{898D4B33-9AA8-435F-A568-F87840498EA4}"/>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FDB178F2-C000-48DC-B88A-3AD16B8262FD}"/>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52</a:t>
            </a:r>
          </a:p>
        </p:txBody>
      </p:sp>
      <p:sp>
        <p:nvSpPr>
          <p:cNvPr id="4" name="">
            <a:extLst xmlns:a="http://schemas.openxmlformats.org/drawingml/2006/main">
              <a:ext uri="{FF2B5EF4-FFF2-40B4-BE49-F238E27FC236}">
                <a16:creationId xmlns:a16="http://schemas.microsoft.com/office/drawing/2014/main" id="{2FE9CA69-C6A9-4727-A415-6D25ABFF7071}"/>
              </a:ext>
            </a:extLst>
          </p:cNvPr>
          <p:cNvSpPr>
            <a:spLocks xmlns:a="http://schemas.openxmlformats.org/drawingml/2006/main" noGrp="1"/>
          </p:cNvSpPr>
          <p:nvPr/>
        </p:nvSpPr>
        <p:spPr>
          <a:xfrm xmlns:a="http://schemas.openxmlformats.org/drawingml/2006/main">
            <a:off x="619125" y="13335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nᵢ&gt;0이고 E&gt;0일 때 기여도를 하위 인원 비중으로 다시 나누면 rᵢ로 돌아옵니다. 따라서 기여도 방식이 별도의 개인 예측모형을 만드는 것은 아닙니다.</a:t>
            </a:r>
          </a:p>
        </p:txBody>
      </p:sp>
      <p:sp>
        <p:nvSpPr>
          <p:cNvPr id="5" name="">
            <a:extLst xmlns:a="http://schemas.openxmlformats.org/drawingml/2006/main">
              <a:ext uri="{FF2B5EF4-FFF2-40B4-BE49-F238E27FC236}">
                <a16:creationId xmlns:a16="http://schemas.microsoft.com/office/drawing/2014/main" id="{AD7C5350-08F1-4F7C-B0A1-F4969C5EC468}"/>
              </a:ext>
            </a:extLst>
          </p:cNvPr>
          <p:cNvSpPr>
            <a:spLocks xmlns:a="http://schemas.openxmlformats.org/drawingml/2006/main" noGrp="1"/>
          </p:cNvSpPr>
          <p:nvPr/>
        </p:nvSpPr>
        <p:spPr>
          <a:xfrm xmlns:a="http://schemas.openxmlformats.org/drawingml/2006/main">
            <a:off x="619125" y="2209800"/>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- 3차 판정불가 인원은 평가 분모에서 제외합니다. 통과자 0명·평가자 양수이면 비율 0%, 하위 평가자 0명이면 자체율 공란입니다. 상위 평가자 양수이면 빈 하위그룹의 기여도는 0입니다.</a:t>
            </a:r>
          </a:p>
        </p:txBody>
      </p:sp>
    </p:spTree>
    <p:extLst>
      <p:ext uri="{BB962C8B-B14F-4D97-AF65-F5344CB8AC3E}">
        <p14:creationId xmlns:p14="http://schemas.microsoft.com/office/powerpoint/2010/main" val="166065329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F21250-493F-4BD0-A4EE-69002322F0A3}"/>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개인별 비교 CSV에서 확인할 컬럼</a:t>
            </a:r>
          </a:p>
        </p:txBody>
      </p:sp>
      <p:sp>
        <p:nvSpPr>
          <p:cNvPr id="2" name="">
            <a:extLst xmlns:a="http://schemas.openxmlformats.org/drawingml/2006/main">
              <a:ext uri="{FF2B5EF4-FFF2-40B4-BE49-F238E27FC236}">
                <a16:creationId xmlns:a16="http://schemas.microsoft.com/office/drawing/2014/main" id="{77D2C328-BC3B-4D42-8B77-A6A0119FCC51}"/>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87865FF6-CC91-4DD3-BDF5-5A4AAAB60764}"/>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53</a:t>
            </a:r>
          </a:p>
        </p:txBody>
      </p:sp>
      <p:graphicFrame>
        <p:nvGraphicFramePr>
          <p:cNvPr id="4" name="">
            <a:extLst xmlns:a="http://schemas.openxmlformats.org/drawingml/2006/main">
              <a:ext uri="{FF2B5EF4-FFF2-40B4-BE49-F238E27FC236}">
                <a16:creationId xmlns:a16="http://schemas.microsoft.com/office/drawing/2014/main" id="{EB02F24B-792C-40D9-8221-09463BD57C58}"/>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793750">
                <a:tc>
                  <a:txBody>
                    <a:bodyPr/>
                    <a:lstStyle/>
                    <a:p>
                      <a:r>
                        <a:rPr sz="1725" b="1">
                          <a:solidFill>
                            <a:srgbClr val="25364A"/>
                          </a:solidFill>
                          <a:latin typeface="Malgun Gothic"/>
                          <a:ea typeface="Malgun Gothic"/>
                          <a:cs typeface="Malgun Gothic"/>
                        </a:rPr>
                        <a:t>장병식별자</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M_CODE. 동일 장병 연결 기준</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상위그룹_1차2차상태코드</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00·01·10·11 상태 조합</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하위그룹_1차2차미달종목수</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(0,0)~(4,4) 하위 조합</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하위그룹_실제통과율(%)</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2번 버전에서 저장한 하위그룹 자체 관측 비율. 원래 버전의 자체율과 같은 정의</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로지스틱_예측통과확률(%)</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3차통과율_로지스틱회귀예측.py가 저장한 전체 자료 적합 모델의 개인 확률</a:t>
                      </a:r>
                    </a:p>
                  </a:txBody>
                  <a:tcPr marL="91440" marR="91440" marT="45720" marB="45720">
                    <a:lnR w="9525">
                      <a:solidFill>
                        <a:srgbClr val="D7E0E8"/>
                      </a:solidFill>
                      <a:prstDash val="solid"/>
                    </a:lnR>
                    <a:lnB w="9525">
                      <a:solidFill>
                        <a:srgbClr val="D7E0E8"/>
                      </a:solidFill>
                      <a:prstDash val="solid"/>
                    </a:lnB>
                    <a:solidFill>
                      <a:srgbClr val="FFFFFF"/>
                    </a:solidFill>
                  </a:tcPr>
                </a:tc>
              </a:tr>
              <a:tr h="793750">
                <a:tc>
                  <a:txBody>
                    <a:bodyPr/>
                    <a:lstStyle/>
                    <a:p>
                      <a:r>
                        <a:rPr sz="1725" b="1">
                          <a:solidFill>
                            <a:srgbClr val="25364A"/>
                          </a:solidFill>
                          <a:latin typeface="Malgun Gothic"/>
                          <a:ea typeface="Malgun Gothic"/>
                          <a:cs typeface="Malgun Gothic"/>
                        </a:rPr>
                        <a:t>통과율차이_로지스틱-하위그룹(%p)</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회귀 확률(%)−하위 관측 통과율(%). 양수는 회귀가 더 높고 음수는 더 낮음</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8780920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4E8FD1-FADD-462E-9DC3-B91B7931FB59}"/>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개인별 비교 CSV에서 확인할 컬럼</a:t>
            </a:r>
          </a:p>
        </p:txBody>
      </p:sp>
      <p:sp>
        <p:nvSpPr>
          <p:cNvPr id="2" name="">
            <a:extLst xmlns:a="http://schemas.openxmlformats.org/drawingml/2006/main">
              <a:ext uri="{FF2B5EF4-FFF2-40B4-BE49-F238E27FC236}">
                <a16:creationId xmlns:a16="http://schemas.microsoft.com/office/drawing/2014/main" id="{2C7DD92B-45FB-474F-882A-43860337D283}"/>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DCFCC22F-36C8-44FB-A3B4-6A1C4CACB8CB}"/>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54</a:t>
            </a:r>
          </a:p>
        </p:txBody>
      </p:sp>
      <p:graphicFrame>
        <p:nvGraphicFramePr>
          <p:cNvPr id="4" name="">
            <a:extLst xmlns:a="http://schemas.openxmlformats.org/drawingml/2006/main">
              <a:ext uri="{FF2B5EF4-FFF2-40B4-BE49-F238E27FC236}">
                <a16:creationId xmlns:a16="http://schemas.microsoft.com/office/drawing/2014/main" id="{FCEB950A-260B-4C67-A5D1-CDE2B0F4DD71}"/>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로지스틱_교차검증통과확률(%)</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해당 장병을 학습에서 제외한 모델의 확률</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하위그룹의_상위통과율기여도(%p)</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해당 개인이 소속된 하위그룹 전체의 상위 기여도. 개인 확률이 아니며 장병별 행을 다시 합산하면 중복됨</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3차상태</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실제 3차 충족·미달·판정불가</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로지스틱_3차예측판정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모델 통과확률 0.5 이상이면 통과, 미만이면 미통과</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2109659431"/>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BE672A-983D-4B97-B55D-F591C2F88365}"/>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현재 비교 결과와 해석</a:t>
            </a:r>
          </a:p>
        </p:txBody>
      </p:sp>
      <p:sp>
        <p:nvSpPr>
          <p:cNvPr id="2" name="">
            <a:extLst xmlns:a="http://schemas.openxmlformats.org/drawingml/2006/main">
              <a:ext uri="{FF2B5EF4-FFF2-40B4-BE49-F238E27FC236}">
                <a16:creationId xmlns:a16="http://schemas.microsoft.com/office/drawing/2014/main" id="{F04EA1D4-38A5-467F-B86B-4254C438C99B}"/>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9C4F0D90-CF26-43ED-8EAC-599A10BB525F}"/>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55</a:t>
            </a:r>
          </a:p>
        </p:txBody>
      </p:sp>
      <p:sp>
        <p:nvSpPr>
          <p:cNvPr id="4" name="">
            <a:extLst xmlns:a="http://schemas.openxmlformats.org/drawingml/2006/main">
              <a:ext uri="{FF2B5EF4-FFF2-40B4-BE49-F238E27FC236}">
                <a16:creationId xmlns:a16="http://schemas.microsoft.com/office/drawing/2014/main" id="{88DF0AC6-17F6-453F-B20B-FBDBE89C1D02}"/>
              </a:ext>
            </a:extLst>
          </p:cNvPr>
          <p:cNvSpPr>
            <a:spLocks xmlns:a="http://schemas.openxmlformats.org/drawingml/2006/main" noGrp="1"/>
          </p:cNvSpPr>
          <p:nvPr/>
        </p:nvSpPr>
        <p:spPr>
          <a:xfrm xmlns:a="http://schemas.openxmlformats.org/drawingml/2006/main">
            <a:off x="619125" y="1333500"/>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2026-10-21 확인한 저장 결과에서는 양쪽 장병 3,420명이 모두 연결됐으며, 1·2차 미달 수와 실제 3차 판정이 일치했습니다. 개인별 회귀 적합 확률과 하위그룹 관측 통과율의 평균 절대 차이는 약 2.49%p였습니다. 이는 현재 저장 결과의 비교값으로 데이터·모델이 바뀌면 재계산해야 합니다.</a:t>
            </a:r>
          </a:p>
        </p:txBody>
      </p:sp>
      <p:sp>
        <p:nvSpPr>
          <p:cNvPr id="5" name="">
            <a:extLst xmlns:a="http://schemas.openxmlformats.org/drawingml/2006/main">
              <a:ext uri="{FF2B5EF4-FFF2-40B4-BE49-F238E27FC236}">
                <a16:creationId xmlns:a16="http://schemas.microsoft.com/office/drawing/2014/main" id="{23064579-44F5-4918-8EED-FDB9831F9402}"/>
              </a:ext>
            </a:extLst>
          </p:cNvPr>
          <p:cNvSpPr>
            <a:spLocks xmlns:a="http://schemas.openxmlformats.org/drawingml/2006/main" noGrp="1"/>
          </p:cNvSpPr>
          <p:nvPr/>
        </p:nvSpPr>
        <p:spPr>
          <a:xfrm xmlns:a="http://schemas.openxmlformats.org/drawingml/2006/main">
            <a:off x="619125" y="2895600"/>
            <a:ext cx="1095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관측 통과율은 본인의 3차 결과도 포함할 수 있고, 회귀 적합 확률도 학습 대상자에 대한 값입니다. 따라서 두 비율의 차이만으로 어느 방법의 예측 성능이 더 좋은지 결론 내리지 않습니다. 예측 성능 판단에는 학습 제외 예측과 검증 지표를 사용하며, 방법 간 공정한 성능 비교에는 그룹 비율도 동일한 학습·검증 분리로 계산해야 합니다.</a:t>
            </a:r>
          </a:p>
        </p:txBody>
      </p:sp>
    </p:spTree>
    <p:extLst>
      <p:ext uri="{BB962C8B-B14F-4D97-AF65-F5344CB8AC3E}">
        <p14:creationId xmlns:p14="http://schemas.microsoft.com/office/powerpoint/2010/main" val="94491638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E1BE11-4287-4541-BCB0-4C2356974F34}"/>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9. 운동처방 현황 및 부족 체력요소와의 관련성</a:t>
            </a:r>
          </a:p>
        </p:txBody>
      </p:sp>
      <p:sp>
        <p:nvSpPr>
          <p:cNvPr id="2" name="">
            <a:extLst xmlns:a="http://schemas.openxmlformats.org/drawingml/2006/main">
              <a:ext uri="{FF2B5EF4-FFF2-40B4-BE49-F238E27FC236}">
                <a16:creationId xmlns:a16="http://schemas.microsoft.com/office/drawing/2014/main" id="{928D8072-B650-4B80-85D9-B99CD4C99562}"/>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B19A6006-716D-4B6C-9A04-B875A66BD4CD}"/>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56</a:t>
            </a:r>
          </a:p>
        </p:txBody>
      </p:sp>
      <p:sp>
        <p:nvSpPr>
          <p:cNvPr id="4" name="">
            <a:extLst xmlns:a="http://schemas.openxmlformats.org/drawingml/2006/main">
              <a:ext uri="{FF2B5EF4-FFF2-40B4-BE49-F238E27FC236}">
                <a16:creationId xmlns:a16="http://schemas.microsoft.com/office/drawing/2014/main" id="{7429BAB0-5ED6-4481-8165-AFD0F820C3EB}"/>
              </a:ext>
            </a:extLst>
          </p:cNvPr>
          <p:cNvSpPr>
            <a:spLocks xmlns:a="http://schemas.openxmlformats.org/drawingml/2006/main" noGrp="1"/>
          </p:cNvSpPr>
          <p:nvPr/>
        </p:nvSpPr>
        <p:spPr>
          <a:xfrm xmlns:a="http://schemas.openxmlformats.org/drawingml/2006/main">
            <a:off x="619125" y="13335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체력 측정 항목의 전체 분포 기술통계는 아래 10절의 별도 분석으로 정리합니다.</a:t>
            </a:r>
          </a:p>
        </p:txBody>
      </p:sp>
    </p:spTree>
    <p:extLst>
      <p:ext uri="{BB962C8B-B14F-4D97-AF65-F5344CB8AC3E}">
        <p14:creationId xmlns:p14="http://schemas.microsoft.com/office/powerpoint/2010/main" val="1356251433"/>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6D570D-219A-4FF9-9125-92FD66AABFCA}"/>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분석계획  어떤 운동이 많이 처방됐을까? · 측정별 운동처방 현황</a:t>
            </a:r>
          </a:p>
        </p:txBody>
      </p:sp>
      <p:sp>
        <p:nvSpPr>
          <p:cNvPr id="2" name="">
            <a:extLst xmlns:a="http://schemas.openxmlformats.org/drawingml/2006/main">
              <a:ext uri="{FF2B5EF4-FFF2-40B4-BE49-F238E27FC236}">
                <a16:creationId xmlns:a16="http://schemas.microsoft.com/office/drawing/2014/main" id="{4CDA5E2E-87CD-4F11-A678-7D5F185A5A07}"/>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24BDA859-B195-4608-B923-5F72BF453E65}"/>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57</a:t>
            </a:r>
          </a:p>
        </p:txBody>
      </p:sp>
      <p:graphicFrame>
        <p:nvGraphicFramePr>
          <p:cNvPr id="4" name="">
            <a:extLst xmlns:a="http://schemas.openxmlformats.org/drawingml/2006/main">
              <a:ext uri="{FF2B5EF4-FFF2-40B4-BE49-F238E27FC236}">
                <a16:creationId xmlns:a16="http://schemas.microsoft.com/office/drawing/2014/main" id="{863FD223-EEE7-4577-A7E4-C6E79F76AB96}"/>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목적</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등록 운동과 자주 처방되는 운동 파악</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사용 변수·자료</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DETAIL의 운동명·처방유형번호, PRESCRIPTION의 측정번호·처방 기록</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운동 목록 조회·검색, 운동 포함 측정 수·비율·순위, 상위 10개 중 하나 이상 포함된 측정 비율, 처방 기록 없는 등록 운동 확인</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결과·관련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운동_처방현황분석.py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579401619"/>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2177F4-F192-462B-8E8D-AE716AB8F291}"/>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분석계획  별도 체력 미달정보 생성</a:t>
            </a:r>
          </a:p>
        </p:txBody>
      </p:sp>
      <p:sp>
        <p:nvSpPr>
          <p:cNvPr id="2" name="">
            <a:extLst xmlns:a="http://schemas.openxmlformats.org/drawingml/2006/main">
              <a:ext uri="{FF2B5EF4-FFF2-40B4-BE49-F238E27FC236}">
                <a16:creationId xmlns:a16="http://schemas.microsoft.com/office/drawing/2014/main" id="{87AF939F-6175-444B-AE56-43E5910D5409}"/>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F7CC2270-FBDC-4482-88FD-30C3275E0AB2}"/>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58</a:t>
            </a:r>
          </a:p>
        </p:txBody>
      </p:sp>
      <p:graphicFrame>
        <p:nvGraphicFramePr>
          <p:cNvPr id="4" name="">
            <a:extLst xmlns:a="http://schemas.openxmlformats.org/drawingml/2006/main">
              <a:ext uri="{FF2B5EF4-FFF2-40B4-BE49-F238E27FC236}">
                <a16:creationId xmlns:a16="http://schemas.microsoft.com/office/drawing/2014/main" id="{F3CCAD32-F5FE-4B55-8942-B7EF7FD083F3}"/>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목적</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미달 판정 근거를 개인·측정별 파일로 확인</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사용 변수·자료</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측정의 장병·측정 식별자, 나이·측정일, 체력 4종목, 기준표, 처방 기록 유무</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종목별 기준 미만을 미달로 판정하고 값·기준·판정 함께 저장</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결과·관련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운동_체력미달정보생성.py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200702746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298BEB-9790-4096-AE8C-71D5E9DD9117}"/>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분석계획  부족 체력요소와 운동처방의 관련성</a:t>
            </a:r>
          </a:p>
        </p:txBody>
      </p:sp>
      <p:sp>
        <p:nvSpPr>
          <p:cNvPr id="2" name="">
            <a:extLst xmlns:a="http://schemas.openxmlformats.org/drawingml/2006/main">
              <a:ext uri="{FF2B5EF4-FFF2-40B4-BE49-F238E27FC236}">
                <a16:creationId xmlns:a16="http://schemas.microsoft.com/office/drawing/2014/main" id="{6CFA4369-8549-4359-8323-53C08D41FD54}"/>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BA5C43E4-4A0B-43F9-BCAF-754C9C8B4ACD}"/>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59</a:t>
            </a:r>
          </a:p>
        </p:txBody>
      </p:sp>
      <p:graphicFrame>
        <p:nvGraphicFramePr>
          <p:cNvPr id="4" name="">
            <a:extLst xmlns:a="http://schemas.openxmlformats.org/drawingml/2006/main">
              <a:ext uri="{FF2B5EF4-FFF2-40B4-BE49-F238E27FC236}">
                <a16:creationId xmlns:a16="http://schemas.microsoft.com/office/drawing/2014/main" id="{D9B068AD-B836-46AD-96FF-2417F77BA786}"/>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목적</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미달 집단에 특정 운동이 더 자주 처방되는지 확인</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사용 변수·자료</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별도 미달정보의 종목별 미달 여부와 같은 측정의 운동별 처방 여부</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방법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2×2 교차표, Pearson 카이제곱 또는 Fisher 정확검정, 방향 있는 Phi, Holm 보정</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결과·관련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운동_체력미달여부별처방관련성.py</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50049320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121DBD-2DB6-4C9C-9203-AFE6E10FA539}"/>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자료 연결과 분석 단위</a:t>
            </a:r>
          </a:p>
        </p:txBody>
      </p:sp>
      <p:sp>
        <p:nvSpPr>
          <p:cNvPr id="2" name="">
            <a:extLst xmlns:a="http://schemas.openxmlformats.org/drawingml/2006/main">
              <a:ext uri="{FF2B5EF4-FFF2-40B4-BE49-F238E27FC236}">
                <a16:creationId xmlns:a16="http://schemas.microsoft.com/office/drawing/2014/main" id="{C3612455-6264-4998-AF64-2239623967A5}"/>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1940044B-0B1B-4888-9138-567F79996AE6}"/>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60</a:t>
            </a:r>
          </a:p>
        </p:txBody>
      </p:sp>
      <p:graphicFrame>
        <p:nvGraphicFramePr>
          <p:cNvPr id="4" name="">
            <a:extLst xmlns:a="http://schemas.openxmlformats.org/drawingml/2006/main">
              <a:ext uri="{FF2B5EF4-FFF2-40B4-BE49-F238E27FC236}">
                <a16:creationId xmlns:a16="http://schemas.microsoft.com/office/drawing/2014/main" id="{7FD221EA-493D-4181-87B0-B89423411B03}"/>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측정 파일</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KS_NFA_PROCESSED.csv: M_CODE, MESURE_ID, AGE, MESURE_DE, STRENGTH, ENDURANCE, CARDIO, FLEXIBILITY</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실제 처방 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KS_NFA_PRESCRIPTION.csv: PRESCRIPTION_ID, MESURE_ID, PRESCRIPTION_TYPE_ID</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운동명 목록</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KS_NFA_PRESCRIPTION_DETAIL.csv: PRESCRIPTION_TYPE_ID, PRESCRIPTION</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연결</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측정과 처방은 MESURE_ID, 처방과 운동명은 PRESCRIPTION_TYPE_ID로 연결</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694555166"/>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D8DD1D-BD45-4D4D-A209-17593E732A45}"/>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자료 연결과 분석 단위</a:t>
            </a:r>
          </a:p>
        </p:txBody>
      </p:sp>
      <p:sp>
        <p:nvSpPr>
          <p:cNvPr id="2" name="">
            <a:extLst xmlns:a="http://schemas.openxmlformats.org/drawingml/2006/main">
              <a:ext uri="{FF2B5EF4-FFF2-40B4-BE49-F238E27FC236}">
                <a16:creationId xmlns:a16="http://schemas.microsoft.com/office/drawing/2014/main" id="{04557186-EA74-4633-810C-EEA3C476CA4F}"/>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019A0CCF-A932-4C00-BD16-17588C43E730}"/>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61</a:t>
            </a:r>
          </a:p>
        </p:txBody>
      </p:sp>
      <p:graphicFrame>
        <p:nvGraphicFramePr>
          <p:cNvPr id="4" name="">
            <a:extLst xmlns:a="http://schemas.openxmlformats.org/drawingml/2006/main">
              <a:ext uri="{FF2B5EF4-FFF2-40B4-BE49-F238E27FC236}">
                <a16:creationId xmlns:a16="http://schemas.microsoft.com/office/drawing/2014/main" id="{301F538A-CE52-431F-AE8D-5EBD2BED0C02}"/>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952500">
                <a:tc>
                  <a:txBody>
                    <a:bodyPr/>
                    <a:lstStyle/>
                    <a:p>
                      <a:r>
                        <a:rPr sz="1725" b="1">
                          <a:solidFill>
                            <a:srgbClr val="25364A"/>
                          </a:solidFill>
                          <a:latin typeface="Malgun Gothic"/>
                          <a:ea typeface="Malgun Gothic"/>
                          <a:cs typeface="Malgun Gothic"/>
                        </a:rPr>
                        <a:t>처방 현황의 단위</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같은 MESURE_ID에 여러 운동이 있어도 전체 처방은 1건. 같은 날짜라도 측정번호가 다르면 별도. 사람이 아닌 측정 기준이며 처방 없는 측정은 분모에서 제외</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관련성 분석의 단위</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장병별 날짜순 첫 측정 1건. 동일 장병 반복 측정을 독립 표본으로 중복 집계하지 않음</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관련성 분석 대상</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당시 19~24세 중 해당 측정에 처방 기록이 있는 대상자. 첫 측정에 처방이 없다고 이후 측정으로 대체하지 않음</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제외</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처방 기록이 없으면 관련성 분석 제외. 종목 측정값 결측은 해당 종목 검정에서 제외</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운동 처방 없음의 정의</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다른 운동에 대한 기록은 있지만 비교하는 운동의 기록은 없는 경우. 처방 파일 자체에 기록이 없는 측정과 구분</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38533973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F2055A-4C2D-443C-A5BA-8A5710AC46F1}"/>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자료 연결과 분석 단위</a:t>
            </a:r>
          </a:p>
        </p:txBody>
      </p:sp>
      <p:sp>
        <p:nvSpPr>
          <p:cNvPr id="2" name="">
            <a:extLst xmlns:a="http://schemas.openxmlformats.org/drawingml/2006/main">
              <a:ext uri="{FF2B5EF4-FFF2-40B4-BE49-F238E27FC236}">
                <a16:creationId xmlns:a16="http://schemas.microsoft.com/office/drawing/2014/main" id="{E247CB5B-4013-40CC-9587-643BB4234746}"/>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0DE39EC6-3848-4491-8798-27EDBE21BB59}"/>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62</a:t>
            </a:r>
          </a:p>
        </p:txBody>
      </p:sp>
      <p:graphicFrame>
        <p:nvGraphicFramePr>
          <p:cNvPr id="4" name="">
            <a:extLst xmlns:a="http://schemas.openxmlformats.org/drawingml/2006/main">
              <a:ext uri="{FF2B5EF4-FFF2-40B4-BE49-F238E27FC236}">
                <a16:creationId xmlns:a16="http://schemas.microsoft.com/office/drawing/2014/main" id="{9000C5CF-077D-438F-8EBE-C1C667F10E10}"/>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4762500">
                <a:tc>
                  <a:txBody>
                    <a:bodyPr/>
                    <a:lstStyle/>
                    <a:p>
                      <a:r>
                        <a:rPr sz="1725" b="1">
                          <a:solidFill>
                            <a:srgbClr val="25364A"/>
                          </a:solidFill>
                          <a:latin typeface="Malgun Gothic"/>
                          <a:ea typeface="Malgun Gothic"/>
                          <a:cs typeface="Malgun Gothic"/>
                        </a:rPr>
                        <a:t>운동명 단위</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같은 운동명이 여러 유형번호에 있으면 운동명으로 묶어 집계</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01102978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2B58BB-BC54-4E62-98AB-85678EBEFF99}"/>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계산과 검정 기준</a:t>
            </a:r>
          </a:p>
        </p:txBody>
      </p:sp>
      <p:sp>
        <p:nvSpPr>
          <p:cNvPr id="2" name="">
            <a:extLst xmlns:a="http://schemas.openxmlformats.org/drawingml/2006/main">
              <a:ext uri="{FF2B5EF4-FFF2-40B4-BE49-F238E27FC236}">
                <a16:creationId xmlns:a16="http://schemas.microsoft.com/office/drawing/2014/main" id="{C24BD9A4-AE4B-41F8-A589-8275BC0C8D53}"/>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338048DC-44D0-49BA-B3B8-B3B5041A962C}"/>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63</a:t>
            </a:r>
          </a:p>
        </p:txBody>
      </p:sp>
      <p:graphicFrame>
        <p:nvGraphicFramePr>
          <p:cNvPr id="4" name="">
            <a:extLst xmlns:a="http://schemas.openxmlformats.org/drawingml/2006/main">
              <a:ext uri="{FF2B5EF4-FFF2-40B4-BE49-F238E27FC236}">
                <a16:creationId xmlns:a16="http://schemas.microsoft.com/office/drawing/2014/main" id="{A88F54E5-AF05-4A7A-9981-715E7433DE5C}"/>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전체 처방 건수(측정 기준)</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처방 기록이 있는 고유 MESURE_ID 수. 현재 8,949건이며, 운동별 기록 48,499행과 구분</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운동별 순위</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해당 운동 포함 고유 측정 수 내림차순. 같은 수는 공동 순위(1·2·2·4 방식). 검색 후에도 전체 순위 유지</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상위 10개 운동 포함률(%)</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상위 10개 운동 중 하나 이상 처방된 고유 측정 수 ÷ 전체 처방 측정 수 × 100. 여러 상위 운동이 함께 있어도 해당 측정은 1건</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처방 기록 있는 측정 중 포함률(%)</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해당 운동이 처방된 고유 측정 수 ÷ 처방 기록이 있는 고유 측정 수 × 100. 운동별 합계가 100%를 넘을 수 있음</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97315798"/>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52BDDF-6E4E-4F22-9600-BBC0712A513E}"/>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계산과 검정 기준</a:t>
            </a:r>
          </a:p>
        </p:txBody>
      </p:sp>
      <p:sp>
        <p:nvSpPr>
          <p:cNvPr id="2" name="">
            <a:extLst xmlns:a="http://schemas.openxmlformats.org/drawingml/2006/main">
              <a:ext uri="{FF2B5EF4-FFF2-40B4-BE49-F238E27FC236}">
                <a16:creationId xmlns:a16="http://schemas.microsoft.com/office/drawing/2014/main" id="{F6030C45-9817-425A-BA97-2EFE7D7F7D53}"/>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FD96C1A3-67DE-41B4-9DAE-A7942FC063CE}"/>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64</a:t>
            </a:r>
          </a:p>
        </p:txBody>
      </p:sp>
      <p:graphicFrame>
        <p:nvGraphicFramePr>
          <p:cNvPr id="4" name="">
            <a:extLst xmlns:a="http://schemas.openxmlformats.org/drawingml/2006/main">
              <a:ext uri="{FF2B5EF4-FFF2-40B4-BE49-F238E27FC236}">
                <a16:creationId xmlns:a16="http://schemas.microsoft.com/office/drawing/2014/main" id="{ADB2DE51-B3E1-4E24-8795-99F2B521F39D}"/>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종목별 미달</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STRENGTH &lt; 51.8, ENDURANCE &lt; 42, CARDIO &lt; 42, FLEXIBILITY &lt; 6.1. 기준과 같으면 충족, 결측이면 판정불가</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미달·충족 집단별 운동 처방률</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해당 집단에서 특정 운동이 처방된 장병 수 ÷ 해당 집단의 종목 평가 가능 장병 수 × 100</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처방률 차이(%p)</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미달 집단 처방률 − 충족 집단 처방률. 양수는 미달 집단에 더 흔한 처방</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귀무가설</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해당 체력요소의 미달 여부와 해당 운동의 처방 여부는 독립이다</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56515732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982FFF-CDCC-4D40-95D3-3B272AE7B94B}"/>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계산과 검정 기준</a:t>
            </a:r>
          </a:p>
        </p:txBody>
      </p:sp>
      <p:sp>
        <p:nvSpPr>
          <p:cNvPr id="2" name="">
            <a:extLst xmlns:a="http://schemas.openxmlformats.org/drawingml/2006/main">
              <a:ext uri="{FF2B5EF4-FFF2-40B4-BE49-F238E27FC236}">
                <a16:creationId xmlns:a16="http://schemas.microsoft.com/office/drawing/2014/main" id="{1D1C7650-81F5-4856-B4C8-6B0296F59A5B}"/>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92B3790E-B824-4E65-BFE2-65A47DDD8DA8}"/>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65</a:t>
            </a:r>
          </a:p>
        </p:txBody>
      </p:sp>
      <p:graphicFrame>
        <p:nvGraphicFramePr>
          <p:cNvPr id="4" name="">
            <a:extLst xmlns:a="http://schemas.openxmlformats.org/drawingml/2006/main">
              <a:ext uri="{FF2B5EF4-FFF2-40B4-BE49-F238E27FC236}">
                <a16:creationId xmlns:a16="http://schemas.microsoft.com/office/drawing/2014/main" id="{F238AA58-0520-4F83-93F6-B183A01B3AED}"/>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검정 선택</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미달/충족 × 처방 있음/없음의 2×2 표. 행·열에 변동이 없으면 검정 불가. 기대빈도 중 5 미만이 하나라도 있으면 Fisher 양측 정확검정, 그 외 Pearson 카이제곱(연속성 보정 없음)</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Phi(φ)</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두 이진변수의 방향 있는 상관계수. 양수는 미달 집단에서 처방이 더 흔하고, 음수는 충족 집단에서 더 흔함. 절댓값이 0에 가까우면 관련성이 약함</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다중검정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체력 4요소×전체 등록 운동의 계산 가능한 검정 전체를 하나로 묶어 Holm 보정. 보정 p &lt; 0.05로 관련성 판단</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표시 필터</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최소 처방 인원, 상위 운동 수·정렬은 시각화와 해석 범위만 변경. 이미 계산한 전체 Holm 보정 범위는 유지</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770121569"/>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5ED4A1-9E52-4B8D-97D4-DBAAA4DF7C13}"/>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생성 파일과 시각화</a:t>
            </a:r>
          </a:p>
        </p:txBody>
      </p:sp>
      <p:sp>
        <p:nvSpPr>
          <p:cNvPr id="2" name="">
            <a:extLst xmlns:a="http://schemas.openxmlformats.org/drawingml/2006/main">
              <a:ext uri="{FF2B5EF4-FFF2-40B4-BE49-F238E27FC236}">
                <a16:creationId xmlns:a16="http://schemas.microsoft.com/office/drawing/2014/main" id="{AEFC5A07-2B90-4E65-BBA0-86EAC3F315B7}"/>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279C68B6-A881-461C-B2F9-C33F64B1A9C2}"/>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66</a:t>
            </a:r>
          </a:p>
        </p:txBody>
      </p:sp>
      <p:sp>
        <p:nvSpPr>
          <p:cNvPr id="4" name="">
            <a:extLst xmlns:a="http://schemas.openxmlformats.org/drawingml/2006/main">
              <a:ext uri="{FF2B5EF4-FFF2-40B4-BE49-F238E27FC236}">
                <a16:creationId xmlns:a16="http://schemas.microsoft.com/office/drawing/2014/main" id="{738070DF-0806-4A16-B76B-FE6881A858F3}"/>
              </a:ext>
            </a:extLst>
          </p:cNvPr>
          <p:cNvSpPr>
            <a:spLocks xmlns:a="http://schemas.openxmlformats.org/drawingml/2006/main" noGrp="1"/>
          </p:cNvSpPr>
          <p:nvPr/>
        </p:nvSpPr>
        <p:spPr>
          <a:xfrm xmlns:a="http://schemas.openxmlformats.org/drawingml/2006/main">
            <a:off x="619125" y="13335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저장 폴더: data/experiments/results/운동_체력미달별처방관련성/</a:t>
            </a:r>
          </a:p>
        </p:txBody>
      </p:sp>
    </p:spTree>
    <p:extLst>
      <p:ext uri="{BB962C8B-B14F-4D97-AF65-F5344CB8AC3E}">
        <p14:creationId xmlns:p14="http://schemas.microsoft.com/office/powerpoint/2010/main" val="1050399252"/>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035F4FE-3F05-494B-A501-ACF0DD5B4710}"/>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생성 파일과 시각화</a:t>
            </a:r>
          </a:p>
        </p:txBody>
      </p:sp>
      <p:sp>
        <p:nvSpPr>
          <p:cNvPr id="2" name="">
            <a:extLst xmlns:a="http://schemas.openxmlformats.org/drawingml/2006/main">
              <a:ext uri="{FF2B5EF4-FFF2-40B4-BE49-F238E27FC236}">
                <a16:creationId xmlns:a16="http://schemas.microsoft.com/office/drawing/2014/main" id="{8A729CD3-8A31-4C11-B97A-4CF27E9F2810}"/>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E429B7BF-865F-4157-8776-CC300B5E7173}"/>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67</a:t>
            </a:r>
          </a:p>
        </p:txBody>
      </p:sp>
      <p:graphicFrame>
        <p:nvGraphicFramePr>
          <p:cNvPr id="4" name="">
            <a:extLst xmlns:a="http://schemas.openxmlformats.org/drawingml/2006/main">
              <a:ext uri="{FF2B5EF4-FFF2-40B4-BE49-F238E27FC236}">
                <a16:creationId xmlns:a16="http://schemas.microsoft.com/office/drawing/2014/main" id="{2557C297-CF10-4BE6-B366-02325F515D39}"/>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952500">
                <a:tc>
                  <a:txBody>
                    <a:bodyPr/>
                    <a:lstStyle/>
                    <a:p>
                      <a:r>
                        <a:rPr sz="1725" b="1">
                          <a:solidFill>
                            <a:srgbClr val="25364A"/>
                          </a:solidFill>
                          <a:latin typeface="Malgun Gothic"/>
                          <a:ea typeface="Malgun Gothic"/>
                          <a:cs typeface="Malgun Gothic"/>
                        </a:rPr>
                        <a:t>장병별_첫측정_체력미달정보.csv</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장병·측정번호, 체력값, 종목별 미달 기준값·미달 여부·판정, 처방 기록 유무. 관련성 분석 실행 시 원자료로 갱신한 뒤 재입력</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장병별_미달정보_운동처방연결.csv</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처방 기록 있는 첫 측정의 미달정보와 운동처방 목록 연결</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체력미달_운동처방관련성분석.csv</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체력요소×운동별 교차표 인원·처방률 차이·Phi·검정 p값·Holm 보정값</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나란한 처방률 막대</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주황=미달 집단, 파랑=충족 집단. 미달 집단에서 자주 처방된 운동 또는 처방률 차이가 큰 운동을 표시</a:t>
                      </a:r>
                    </a:p>
                  </a:txBody>
                  <a:tcPr marL="91440" marR="91440" marT="45720" marB="45720">
                    <a:lnR w="9525">
                      <a:solidFill>
                        <a:srgbClr val="D7E0E8"/>
                      </a:solidFill>
                      <a:prstDash val="solid"/>
                    </a:lnR>
                    <a:lnB w="9525">
                      <a:solidFill>
                        <a:srgbClr val="D7E0E8"/>
                      </a:solidFill>
                      <a:prstDash val="solid"/>
                    </a:lnB>
                    <a:solidFill>
                      <a:srgbClr val="FFFFFF"/>
                    </a:solidFill>
                  </a:tcPr>
                </a:tc>
              </a:tr>
              <a:tr h="952500">
                <a:tc>
                  <a:txBody>
                    <a:bodyPr/>
                    <a:lstStyle/>
                    <a:p>
                      <a:r>
                        <a:rPr sz="1725" b="1">
                          <a:solidFill>
                            <a:srgbClr val="25364A"/>
                          </a:solidFill>
                          <a:latin typeface="Malgun Gothic"/>
                          <a:ea typeface="Malgun Gothic"/>
                          <a:cs typeface="Malgun Gothic"/>
                        </a:rPr>
                        <a:t>관련성 히트맵</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체력요소×운동별 Phi 방향·크기. 색의 진하기와 통계적 유의성은 별도로 확인</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2027632734"/>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20EC522-9091-4233-8EB0-862E236ABD03}"/>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생성 파일과 시각화</a:t>
            </a:r>
          </a:p>
        </p:txBody>
      </p:sp>
      <p:sp>
        <p:nvSpPr>
          <p:cNvPr id="2" name="">
            <a:extLst xmlns:a="http://schemas.openxmlformats.org/drawingml/2006/main">
              <a:ext uri="{FF2B5EF4-FFF2-40B4-BE49-F238E27FC236}">
                <a16:creationId xmlns:a16="http://schemas.microsoft.com/office/drawing/2014/main" id="{9FAE938D-D18B-4063-9CC6-00B5919C1E3A}"/>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7010E177-F89F-4346-B2AA-E1B032472C7B}"/>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68</a:t>
            </a:r>
          </a:p>
        </p:txBody>
      </p:sp>
      <p:graphicFrame>
        <p:nvGraphicFramePr>
          <p:cNvPr id="4" name="">
            <a:extLst xmlns:a="http://schemas.openxmlformats.org/drawingml/2006/main">
              <a:ext uri="{FF2B5EF4-FFF2-40B4-BE49-F238E27FC236}">
                <a16:creationId xmlns:a16="http://schemas.microsoft.com/office/drawing/2014/main" id="{B6611780-09F2-4342-AC01-B00FCFA7024A}"/>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587500">
                <a:tc>
                  <a:txBody>
                    <a:bodyPr/>
                    <a:lstStyle/>
                    <a:p>
                      <a:r>
                        <a:rPr sz="1725" b="1">
                          <a:solidFill>
                            <a:srgbClr val="25364A"/>
                          </a:solidFill>
                          <a:latin typeface="Malgun Gothic"/>
                          <a:ea typeface="Malgun Gothic"/>
                          <a:cs typeface="Malgun Gothic"/>
                        </a:rPr>
                        <a:t>처방률 산점도</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가로=충족 집단 처방률, 세로=미달 집단 처방률. 대각선 위는 미달 집단에서 더 흔함</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관련성 순위 막대</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선택 체력요소의 절대 Phi가 큰 운동과 관련성 방향 표시</a:t>
                      </a:r>
                    </a:p>
                  </a:txBody>
                  <a:tcPr marL="91440" marR="91440" marT="45720" marB="45720">
                    <a:lnR w="9525">
                      <a:solidFill>
                        <a:srgbClr val="D7E0E8"/>
                      </a:solidFill>
                      <a:prstDash val="solid"/>
                    </a:lnR>
                    <a:lnB w="9525">
                      <a:solidFill>
                        <a:srgbClr val="D7E0E8"/>
                      </a:solidFill>
                      <a:prstDash val="solid"/>
                    </a:lnB>
                    <a:solidFill>
                      <a:srgbClr val="FFFFFF"/>
                    </a:solidFill>
                  </a:tcPr>
                </a:tc>
              </a:tr>
              <a:tr h="1587500">
                <a:tc>
                  <a:txBody>
                    <a:bodyPr/>
                    <a:lstStyle/>
                    <a:p>
                      <a:r>
                        <a:rPr sz="1725" b="1">
                          <a:solidFill>
                            <a:srgbClr val="25364A"/>
                          </a:solidFill>
                          <a:latin typeface="Malgun Gothic"/>
                          <a:ea typeface="Malgun Gothic"/>
                          <a:cs typeface="Malgun Gothic"/>
                        </a:rPr>
                        <a:t>분석 해석</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현재 인원 필터 내 검정 가능·유의 운동 수, 미달 집단에 더 흔한 주요 운동, 최대 관련성, 반대 방향 결과 및 해석 한계를 자동 설명</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653824840"/>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4FBA22-EC3E-4F0F-B0CD-2DD7FFD0A168}"/>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현재 분석 규모와 해석 범위</a:t>
            </a:r>
          </a:p>
        </p:txBody>
      </p:sp>
      <p:sp>
        <p:nvSpPr>
          <p:cNvPr id="2" name="">
            <a:extLst xmlns:a="http://schemas.openxmlformats.org/drawingml/2006/main">
              <a:ext uri="{FF2B5EF4-FFF2-40B4-BE49-F238E27FC236}">
                <a16:creationId xmlns:a16="http://schemas.microsoft.com/office/drawing/2014/main" id="{199BB34B-B0A4-4E73-8622-997045E988B1}"/>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18EC0580-8F0E-49F4-8B48-48BBDA44AF0F}"/>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69</a:t>
            </a:r>
          </a:p>
        </p:txBody>
      </p:sp>
      <p:sp>
        <p:nvSpPr>
          <p:cNvPr id="4" name="">
            <a:extLst xmlns:a="http://schemas.openxmlformats.org/drawingml/2006/main">
              <a:ext uri="{FF2B5EF4-FFF2-40B4-BE49-F238E27FC236}">
                <a16:creationId xmlns:a16="http://schemas.microsoft.com/office/drawing/2014/main" id="{9D09C91C-3A83-42EC-8CD3-D5E962D1DF21}"/>
              </a:ext>
            </a:extLst>
          </p:cNvPr>
          <p:cNvSpPr>
            <a:spLocks xmlns:a="http://schemas.openxmlformats.org/drawingml/2006/main" noGrp="1"/>
          </p:cNvSpPr>
          <p:nvPr/>
        </p:nvSpPr>
        <p:spPr>
          <a:xfrm xmlns:a="http://schemas.openxmlformats.org/drawingml/2006/main">
            <a:off x="619125" y="1333500"/>
            <a:ext cx="1095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2026-10-21 실행 기준 첫 측정 미달정보는 3,420명이며, 처방 기록이 없는 439명을 제외한 2,981명을 관련성 분석에 사용했습니다. 등록 운동 367개×체력 4요소로 총 1,468개 조합을 구성합니다. 실제 검정 가능한 수와 유의한 수는 화면에서 확인하며 자료 갱신 시 재계산합니다.</a:t>
            </a:r>
          </a:p>
        </p:txBody>
      </p:sp>
      <p:sp>
        <p:nvSpPr>
          <p:cNvPr id="5" name="">
            <a:extLst xmlns:a="http://schemas.openxmlformats.org/drawingml/2006/main">
              <a:ext uri="{FF2B5EF4-FFF2-40B4-BE49-F238E27FC236}">
                <a16:creationId xmlns:a16="http://schemas.microsoft.com/office/drawing/2014/main" id="{8A8A6DB5-E54E-4D7E-834E-F346A2059158}"/>
              </a:ext>
            </a:extLst>
          </p:cNvPr>
          <p:cNvSpPr>
            <a:spLocks xmlns:a="http://schemas.openxmlformats.org/drawingml/2006/main" noGrp="1"/>
          </p:cNvSpPr>
          <p:nvPr/>
        </p:nvSpPr>
        <p:spPr>
          <a:xfrm xmlns:a="http://schemas.openxmlformats.org/drawingml/2006/main">
            <a:off x="619125" y="2895600"/>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미달 집단에서 특정 운동이 더 흔하면 부족한 요소를 보완하려는 처방 경향과 부합할 수 있습니다. 다만 운동명별 보완 목적을 검증한 분류표는 현재 적용하지 않았으므로, 해당 운동이 실제로 그 요소를 보완하기 위해 처방됐다고 확정하지 않습니다.</a:t>
            </a:r>
          </a:p>
        </p:txBody>
      </p:sp>
    </p:spTree>
    <p:extLst>
      <p:ext uri="{BB962C8B-B14F-4D97-AF65-F5344CB8AC3E}">
        <p14:creationId xmlns:p14="http://schemas.microsoft.com/office/powerpoint/2010/main" val="1184175545"/>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0573EE-CDFF-4995-AB01-191657B959B7}"/>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현재 분석 규모와 해석 범위</a:t>
            </a:r>
          </a:p>
        </p:txBody>
      </p:sp>
      <p:sp>
        <p:nvSpPr>
          <p:cNvPr id="2" name="">
            <a:extLst xmlns:a="http://schemas.openxmlformats.org/drawingml/2006/main">
              <a:ext uri="{FF2B5EF4-FFF2-40B4-BE49-F238E27FC236}">
                <a16:creationId xmlns:a16="http://schemas.microsoft.com/office/drawing/2014/main" id="{C6ADFFD4-BD3B-480C-BF57-D25CDE7B5AE2}"/>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C01F7CDA-64D8-49FD-832A-5E2A0F1A6505}"/>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70</a:t>
            </a:r>
          </a:p>
        </p:txBody>
      </p:sp>
      <p:sp>
        <p:nvSpPr>
          <p:cNvPr id="4" name="">
            <a:extLst xmlns:a="http://schemas.openxmlformats.org/drawingml/2006/main">
              <a:ext uri="{FF2B5EF4-FFF2-40B4-BE49-F238E27FC236}">
                <a16:creationId xmlns:a16="http://schemas.microsoft.com/office/drawing/2014/main" id="{354EAD11-4CFB-4ACF-8019-AF57366AE5B1}"/>
              </a:ext>
            </a:extLst>
          </p:cNvPr>
          <p:cNvSpPr>
            <a:spLocks xmlns:a="http://schemas.openxmlformats.org/drawingml/2006/main" noGrp="1"/>
          </p:cNvSpPr>
          <p:nvPr/>
        </p:nvSpPr>
        <p:spPr>
          <a:xfrm xmlns:a="http://schemas.openxmlformats.org/drawingml/2006/main">
            <a:off x="619125" y="1333500"/>
            <a:ext cx="10953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관련성이 약하다고 운동 효과가 없거나 처방이 부적절하다는 뜻은 아닙니다. 같은 목적의 운동이 여러 종류로 나뉘거나 충족자에게도 유지·향상 목적으로 처방될 수 있습니다. 실제 수행 여부·강도·빈도·후속 개선은 분석하지 않았으며 연령·BMI 등 다른 요인도 보정하지 않았습니다. 다음 확장 분석으로는 근거 있는 체력요소별 운동군을 정의한 뒤 보완 운동군 처방률을 비교할 수 있습니다.</a:t>
            </a:r>
          </a:p>
        </p:txBody>
      </p:sp>
    </p:spTree>
    <p:extLst>
      <p:ext uri="{BB962C8B-B14F-4D97-AF65-F5344CB8AC3E}">
        <p14:creationId xmlns:p14="http://schemas.microsoft.com/office/powerpoint/2010/main" val="193431902"/>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6C4A4D-ADA4-4E46-B69E-88A3FAE64F55}"/>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10. 체력 측정 6개 항목의 전체 분포  체력 측정 항목별 분포와 산포 파악</a:t>
            </a:r>
          </a:p>
        </p:txBody>
      </p:sp>
      <p:sp>
        <p:nvSpPr>
          <p:cNvPr id="2" name="">
            <a:extLst xmlns:a="http://schemas.openxmlformats.org/drawingml/2006/main">
              <a:ext uri="{FF2B5EF4-FFF2-40B4-BE49-F238E27FC236}">
                <a16:creationId xmlns:a16="http://schemas.microsoft.com/office/drawing/2014/main" id="{0E4CEFD3-88DD-4001-91E2-12F1F64E7317}"/>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FCB0AA2A-4A0E-4A2D-811D-C9D966266E15}"/>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71</a:t>
            </a:r>
          </a:p>
        </p:txBody>
      </p:sp>
      <p:graphicFrame>
        <p:nvGraphicFramePr>
          <p:cNvPr id="4" name="">
            <a:extLst xmlns:a="http://schemas.openxmlformats.org/drawingml/2006/main">
              <a:ext uri="{FF2B5EF4-FFF2-40B4-BE49-F238E27FC236}">
                <a16:creationId xmlns:a16="http://schemas.microsoft.com/office/drawing/2014/main" id="{A01641FE-4E20-41AC-8D72-DD380D9DAF8F}"/>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분석 방법</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기술통계량 산출, 히스토그램, 박스플롯</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사용 변수·대상</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STRENGTH, ENDURANCE, CARDIO, FLEXIBILITY, BMI, BODY_FAT_PERCENTAGE. 첫 측정 당시 19~24세의 장병별 첫 측정 1건</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분석 내용</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항목별 유효·결측 인원, 평균, 중앙값, 표본 표준편차, 최솟값·최댓값, 사분위수·IQR, 왜도, 1.5×IQR 밖 인원 확인</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산출물·파일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체력측정항목_전체분포분석.py, results/체력측정항목별분포/6개항목_기술통계.csv</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503518248"/>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46E374-A9F7-4E93-9D05-DD9102A80F7C}"/>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10. 체력 측정 6개 항목의 전체 분포</a:t>
            </a:r>
          </a:p>
        </p:txBody>
      </p:sp>
      <p:sp>
        <p:nvSpPr>
          <p:cNvPr id="2" name="">
            <a:extLst xmlns:a="http://schemas.openxmlformats.org/drawingml/2006/main">
              <a:ext uri="{FF2B5EF4-FFF2-40B4-BE49-F238E27FC236}">
                <a16:creationId xmlns:a16="http://schemas.microsoft.com/office/drawing/2014/main" id="{A0554FBA-1B61-40DD-9DF8-4335B761D1A4}"/>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F5EACBD9-FCF6-48ED-B0CD-C315C9B76425}"/>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72</a:t>
            </a:r>
          </a:p>
        </p:txBody>
      </p:sp>
      <p:sp>
        <p:nvSpPr>
          <p:cNvPr id="4" name="">
            <a:extLst xmlns:a="http://schemas.openxmlformats.org/drawingml/2006/main">
              <a:ext uri="{FF2B5EF4-FFF2-40B4-BE49-F238E27FC236}">
                <a16:creationId xmlns:a16="http://schemas.microsoft.com/office/drawing/2014/main" id="{DD960BA5-A2A5-4248-BB6E-5A6164616D30}"/>
              </a:ext>
            </a:extLst>
          </p:cNvPr>
          <p:cNvSpPr>
            <a:spLocks xmlns:a="http://schemas.openxmlformats.org/drawingml/2006/main" noGrp="1"/>
          </p:cNvSpPr>
          <p:nvPr/>
        </p:nvSpPr>
        <p:spPr>
          <a:xfrm xmlns:a="http://schemas.openxmlformats.org/drawingml/2006/main">
            <a:off x="619125" y="13335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입력은 KS_NFA_PROCESSED.csv이며, 분석_연령별.py의 첫 측정 선정 방식을 재사용합니다. 동일 장병의 세 회차를 중복 합산하지 않습니다.</a:t>
            </a:r>
          </a:p>
        </p:txBody>
      </p:sp>
      <p:sp>
        <p:nvSpPr>
          <p:cNvPr id="5" name="">
            <a:extLst xmlns:a="http://schemas.openxmlformats.org/drawingml/2006/main">
              <a:ext uri="{FF2B5EF4-FFF2-40B4-BE49-F238E27FC236}">
                <a16:creationId xmlns:a16="http://schemas.microsoft.com/office/drawing/2014/main" id="{F5BCBAFA-0647-4628-972A-091AAF1DB903}"/>
              </a:ext>
            </a:extLst>
          </p:cNvPr>
          <p:cNvSpPr>
            <a:spLocks xmlns:a="http://schemas.openxmlformats.org/drawingml/2006/main" noGrp="1"/>
          </p:cNvSpPr>
          <p:nvPr/>
        </p:nvSpPr>
        <p:spPr>
          <a:xfrm xmlns:a="http://schemas.openxmlformats.org/drawingml/2006/main">
            <a:off x="619125" y="22098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현재 분석 대상은 3,420명입니다. 결측은 항목별 제외하며 표준편차는 ddof=1 기준입니다.</a:t>
            </a:r>
          </a:p>
        </p:txBody>
      </p:sp>
      <p:sp>
        <p:nvSpPr>
          <p:cNvPr id="6" name="">
            <a:extLst xmlns:a="http://schemas.openxmlformats.org/drawingml/2006/main">
              <a:ext uri="{FF2B5EF4-FFF2-40B4-BE49-F238E27FC236}">
                <a16:creationId xmlns:a16="http://schemas.microsoft.com/office/drawing/2014/main" id="{9715F05B-B927-42F7-83CA-31E7D1055FE2}"/>
              </a:ext>
            </a:extLst>
          </p:cNvPr>
          <p:cNvSpPr>
            <a:spLocks xmlns:a="http://schemas.openxmlformats.org/drawingml/2006/main" noGrp="1"/>
          </p:cNvSpPr>
          <p:nvPr/>
        </p:nvSpPr>
        <p:spPr>
          <a:xfrm xmlns:a="http://schemas.openxmlformats.org/drawingml/2006/main">
            <a:off x="619125" y="30861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- 6개 항목의 히스토그램을 함께 표시하고, 선택 항목의 박스플롯·평균·중앙값·산포를 해석합니다. 히스토그램 구간 수를 변경할 수 있습니다.</a:t>
            </a:r>
          </a:p>
        </p:txBody>
      </p:sp>
      <p:sp>
        <p:nvSpPr>
          <p:cNvPr id="7" name="">
            <a:extLst xmlns:a="http://schemas.openxmlformats.org/drawingml/2006/main">
              <a:ext uri="{FF2B5EF4-FFF2-40B4-BE49-F238E27FC236}">
                <a16:creationId xmlns:a16="http://schemas.microsoft.com/office/drawing/2014/main" id="{62AE96F8-34B2-44F1-BAC2-0BFA76CC072B}"/>
              </a:ext>
            </a:extLst>
          </p:cNvPr>
          <p:cNvSpPr>
            <a:spLocks xmlns:a="http://schemas.openxmlformats.org/drawingml/2006/main" noGrp="1"/>
          </p:cNvSpPr>
          <p:nvPr/>
        </p:nvSpPr>
        <p:spPr>
          <a:xfrm xmlns:a="http://schemas.openxmlformats.org/drawingml/2006/main">
            <a:off x="619125" y="39624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- 1.5×IQR 밖 관측값은 자동 제거하지 않으며, 측정 오류로 단정하지 않습니다. 왜도만으로 정규성을 확정하지 않습니다.</a:t>
            </a:r>
          </a:p>
        </p:txBody>
      </p:sp>
      <p:sp>
        <p:nvSpPr>
          <p:cNvPr id="8" name="">
            <a:extLst xmlns:a="http://schemas.openxmlformats.org/drawingml/2006/main">
              <a:ext uri="{FF2B5EF4-FFF2-40B4-BE49-F238E27FC236}">
                <a16:creationId xmlns:a16="http://schemas.microsoft.com/office/drawing/2014/main" id="{F102ACCF-290D-44BE-8269-A75C10A4B034}"/>
              </a:ext>
            </a:extLst>
          </p:cNvPr>
          <p:cNvSpPr>
            <a:spLocks xmlns:a="http://schemas.openxmlformats.org/drawingml/2006/main" noGrp="1"/>
          </p:cNvSpPr>
          <p:nvPr/>
        </p:nvSpPr>
        <p:spPr>
          <a:xfrm xmlns:a="http://schemas.openxmlformats.org/drawingml/2006/main">
            <a:off x="619125" y="48387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단위가 다른 항목의 표준편차 절댓값을 그대로 비교하지 않습니다. 전처리로 선정된 표본의 분포이며 원본 모집단 전체나 미달률·통과확률을 나타내는 분석은 아닙니다.</a:t>
            </a:r>
          </a:p>
        </p:txBody>
      </p:sp>
    </p:spTree>
    <p:extLst>
      <p:ext uri="{BB962C8B-B14F-4D97-AF65-F5344CB8AC3E}">
        <p14:creationId xmlns:p14="http://schemas.microsoft.com/office/powerpoint/2010/main" val="1380600063"/>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817927-C15E-4F55-82B1-27BFDCB23C28}"/>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11. 단일표본·독립표본 t검정  단일표본 t검정</a:t>
            </a:r>
          </a:p>
        </p:txBody>
      </p:sp>
      <p:sp>
        <p:nvSpPr>
          <p:cNvPr id="2" name="">
            <a:extLst xmlns:a="http://schemas.openxmlformats.org/drawingml/2006/main">
              <a:ext uri="{FF2B5EF4-FFF2-40B4-BE49-F238E27FC236}">
                <a16:creationId xmlns:a16="http://schemas.microsoft.com/office/drawing/2014/main" id="{70C4600B-999F-48C3-88FA-440B31AD2AFB}"/>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961228CE-1A17-4EF0-A978-6C97A4CE0F24}"/>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73</a:t>
            </a:r>
          </a:p>
        </p:txBody>
      </p:sp>
      <p:graphicFrame>
        <p:nvGraphicFramePr>
          <p:cNvPr id="4" name="">
            <a:extLst xmlns:a="http://schemas.openxmlformats.org/drawingml/2006/main">
              <a:ext uri="{FF2B5EF4-FFF2-40B4-BE49-F238E27FC236}">
                <a16:creationId xmlns:a16="http://schemas.microsoft.com/office/drawing/2014/main" id="{F67F6B49-4A51-4D78-B106-5CF677B81A82}"/>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질문·가설</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심폐 모집단 평균은 기준값 42와 다른가? H₀: μ=42, H₁: μ≠42</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변수·대상</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당시 19~24세, 장병별 첫 측정 CARDIO 연속값. 결측 제외</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방법·판정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양측 단일표본 t검정, α=0.05. t=(표본평균−기준평균)/(s/√n), 자유도 n−1</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파일·산출물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t검정_단일표본_심폐기준비교.py: 평균·차이·표준편차·t·p값·평균 95% CI·참고 Cohen d, 히스토그램·기준선, CSV 다운로드</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956030309"/>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0F3BC8-95C3-45A4-8434-E067253ECF70}"/>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11. 단일표본·독립표본 t검정  독립표본 t검정</a:t>
            </a:r>
          </a:p>
        </p:txBody>
      </p:sp>
      <p:sp>
        <p:nvSpPr>
          <p:cNvPr id="2" name="">
            <a:extLst xmlns:a="http://schemas.openxmlformats.org/drawingml/2006/main">
              <a:ext uri="{FF2B5EF4-FFF2-40B4-BE49-F238E27FC236}">
                <a16:creationId xmlns:a16="http://schemas.microsoft.com/office/drawing/2014/main" id="{057B59B5-22EB-4D40-806F-FBCB829B730A}"/>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28FC0287-4D65-4DD1-8F67-3A2CF2F76FB4}"/>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74</a:t>
            </a:r>
          </a:p>
        </p:txBody>
      </p:sp>
      <p:graphicFrame>
        <p:nvGraphicFramePr>
          <p:cNvPr id="4" name="">
            <a:extLst xmlns:a="http://schemas.openxmlformats.org/drawingml/2006/main">
              <a:ext uri="{FF2B5EF4-FFF2-40B4-BE49-F238E27FC236}">
                <a16:creationId xmlns:a16="http://schemas.microsoft.com/office/drawing/2014/main" id="{BEDA9FDC-3BA0-4E8B-A2C4-1B506DBD21E5}"/>
              </a:ext>
            </a:extLst>
          </p:cNvPr>
          <p:cNvGraphicFramePr/>
          <p:nvPr/>
        </p:nvGraphicFramePr>
        <p:xfrm>
          <a:off xmlns:a="http://schemas.openxmlformats.org/drawingml/2006/main" x="571500" y="1285875"/>
          <a:ext xmlns:a="http://schemas.openxmlformats.org/drawingml/2006/main" cx="11049000" cy="4762500"/>
        </p:xfrm>
        <a:graphic xmlns:a="http://schemas.openxmlformats.org/drawingml/2006/main">
          <a:graphicData uri="http://schemas.openxmlformats.org/drawingml/2006/table">
            <a:tbl>
              <a:tblPr/>
              <a:tblGrid>
                <a:gridCol w="2381250"/>
                <a:gridCol w="8667750"/>
              </a:tblGrid>
              <a:tr h="1190625">
                <a:tc>
                  <a:txBody>
                    <a:bodyPr/>
                    <a:lstStyle/>
                    <a:p>
                      <a:r>
                        <a:rPr sz="1725" b="1">
                          <a:solidFill>
                            <a:srgbClr val="25364A"/>
                          </a:solidFill>
                          <a:latin typeface="Malgun Gothic"/>
                          <a:ea typeface="Malgun Gothic"/>
                          <a:cs typeface="Malgun Gothic"/>
                        </a:rPr>
                        <a:t>질문·가설</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BMI 낮음·높음 집단의 상대악력 모집단 평균이 다른가? H₀: μ낮음=μ높음, H₁: 두 평균 다름</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변수·대상</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첫 측정 BMI 삼분위의 낮음·높음 집단, STRENGTH. 중간 집단 및 해당 변수 결측 제외</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방법·판정</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중앙값 기준 Levene p≥0.05면 Student, p&lt;0.05면 Welch t검정. 양측 α=0.05</a:t>
                      </a:r>
                    </a:p>
                  </a:txBody>
                  <a:tcPr marL="91440" marR="91440" marT="45720" marB="45720">
                    <a:lnR w="9525">
                      <a:solidFill>
                        <a:srgbClr val="D7E0E8"/>
                      </a:solidFill>
                      <a:prstDash val="solid"/>
                    </a:lnR>
                    <a:lnB w="9525">
                      <a:solidFill>
                        <a:srgbClr val="D7E0E8"/>
                      </a:solidFill>
                      <a:prstDash val="solid"/>
                    </a:lnB>
                    <a:solidFill>
                      <a:srgbClr val="FFFFFF"/>
                    </a:solidFill>
                  </a:tcPr>
                </a:tc>
              </a:tr>
              <a:tr h="1190625">
                <a:tc>
                  <a:txBody>
                    <a:bodyPr/>
                    <a:lstStyle/>
                    <a:p>
                      <a:r>
                        <a:rPr sz="1725" b="1">
                          <a:solidFill>
                            <a:srgbClr val="25364A"/>
                          </a:solidFill>
                          <a:latin typeface="Malgun Gothic"/>
                          <a:ea typeface="Malgun Gothic"/>
                          <a:cs typeface="Malgun Gothic"/>
                        </a:rPr>
                        <a:t>파일·산출물</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DF3F7"/>
                    </a:solidFill>
                  </a:tcPr>
                </a:tc>
                <a:tc>
                  <a:txBody>
                    <a:bodyPr/>
                    <a:lstStyle/>
                    <a:p>
                      <a:r>
                        <a:rPr sz="1800" b="0">
                          <a:solidFill>
                            <a:srgbClr val="25364A"/>
                          </a:solidFill>
                          <a:latin typeface="Malgun Gothic"/>
                          <a:ea typeface="Malgun Gothic"/>
                          <a:cs typeface="Malgun Gothic"/>
                        </a:rPr>
                        <a:t>t검정_독립표본_BMI별근력비교.py: 그룹 인원·평균·평균차(%p)·t·자유도·p값·차이 95% CI, 박스플롯·해석·CSV 다운로드</a:t>
                      </a:r>
                    </a:p>
                  </a:txBody>
                  <a:tcPr marL="91440" marR="91440" marT="45720" marB="45720">
                    <a:lnR w="9525">
                      <a:solidFill>
                        <a:srgbClr val="D7E0E8"/>
                      </a:solidFill>
                      <a:prstDash val="solid"/>
                    </a:lnR>
                    <a:lnB w="9525">
                      <a:solidFill>
                        <a:srgbClr val="D7E0E8"/>
                      </a:solidFill>
                      <a:prstDash val="solid"/>
                    </a:lnB>
                    <a:solidFill>
                      <a:srgbClr val="FFFFFF"/>
                    </a:solidFill>
                  </a:tcPr>
                </a:tc>
              </a:tr>
            </a:tbl>
          </a:graphicData>
        </a:graphic>
      </p:graphicFrame>
    </p:spTree>
    <p:extLst>
      <p:ext uri="{BB962C8B-B14F-4D97-AF65-F5344CB8AC3E}">
        <p14:creationId xmlns:p14="http://schemas.microsoft.com/office/powerpoint/2010/main" val="1218506307"/>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7B8265-B2CB-4BA0-89D0-5AC955425E34}"/>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11. 단일표본·독립표본 t검정</a:t>
            </a:r>
          </a:p>
        </p:txBody>
      </p:sp>
      <p:sp>
        <p:nvSpPr>
          <p:cNvPr id="2" name="">
            <a:extLst xmlns:a="http://schemas.openxmlformats.org/drawingml/2006/main">
              <a:ext uri="{FF2B5EF4-FFF2-40B4-BE49-F238E27FC236}">
                <a16:creationId xmlns:a16="http://schemas.microsoft.com/office/drawing/2014/main" id="{9B7359B4-D940-423D-8BEF-E6ACF0BA3868}"/>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D9848520-7175-455F-B61F-9CB19CBF2385}"/>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75</a:t>
            </a:r>
          </a:p>
        </p:txBody>
      </p:sp>
      <p:sp>
        <p:nvSpPr>
          <p:cNvPr id="4" name="">
            <a:extLst xmlns:a="http://schemas.openxmlformats.org/drawingml/2006/main">
              <a:ext uri="{FF2B5EF4-FFF2-40B4-BE49-F238E27FC236}">
                <a16:creationId xmlns:a16="http://schemas.microsoft.com/office/drawing/2014/main" id="{9831BC7A-9884-4660-98E0-7B01CC89899A}"/>
              </a:ext>
            </a:extLst>
          </p:cNvPr>
          <p:cNvSpPr>
            <a:spLocks xmlns:a="http://schemas.openxmlformats.org/drawingml/2006/main" noGrp="1"/>
          </p:cNvSpPr>
          <p:nvPr/>
        </p:nvSpPr>
        <p:spPr>
          <a:xfrm xmlns:a="http://schemas.openxmlformats.org/drawingml/2006/main">
            <a:off x="619125" y="1333500"/>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첫 측정은 분석_연령별.py, BMI 삼분위는 분석_bmi별.py의 정의를 재사용합니다. 체력자료는 표본으로 다루되 전처리 선택 및 대표성에 따른 일반화 한계를 명시합니다.</a:t>
            </a:r>
          </a:p>
        </p:txBody>
      </p:sp>
      <p:sp>
        <p:nvSpPr>
          <p:cNvPr id="5" name="">
            <a:extLst xmlns:a="http://schemas.openxmlformats.org/drawingml/2006/main">
              <a:ext uri="{FF2B5EF4-FFF2-40B4-BE49-F238E27FC236}">
                <a16:creationId xmlns:a16="http://schemas.microsoft.com/office/drawing/2014/main" id="{D656476F-A055-4DE8-95AE-9F814FC9D02E}"/>
              </a:ext>
            </a:extLst>
          </p:cNvPr>
          <p:cNvSpPr>
            <a:spLocks xmlns:a="http://schemas.openxmlformats.org/drawingml/2006/main" noGrp="1"/>
          </p:cNvSpPr>
          <p:nvPr/>
        </p:nvSpPr>
        <p:spPr>
          <a:xfrm xmlns:a="http://schemas.openxmlformats.org/drawingml/2006/main">
            <a:off x="619125" y="2552700"/>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단일표본의 42는 개인 심폐 기준 경계를 평균 비교 기준으로 사용한 것이며 알려진 모집단 평균이라는 뜻은 아닙니다. 화면에서 기준 변경 가능하나 반복 탐색 후 유의한 결과만 보고하지 않습니다.</a:t>
            </a:r>
          </a:p>
        </p:txBody>
      </p:sp>
      <p:sp>
        <p:nvSpPr>
          <p:cNvPr id="6" name="">
            <a:extLst xmlns:a="http://schemas.openxmlformats.org/drawingml/2006/main">
              <a:ext uri="{FF2B5EF4-FFF2-40B4-BE49-F238E27FC236}">
                <a16:creationId xmlns:a16="http://schemas.microsoft.com/office/drawing/2014/main" id="{A4DCDFD2-7ED7-43F0-931C-778D69965F99}"/>
              </a:ext>
            </a:extLst>
          </p:cNvPr>
          <p:cNvSpPr>
            <a:spLocks xmlns:a="http://schemas.openxmlformats.org/drawingml/2006/main" noGrp="1"/>
          </p:cNvSpPr>
          <p:nvPr/>
        </p:nvSpPr>
        <p:spPr>
          <a:xfrm xmlns:a="http://schemas.openxmlformats.org/drawingml/2006/main">
            <a:off x="619125" y="377190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독립표본 비교는 기존 BMI ANOVA·사후검정 결과를 확인한 뒤 선정한 탐색적 비교·수업 실습입니다. 새로운 독립적 증거로 중복 계산하지 않습니다.</a:t>
            </a:r>
          </a:p>
        </p:txBody>
      </p:sp>
      <p:sp>
        <p:nvSpPr>
          <p:cNvPr id="7" name="">
            <a:extLst xmlns:a="http://schemas.openxmlformats.org/drawingml/2006/main">
              <a:ext uri="{FF2B5EF4-FFF2-40B4-BE49-F238E27FC236}">
                <a16:creationId xmlns:a16="http://schemas.microsoft.com/office/drawing/2014/main" id="{0724601D-F44B-4DD0-944C-6567C37FE5D9}"/>
              </a:ext>
            </a:extLst>
          </p:cNvPr>
          <p:cNvSpPr>
            <a:spLocks xmlns:a="http://schemas.openxmlformats.org/drawingml/2006/main" noGrp="1"/>
          </p:cNvSpPr>
          <p:nvPr/>
        </p:nvSpPr>
        <p:spPr>
          <a:xfrm xmlns:a="http://schemas.openxmlformats.org/drawingml/2006/main">
            <a:off x="619125" y="4648200"/>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두 집단 비교의 등분산 가정은 Student에 적용되며, Welch는 이분산을 허용합니다. 각 집단의 유효 인원 2명 이상과 양의 표본분산이 필요합니다. Levene 비유의성은 등분산의 증명이 아닙니다.</a:t>
            </a:r>
          </a:p>
        </p:txBody>
      </p:sp>
    </p:spTree>
    <p:extLst>
      <p:ext uri="{BB962C8B-B14F-4D97-AF65-F5344CB8AC3E}">
        <p14:creationId xmlns:p14="http://schemas.microsoft.com/office/powerpoint/2010/main" val="1111527779"/>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A3398F-300F-4CDC-89AE-037D32AFE909}"/>
              </a:ext>
            </a:extLst>
          </p:cNvPr>
          <p:cNvSpPr>
            <a:spLocks xmlns:a="http://schemas.openxmlformats.org/drawingml/2006/main" noGrp="1"/>
          </p:cNvSpPr>
          <p:nvPr/>
        </p:nvSpPr>
        <p:spPr>
          <a:xfrm xmlns:a="http://schemas.openxmlformats.org/drawingml/2006/main">
            <a:off x="571500" y="3333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73C59"/>
                </a:solidFill>
                <a:latin typeface="Malgun Gothic"/>
                <a:ea typeface="Malgun Gothic"/>
                <a:cs typeface="Malgun Gothic"/>
              </a:defRPr>
            </a:defPPr>
            <a:lvl1pPr>
              <a:defRPr sz="2850" b="1">
                <a:solidFill>
                  <a:srgbClr val="173C59"/>
                </a:solidFill>
                <a:latin typeface="Malgun Gothic"/>
                <a:ea typeface="Malgun Gothic"/>
                <a:cs typeface="Malgun Gothic"/>
              </a:defRPr>
            </a:lvl1pPr>
            <a:lvl2pPr>
              <a:defRPr sz="2850" b="1">
                <a:solidFill>
                  <a:srgbClr val="173C59"/>
                </a:solidFill>
                <a:latin typeface="Malgun Gothic"/>
                <a:ea typeface="Malgun Gothic"/>
                <a:cs typeface="Malgun Gothic"/>
              </a:defRPr>
            </a:lvl2pPr>
            <a:lvl3pPr>
              <a:defRPr sz="2850" b="1">
                <a:solidFill>
                  <a:srgbClr val="173C59"/>
                </a:solidFill>
                <a:latin typeface="Malgun Gothic"/>
                <a:ea typeface="Malgun Gothic"/>
                <a:cs typeface="Malgun Gothic"/>
              </a:defRPr>
            </a:lvl3pPr>
            <a:lvl4pPr>
              <a:defRPr sz="2850" b="1">
                <a:solidFill>
                  <a:srgbClr val="173C59"/>
                </a:solidFill>
                <a:latin typeface="Malgun Gothic"/>
                <a:ea typeface="Malgun Gothic"/>
                <a:cs typeface="Malgun Gothic"/>
              </a:defRPr>
            </a:lvl4pPr>
            <a:lvl5pPr>
              <a:defRPr sz="2850" b="1">
                <a:solidFill>
                  <a:srgbClr val="173C59"/>
                </a:solidFill>
                <a:latin typeface="Malgun Gothic"/>
                <a:ea typeface="Malgun Gothic"/>
                <a:cs typeface="Malgun Gothic"/>
              </a:defRPr>
            </a:lvl5pPr>
            <a:lvl6pPr>
              <a:defRPr sz="2850" b="1">
                <a:solidFill>
                  <a:srgbClr val="173C59"/>
                </a:solidFill>
                <a:latin typeface="Malgun Gothic"/>
                <a:ea typeface="Malgun Gothic"/>
                <a:cs typeface="Malgun Gothic"/>
              </a:defRPr>
            </a:lvl6pPr>
            <a:lvl7pPr>
              <a:defRPr sz="2850" b="1">
                <a:solidFill>
                  <a:srgbClr val="173C59"/>
                </a:solidFill>
                <a:latin typeface="Malgun Gothic"/>
                <a:ea typeface="Malgun Gothic"/>
                <a:cs typeface="Malgun Gothic"/>
              </a:defRPr>
            </a:lvl7pPr>
            <a:lvl8pPr>
              <a:defRPr sz="2850" b="1">
                <a:solidFill>
                  <a:srgbClr val="173C59"/>
                </a:solidFill>
                <a:latin typeface="Malgun Gothic"/>
                <a:ea typeface="Malgun Gothic"/>
                <a:cs typeface="Malgun Gothic"/>
              </a:defRPr>
            </a:lvl8pPr>
            <a:lvl9pPr>
              <a:defRPr sz="2850" b="1">
                <a:solidFill>
                  <a:srgbClr val="173C59"/>
                </a:solidFill>
                <a:latin typeface="Malgun Gothic"/>
                <a:ea typeface="Malgun Gothic"/>
                <a:cs typeface="Malgun Gothic"/>
              </a:defRPr>
            </a:lvl9pPr>
          </a:lstStyle>
          <a:p xmlns:a="http://schemas.openxmlformats.org/drawingml/2006/main">
            <a:pPr>
              <a:defRPr sz="2850" b="1">
                <a:solidFill>
                  <a:srgbClr val="173C59"/>
                </a:solidFill>
                <a:latin typeface="Malgun Gothic"/>
                <a:ea typeface="Malgun Gothic"/>
                <a:cs typeface="Malgun Gothic"/>
              </a:defRPr>
            </a:pPr>
            <a:r>
              <a:rPr sz="2850" b="1">
                <a:solidFill>
                  <a:srgbClr val="173C59"/>
                </a:solidFill>
                <a:latin typeface="Malgun Gothic"/>
                <a:ea typeface="Malgun Gothic"/>
                <a:cs typeface="Malgun Gothic"/>
              </a:rPr>
              <a:t>11. 단일표본·독립표본 t검정</a:t>
            </a:r>
          </a:p>
        </p:txBody>
      </p:sp>
      <p:sp>
        <p:nvSpPr>
          <p:cNvPr id="2" name="">
            <a:extLst xmlns:a="http://schemas.openxmlformats.org/drawingml/2006/main">
              <a:ext uri="{FF2B5EF4-FFF2-40B4-BE49-F238E27FC236}">
                <a16:creationId xmlns:a16="http://schemas.microsoft.com/office/drawing/2014/main" id="{D536A4CC-C5A7-4141-9E54-E6ED902A2F5E}"/>
              </a:ext>
            </a:extLst>
          </p:cNvPr>
          <p:cNvSpPr>
            <a:spLocks xmlns:a="http://schemas.openxmlformats.org/drawingml/2006/main" noGrp="1"/>
          </p:cNvSpPr>
          <p:nvPr/>
        </p:nvSpPr>
        <p:spPr>
          <a:xfrm xmlns:a="http://schemas.openxmlformats.org/drawingml/2006/main">
            <a:off x="571500" y="6438900"/>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A7784"/>
                </a:solidFill>
                <a:latin typeface="Malgun Gothic"/>
                <a:ea typeface="Malgun Gothic"/>
                <a:cs typeface="Malgun Gothic"/>
              </a:defRPr>
            </a:defPPr>
            <a:lvl1pPr>
              <a:defRPr sz="1200" b="0">
                <a:solidFill>
                  <a:srgbClr val="6A7784"/>
                </a:solidFill>
                <a:latin typeface="Malgun Gothic"/>
                <a:ea typeface="Malgun Gothic"/>
                <a:cs typeface="Malgun Gothic"/>
              </a:defRPr>
            </a:lvl1pPr>
            <a:lvl2pPr>
              <a:defRPr sz="1200" b="0">
                <a:solidFill>
                  <a:srgbClr val="6A7784"/>
                </a:solidFill>
                <a:latin typeface="Malgun Gothic"/>
                <a:ea typeface="Malgun Gothic"/>
                <a:cs typeface="Malgun Gothic"/>
              </a:defRPr>
            </a:lvl2pPr>
            <a:lvl3pPr>
              <a:defRPr sz="1200" b="0">
                <a:solidFill>
                  <a:srgbClr val="6A7784"/>
                </a:solidFill>
                <a:latin typeface="Malgun Gothic"/>
                <a:ea typeface="Malgun Gothic"/>
                <a:cs typeface="Malgun Gothic"/>
              </a:defRPr>
            </a:lvl3pPr>
            <a:lvl4pPr>
              <a:defRPr sz="1200" b="0">
                <a:solidFill>
                  <a:srgbClr val="6A7784"/>
                </a:solidFill>
                <a:latin typeface="Malgun Gothic"/>
                <a:ea typeface="Malgun Gothic"/>
                <a:cs typeface="Malgun Gothic"/>
              </a:defRPr>
            </a:lvl4pPr>
            <a:lvl5pPr>
              <a:defRPr sz="1200" b="0">
                <a:solidFill>
                  <a:srgbClr val="6A7784"/>
                </a:solidFill>
                <a:latin typeface="Malgun Gothic"/>
                <a:ea typeface="Malgun Gothic"/>
                <a:cs typeface="Malgun Gothic"/>
              </a:defRPr>
            </a:lvl5pPr>
            <a:lvl6pPr>
              <a:defRPr sz="1200" b="0">
                <a:solidFill>
                  <a:srgbClr val="6A7784"/>
                </a:solidFill>
                <a:latin typeface="Malgun Gothic"/>
                <a:ea typeface="Malgun Gothic"/>
                <a:cs typeface="Malgun Gothic"/>
              </a:defRPr>
            </a:lvl6pPr>
            <a:lvl7pPr>
              <a:defRPr sz="1200" b="0">
                <a:solidFill>
                  <a:srgbClr val="6A7784"/>
                </a:solidFill>
                <a:latin typeface="Malgun Gothic"/>
                <a:ea typeface="Malgun Gothic"/>
                <a:cs typeface="Malgun Gothic"/>
              </a:defRPr>
            </a:lvl7pPr>
            <a:lvl8pPr>
              <a:defRPr sz="1200" b="0">
                <a:solidFill>
                  <a:srgbClr val="6A7784"/>
                </a:solidFill>
                <a:latin typeface="Malgun Gothic"/>
                <a:ea typeface="Malgun Gothic"/>
                <a:cs typeface="Malgun Gothic"/>
              </a:defRPr>
            </a:lvl8pPr>
            <a:lvl9pPr>
              <a:defRPr sz="1200" b="0">
                <a:solidFill>
                  <a:srgbClr val="6A7784"/>
                </a:solidFill>
                <a:latin typeface="Malgun Gothic"/>
                <a:ea typeface="Malgun Gothic"/>
                <a:cs typeface="Malgun Gothic"/>
              </a:defRPr>
            </a:lvl9pPr>
          </a:lstStyle>
          <a:p xmlns:a="http://schemas.openxmlformats.org/drawingml/2006/main">
            <a:pPr>
              <a:defRPr sz="1200" b="0">
                <a:solidFill>
                  <a:srgbClr val="6A7784"/>
                </a:solidFill>
                <a:latin typeface="Malgun Gothic"/>
                <a:ea typeface="Malgun Gothic"/>
                <a:cs typeface="Malgun Gothic"/>
              </a:defRPr>
            </a:pPr>
            <a:r>
              <a:rPr sz="1200" b="0">
                <a:solidFill>
                  <a:srgbClr val="6A7784"/>
                </a:solidFill>
                <a:latin typeface="Malgun Gothic"/>
                <a:ea typeface="Malgun Gothic"/>
                <a:cs typeface="Malgun Gothic"/>
              </a:rPr>
              <a:t>우주연   2026-10-21</a:t>
            </a:r>
          </a:p>
        </p:txBody>
      </p:sp>
      <p:sp>
        <p:nvSpPr>
          <p:cNvPr id="3" name="">
            <a:extLst xmlns:a="http://schemas.openxmlformats.org/drawingml/2006/main">
              <a:ext uri="{FF2B5EF4-FFF2-40B4-BE49-F238E27FC236}">
                <a16:creationId xmlns:a16="http://schemas.microsoft.com/office/drawing/2014/main" id="{A8830908-0A80-483D-B801-C285462E0130}"/>
              </a:ext>
            </a:extLst>
          </p:cNvPr>
          <p:cNvSpPr>
            <a:spLocks xmlns:a="http://schemas.openxmlformats.org/drawingml/2006/main" noGrp="1"/>
          </p:cNvSpPr>
          <p:nvPr/>
        </p:nvSpPr>
        <p:spPr>
          <a:xfrm xmlns:a="http://schemas.openxmlformats.org/drawingml/2006/main">
            <a:off x="1104900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5364A"/>
                </a:solidFill>
                <a:latin typeface="Malgun Gothic"/>
                <a:ea typeface="Malgun Gothic"/>
                <a:cs typeface="Malgun Gothic"/>
              </a:defRPr>
            </a:defPPr>
            <a:lvl1pPr>
              <a:defRPr sz="1200" b="0">
                <a:solidFill>
                  <a:srgbClr val="25364A"/>
                </a:solidFill>
                <a:latin typeface="Malgun Gothic"/>
                <a:ea typeface="Malgun Gothic"/>
                <a:cs typeface="Malgun Gothic"/>
              </a:defRPr>
            </a:lvl1pPr>
            <a:lvl2pPr>
              <a:defRPr sz="1200" b="0">
                <a:solidFill>
                  <a:srgbClr val="25364A"/>
                </a:solidFill>
                <a:latin typeface="Malgun Gothic"/>
                <a:ea typeface="Malgun Gothic"/>
                <a:cs typeface="Malgun Gothic"/>
              </a:defRPr>
            </a:lvl2pPr>
            <a:lvl3pPr>
              <a:defRPr sz="1200" b="0">
                <a:solidFill>
                  <a:srgbClr val="25364A"/>
                </a:solidFill>
                <a:latin typeface="Malgun Gothic"/>
                <a:ea typeface="Malgun Gothic"/>
                <a:cs typeface="Malgun Gothic"/>
              </a:defRPr>
            </a:lvl3pPr>
            <a:lvl4pPr>
              <a:defRPr sz="1200" b="0">
                <a:solidFill>
                  <a:srgbClr val="25364A"/>
                </a:solidFill>
                <a:latin typeface="Malgun Gothic"/>
                <a:ea typeface="Malgun Gothic"/>
                <a:cs typeface="Malgun Gothic"/>
              </a:defRPr>
            </a:lvl4pPr>
            <a:lvl5pPr>
              <a:defRPr sz="1200" b="0">
                <a:solidFill>
                  <a:srgbClr val="25364A"/>
                </a:solidFill>
                <a:latin typeface="Malgun Gothic"/>
                <a:ea typeface="Malgun Gothic"/>
                <a:cs typeface="Malgun Gothic"/>
              </a:defRPr>
            </a:lvl5pPr>
            <a:lvl6pPr>
              <a:defRPr sz="1200" b="0">
                <a:solidFill>
                  <a:srgbClr val="25364A"/>
                </a:solidFill>
                <a:latin typeface="Malgun Gothic"/>
                <a:ea typeface="Malgun Gothic"/>
                <a:cs typeface="Malgun Gothic"/>
              </a:defRPr>
            </a:lvl6pPr>
            <a:lvl7pPr>
              <a:defRPr sz="1200" b="0">
                <a:solidFill>
                  <a:srgbClr val="25364A"/>
                </a:solidFill>
                <a:latin typeface="Malgun Gothic"/>
                <a:ea typeface="Malgun Gothic"/>
                <a:cs typeface="Malgun Gothic"/>
              </a:defRPr>
            </a:lvl7pPr>
            <a:lvl8pPr>
              <a:defRPr sz="1200" b="0">
                <a:solidFill>
                  <a:srgbClr val="25364A"/>
                </a:solidFill>
                <a:latin typeface="Malgun Gothic"/>
                <a:ea typeface="Malgun Gothic"/>
                <a:cs typeface="Malgun Gothic"/>
              </a:defRPr>
            </a:lvl8pPr>
            <a:lvl9pPr>
              <a:defRPr sz="1200" b="0">
                <a:solidFill>
                  <a:srgbClr val="25364A"/>
                </a:solidFill>
                <a:latin typeface="Malgun Gothic"/>
                <a:ea typeface="Malgun Gothic"/>
                <a:cs typeface="Malgun Gothic"/>
              </a:defRPr>
            </a:lvl9pPr>
          </a:lstStyle>
          <a:p xmlns:a="http://schemas.openxmlformats.org/drawingml/2006/main">
            <a:pPr>
              <a:defRPr sz="1200" b="0">
                <a:solidFill>
                  <a:srgbClr val="25364A"/>
                </a:solidFill>
                <a:latin typeface="Malgun Gothic"/>
                <a:ea typeface="Malgun Gothic"/>
                <a:cs typeface="Malgun Gothic"/>
              </a:defRPr>
            </a:pPr>
            <a:r>
              <a:rPr sz="1200" b="0">
                <a:solidFill>
                  <a:srgbClr val="25364A"/>
                </a:solidFill>
                <a:latin typeface="Malgun Gothic"/>
                <a:ea typeface="Malgun Gothic"/>
                <a:cs typeface="Malgun Gothic"/>
              </a:rPr>
              <a:t>76</a:t>
            </a:r>
          </a:p>
        </p:txBody>
      </p:sp>
      <p:sp>
        <p:nvSpPr>
          <p:cNvPr id="4" name="">
            <a:extLst xmlns:a="http://schemas.openxmlformats.org/drawingml/2006/main">
              <a:ext uri="{FF2B5EF4-FFF2-40B4-BE49-F238E27FC236}">
                <a16:creationId xmlns:a16="http://schemas.microsoft.com/office/drawing/2014/main" id="{D625261F-4C85-4E47-97FE-A3D2EB0A0113}"/>
              </a:ext>
            </a:extLst>
          </p:cNvPr>
          <p:cNvSpPr>
            <a:spLocks xmlns:a="http://schemas.openxmlformats.org/drawingml/2006/main" noGrp="1"/>
          </p:cNvSpPr>
          <p:nvPr/>
        </p:nvSpPr>
        <p:spPr>
          <a:xfrm xmlns:a="http://schemas.openxmlformats.org/drawingml/2006/main">
            <a:off x="619125" y="1333500"/>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현재는 각각 하나의 지정 비교에 대해 원 p값을 보고하며 Holm 보정은 적용하지 않습니다. 여러 종목·그룹·기준으로 확장해 함께 결론 내릴 경우 다중검정 범위를 별도로 정의해야 합니다.</a:t>
            </a:r>
          </a:p>
        </p:txBody>
      </p:sp>
      <p:sp>
        <p:nvSpPr>
          <p:cNvPr id="5" name="">
            <a:extLst xmlns:a="http://schemas.openxmlformats.org/drawingml/2006/main">
              <a:ext uri="{FF2B5EF4-FFF2-40B4-BE49-F238E27FC236}">
                <a16:creationId xmlns:a16="http://schemas.microsoft.com/office/drawing/2014/main" id="{7203D8F1-6F3A-4935-A8A9-6C61D9A2546F}"/>
              </a:ext>
            </a:extLst>
          </p:cNvPr>
          <p:cNvSpPr>
            <a:spLocks xmlns:a="http://schemas.openxmlformats.org/drawingml/2006/main" noGrp="1"/>
          </p:cNvSpPr>
          <p:nvPr/>
        </p:nvSpPr>
        <p:spPr>
          <a:xfrm xmlns:a="http://schemas.openxmlformats.org/drawingml/2006/main">
            <a:off x="619125" y="2552700"/>
            <a:ext cx="10953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5364A"/>
                </a:solidFill>
                <a:latin typeface="Malgun Gothic"/>
                <a:ea typeface="Malgun Gothic"/>
                <a:cs typeface="Malgun Gothic"/>
              </a:defRPr>
            </a:defPPr>
            <a:lvl1pPr>
              <a:defRPr sz="1875" b="0">
                <a:solidFill>
                  <a:srgbClr val="25364A"/>
                </a:solidFill>
                <a:latin typeface="Malgun Gothic"/>
                <a:ea typeface="Malgun Gothic"/>
                <a:cs typeface="Malgun Gothic"/>
              </a:defRPr>
            </a:lvl1pPr>
            <a:lvl2pPr>
              <a:defRPr sz="1875" b="0">
                <a:solidFill>
                  <a:srgbClr val="25364A"/>
                </a:solidFill>
                <a:latin typeface="Malgun Gothic"/>
                <a:ea typeface="Malgun Gothic"/>
                <a:cs typeface="Malgun Gothic"/>
              </a:defRPr>
            </a:lvl2pPr>
            <a:lvl3pPr>
              <a:defRPr sz="1875" b="0">
                <a:solidFill>
                  <a:srgbClr val="25364A"/>
                </a:solidFill>
                <a:latin typeface="Malgun Gothic"/>
                <a:ea typeface="Malgun Gothic"/>
                <a:cs typeface="Malgun Gothic"/>
              </a:defRPr>
            </a:lvl3pPr>
            <a:lvl4pPr>
              <a:defRPr sz="1875" b="0">
                <a:solidFill>
                  <a:srgbClr val="25364A"/>
                </a:solidFill>
                <a:latin typeface="Malgun Gothic"/>
                <a:ea typeface="Malgun Gothic"/>
                <a:cs typeface="Malgun Gothic"/>
              </a:defRPr>
            </a:lvl4pPr>
            <a:lvl5pPr>
              <a:defRPr sz="1875" b="0">
                <a:solidFill>
                  <a:srgbClr val="25364A"/>
                </a:solidFill>
                <a:latin typeface="Malgun Gothic"/>
                <a:ea typeface="Malgun Gothic"/>
                <a:cs typeface="Malgun Gothic"/>
              </a:defRPr>
            </a:lvl5pPr>
            <a:lvl6pPr>
              <a:defRPr sz="1875" b="0">
                <a:solidFill>
                  <a:srgbClr val="25364A"/>
                </a:solidFill>
                <a:latin typeface="Malgun Gothic"/>
                <a:ea typeface="Malgun Gothic"/>
                <a:cs typeface="Malgun Gothic"/>
              </a:defRPr>
            </a:lvl6pPr>
            <a:lvl7pPr>
              <a:defRPr sz="1875" b="0">
                <a:solidFill>
                  <a:srgbClr val="25364A"/>
                </a:solidFill>
                <a:latin typeface="Malgun Gothic"/>
                <a:ea typeface="Malgun Gothic"/>
                <a:cs typeface="Malgun Gothic"/>
              </a:defRPr>
            </a:lvl7pPr>
            <a:lvl8pPr>
              <a:defRPr sz="1875" b="0">
                <a:solidFill>
                  <a:srgbClr val="25364A"/>
                </a:solidFill>
                <a:latin typeface="Malgun Gothic"/>
                <a:ea typeface="Malgun Gothic"/>
                <a:cs typeface="Malgun Gothic"/>
              </a:defRPr>
            </a:lvl8pPr>
            <a:lvl9pPr>
              <a:defRPr sz="1875" b="0">
                <a:solidFill>
                  <a:srgbClr val="25364A"/>
                </a:solidFill>
                <a:latin typeface="Malgun Gothic"/>
                <a:ea typeface="Malgun Gothic"/>
                <a:cs typeface="Malgun Gothic"/>
              </a:defRPr>
            </a:lvl9pPr>
          </a:lstStyle>
          <a:p xmlns:a="http://schemas.openxmlformats.org/drawingml/2006/main">
            <a:pPr>
              <a:defRPr sz="1875" b="0">
                <a:solidFill>
                  <a:srgbClr val="25364A"/>
                </a:solidFill>
                <a:latin typeface="Malgun Gothic"/>
                <a:ea typeface="Malgun Gothic"/>
                <a:cs typeface="Malgun Gothic"/>
              </a:defRPr>
            </a:pPr>
            <a:r>
              <a:rPr sz="1875" b="0">
                <a:solidFill>
                  <a:srgbClr val="25364A"/>
                </a:solidFill>
                <a:latin typeface="Malgun Gothic"/>
                <a:ea typeface="Malgun Gothic"/>
                <a:cs typeface="Malgun Gothic"/>
              </a:rPr>
              <a:t>- 평균 기준 충족과 개인별 통과 여부는 다릅니다. 같은 장병의 1차·3차 비교는 독립표본이 아닌 대응표본 분석 대상입니다. 독립성·분포·극단값 검토와 인과해석 제한을 함께 보고합니다.</a:t>
            </a:r>
          </a:p>
        </p:txBody>
      </p:sp>
    </p:spTree>
    <p:extLst>
      <p:ext uri="{BB962C8B-B14F-4D97-AF65-F5344CB8AC3E}">
        <p14:creationId xmlns:p14="http://schemas.microsoft.com/office/powerpoint/2010/main" val="7550272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2026-10-21T07:05:03.2420000Z</dcterms:created>
  <dcterms:modified xsi:type="dcterms:W3CDTF">2026-10-21T07:05:03.2420000Z</dcterms:modified>
</coreProperties>
</file>