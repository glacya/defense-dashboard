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58ff89dc374c3d" /><Relationship Type="http://schemas.openxmlformats.org/officeDocument/2006/relationships/extended-properties" Target="/docProps/app.xml" Id="Rbc1b1b78ce304043" /><Relationship Type="http://schemas.openxmlformats.org/officeDocument/2006/relationships/officeDocument" Target="/ppt/presentation.xml" Id="R82d5103d96264e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f513dec20f48e7"/>
  </p:sldMasterIdLst>
  <p:notesMasterIdLst>
    <p:notesMasterId xmlns:r="http://schemas.openxmlformats.org/officeDocument/2006/relationships" r:id="R6086e2055aa449e4"/>
  </p:notesMasterIdLst>
  <p:sldIdLst>
    <p:sldId xmlns:r="http://schemas.openxmlformats.org/officeDocument/2006/relationships" id="256" r:id="R9cca25a1d2be47d7"/>
    <p:sldId xmlns:r="http://schemas.openxmlformats.org/officeDocument/2006/relationships" id="257" r:id="Reb4fb2a4b7c44b90"/>
    <p:sldId xmlns:r="http://schemas.openxmlformats.org/officeDocument/2006/relationships" id="258" r:id="R7bf82acb7fff4f68"/>
    <p:sldId xmlns:r="http://schemas.openxmlformats.org/officeDocument/2006/relationships" id="259" r:id="R5b9419d620ff4c01"/>
    <p:sldId xmlns:r="http://schemas.openxmlformats.org/officeDocument/2006/relationships" id="260" r:id="R5ccdb431e5a54c24"/>
    <p:sldId xmlns:r="http://schemas.openxmlformats.org/officeDocument/2006/relationships" id="261" r:id="Ra1b4348e87e84932"/>
    <p:sldId xmlns:r="http://schemas.openxmlformats.org/officeDocument/2006/relationships" id="262" r:id="Rbc8040bc2e9c47aa"/>
    <p:sldId xmlns:r="http://schemas.openxmlformats.org/officeDocument/2006/relationships" id="263" r:id="R57695b3f5cdf4aa5"/>
    <p:sldId xmlns:r="http://schemas.openxmlformats.org/officeDocument/2006/relationships" id="264" r:id="Rfc72d99ccabe4f10"/>
    <p:sldId xmlns:r="http://schemas.openxmlformats.org/officeDocument/2006/relationships" id="265" r:id="Rd48bfe03b1634e2a"/>
    <p:sldId xmlns:r="http://schemas.openxmlformats.org/officeDocument/2006/relationships" id="266" r:id="R825d9075a2104e5c"/>
    <p:sldId xmlns:r="http://schemas.openxmlformats.org/officeDocument/2006/relationships" id="267" r:id="R8949c555e48c4ff9"/>
    <p:sldId xmlns:r="http://schemas.openxmlformats.org/officeDocument/2006/relationships" id="268" r:id="Rf3e183e89b644c94"/>
    <p:sldId xmlns:r="http://schemas.openxmlformats.org/officeDocument/2006/relationships" id="269" r:id="R12d966faaeee4d06"/>
    <p:sldId xmlns:r="http://schemas.openxmlformats.org/officeDocument/2006/relationships" id="270" r:id="R0986bc4fc15d4ea2"/>
    <p:sldId xmlns:r="http://schemas.openxmlformats.org/officeDocument/2006/relationships" id="271" r:id="R2d1eae1fb97543de"/>
    <p:sldId xmlns:r="http://schemas.openxmlformats.org/officeDocument/2006/relationships" id="272" r:id="R7c1652dc8d694d26"/>
    <p:sldId xmlns:r="http://schemas.openxmlformats.org/officeDocument/2006/relationships" id="273" r:id="R7126779f5e0345c7"/>
    <p:sldId xmlns:r="http://schemas.openxmlformats.org/officeDocument/2006/relationships" id="274" r:id="Rcd58f495f2d4451b"/>
    <p:sldId xmlns:r="http://schemas.openxmlformats.org/officeDocument/2006/relationships" id="275" r:id="R3af34069445b4a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d08b5fa3444972" /><Relationship Type="http://schemas.openxmlformats.org/officeDocument/2006/relationships/slideMaster" Target="/ppt/slideMasters/slideMaster1.xml" Id="Ra0f513dec20f48e7" /><Relationship Type="http://schemas.openxmlformats.org/officeDocument/2006/relationships/notesMaster" Target="/ppt/notesMasters/notesMaster1.xml" Id="R6086e2055aa449e4" /><Relationship Type="http://schemas.openxmlformats.org/officeDocument/2006/relationships/presProps" Target="/ppt/presProps.xml" Id="Rebcf92591e394ada" /><Relationship Type="http://schemas.openxmlformats.org/officeDocument/2006/relationships/tableStyles" Target="/ppt/tableStyles.xml" Id="R92a3afd4bd194155" /><Relationship Type="http://schemas.openxmlformats.org/officeDocument/2006/relationships/slide" Target="/ppt/slides/slide1.xml" Id="R9cca25a1d2be47d7" /><Relationship Type="http://schemas.openxmlformats.org/officeDocument/2006/relationships/slide" Target="/ppt/slides/slide2.xml" Id="Reb4fb2a4b7c44b90" /><Relationship Type="http://schemas.openxmlformats.org/officeDocument/2006/relationships/slide" Target="/ppt/slides/slide3.xml" Id="R7bf82acb7fff4f68" /><Relationship Type="http://schemas.openxmlformats.org/officeDocument/2006/relationships/slide" Target="/ppt/slides/slide4.xml" Id="R5b9419d620ff4c01" /><Relationship Type="http://schemas.openxmlformats.org/officeDocument/2006/relationships/slide" Target="/ppt/slides/slide5.xml" Id="R5ccdb431e5a54c24" /><Relationship Type="http://schemas.openxmlformats.org/officeDocument/2006/relationships/slide" Target="/ppt/slides/slide6.xml" Id="Ra1b4348e87e84932" /><Relationship Type="http://schemas.openxmlformats.org/officeDocument/2006/relationships/slide" Target="/ppt/slides/slide7.xml" Id="Rbc8040bc2e9c47aa" /><Relationship Type="http://schemas.openxmlformats.org/officeDocument/2006/relationships/slide" Target="/ppt/slides/slide8.xml" Id="R57695b3f5cdf4aa5" /><Relationship Type="http://schemas.openxmlformats.org/officeDocument/2006/relationships/slide" Target="/ppt/slides/slide9.xml" Id="Rfc72d99ccabe4f10" /><Relationship Type="http://schemas.openxmlformats.org/officeDocument/2006/relationships/slide" Target="/ppt/slides/slide10.xml" Id="Rd48bfe03b1634e2a" /><Relationship Type="http://schemas.openxmlformats.org/officeDocument/2006/relationships/slide" Target="/ppt/slides/slide11.xml" Id="R825d9075a2104e5c" /><Relationship Type="http://schemas.openxmlformats.org/officeDocument/2006/relationships/slide" Target="/ppt/slides/slide12.xml" Id="R8949c555e48c4ff9" /><Relationship Type="http://schemas.openxmlformats.org/officeDocument/2006/relationships/slide" Target="/ppt/slides/slide13.xml" Id="Rf3e183e89b644c94" /><Relationship Type="http://schemas.openxmlformats.org/officeDocument/2006/relationships/slide" Target="/ppt/slides/slide14.xml" Id="R12d966faaeee4d06" /><Relationship Type="http://schemas.openxmlformats.org/officeDocument/2006/relationships/slide" Target="/ppt/slides/slide15.xml" Id="R0986bc4fc15d4ea2" /><Relationship Type="http://schemas.openxmlformats.org/officeDocument/2006/relationships/slide" Target="/ppt/slides/slide16.xml" Id="R2d1eae1fb97543de" /><Relationship Type="http://schemas.openxmlformats.org/officeDocument/2006/relationships/slide" Target="/ppt/slides/slide17.xml" Id="R7c1652dc8d694d26" /><Relationship Type="http://schemas.openxmlformats.org/officeDocument/2006/relationships/slide" Target="/ppt/slides/slide18.xml" Id="R7126779f5e0345c7" /><Relationship Type="http://schemas.openxmlformats.org/officeDocument/2006/relationships/slide" Target="/ppt/slides/slide19.xml" Id="Rcd58f495f2d4451b" /><Relationship Type="http://schemas.openxmlformats.org/officeDocument/2006/relationships/slide" Target="/ppt/slides/slide20.xml" Id="R3af34069445b4a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6921ec838341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71fd862794ed5" /><Relationship Type="http://schemas.openxmlformats.org/officeDocument/2006/relationships/notesMaster" Target="/ppt/notesMasters/notesMaster1.xml" Id="R2119add4759d4d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ca8961d974e56" /><Relationship Type="http://schemas.openxmlformats.org/officeDocument/2006/relationships/notesMaster" Target="/ppt/notesMasters/notesMaster1.xml" Id="Re3e1d3b0e01441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861f5fbc53466f" /><Relationship Type="http://schemas.openxmlformats.org/officeDocument/2006/relationships/notesMaster" Target="/ppt/notesMasters/notesMaster1.xml" Id="R7441cf08dbca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1187e3041d4452" /><Relationship Type="http://schemas.openxmlformats.org/officeDocument/2006/relationships/notesMaster" Target="/ppt/notesMasters/notesMaster1.xml" Id="R4e5b58b16d4c4b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3244572e44d1e" /><Relationship Type="http://schemas.openxmlformats.org/officeDocument/2006/relationships/notesMaster" Target="/ppt/notesMasters/notesMaster1.xml" Id="R4c65cdd6a9f44b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f1acc264304d45" /><Relationship Type="http://schemas.openxmlformats.org/officeDocument/2006/relationships/notesMaster" Target="/ppt/notesMasters/notesMaster1.xml" Id="R2459e97439fb43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1abecf2ff4478e" /><Relationship Type="http://schemas.openxmlformats.org/officeDocument/2006/relationships/notesMaster" Target="/ppt/notesMasters/notesMaster1.xml" Id="R532b55e8c56e4f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8f0e2de3c74762" /><Relationship Type="http://schemas.openxmlformats.org/officeDocument/2006/relationships/notesMaster" Target="/ppt/notesMasters/notesMaster1.xml" Id="R990e106c925544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4a16290a2c45e6" /><Relationship Type="http://schemas.openxmlformats.org/officeDocument/2006/relationships/notesMaster" Target="/ppt/notesMasters/notesMaster1.xml" Id="R0ff651483d0848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bd68eac05c4454" /><Relationship Type="http://schemas.openxmlformats.org/officeDocument/2006/relationships/notesMaster" Target="/ppt/notesMasters/notesMaster1.xml" Id="Rbb86cdfb72da45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f67bc8eee54773" /><Relationship Type="http://schemas.openxmlformats.org/officeDocument/2006/relationships/notesMaster" Target="/ppt/notesMasters/notesMaster1.xml" Id="R6ab294a61d3e4ab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b91ed896a84439" /><Relationship Type="http://schemas.openxmlformats.org/officeDocument/2006/relationships/notesMaster" Target="/ppt/notesMasters/notesMaster1.xml" Id="Rf67c1b2ac15f41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2d9b90c39f4ead" /><Relationship Type="http://schemas.openxmlformats.org/officeDocument/2006/relationships/notesMaster" Target="/ppt/notesMasters/notesMaster1.xml" Id="R9ab8a8115b744e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7700906f304479" /><Relationship Type="http://schemas.openxmlformats.org/officeDocument/2006/relationships/notesMaster" Target="/ppt/notesMasters/notesMaster1.xml" Id="R655e18696cd045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67e5ec5a6548a6" /><Relationship Type="http://schemas.openxmlformats.org/officeDocument/2006/relationships/notesMaster" Target="/ppt/notesMasters/notesMaster1.xml" Id="Raf1c7e21e30641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8d0f4736b0b405f" /><Relationship Type="http://schemas.openxmlformats.org/officeDocument/2006/relationships/notesMaster" Target="/ppt/notesMasters/notesMaster1.xml" Id="R6d9d711765ad439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b420ebf3cce4b80" /><Relationship Type="http://schemas.openxmlformats.org/officeDocument/2006/relationships/notesMaster" Target="/ppt/notesMasters/notesMaster1.xml" Id="Rc1b89a1235424a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aab97216fcb4f35" /><Relationship Type="http://schemas.openxmlformats.org/officeDocument/2006/relationships/notesMaster" Target="/ppt/notesMasters/notesMaster1.xml" Id="R580f8636b96d41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16d83a09cf64333" /><Relationship Type="http://schemas.openxmlformats.org/officeDocument/2006/relationships/notesMaster" Target="/ppt/notesMasters/notesMaster1.xml" Id="Rf8598f36ddb04f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3d7198bd5e44e6" /><Relationship Type="http://schemas.openxmlformats.org/officeDocument/2006/relationships/notesMaster" Target="/ppt/notesMasters/notesMaster1.xml" Id="Ra1c466c2cefd45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M_CODE, MESURE_DE, 체력 4종목, 측정 건수</a:t>
            </a:r>
          </a:p>
          <a:p xmlns:a="http://schemas.openxmlformats.org/drawingml/2006/main">
            <a:r>
              <a:t>분석 단위·방법: 장병별 기록 수, 중복·결측 확인</a:t>
            </a:r>
          </a:p>
          <a:p xmlns:a="http://schemas.openxmlformats.org/drawingml/2006/main">
            <a:r>
              <a:t>확인할 결과: 고유 대상자 수, 3회 기록 여부, 종목별 판정불가 수</a:t>
            </a:r>
          </a:p>
          <a:p xmlns:a="http://schemas.openxmlformats.org/drawingml/2006/main">
            <a:r>
              <a:t>관련 파일: check_분석데이터.py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AGE, 체력 4종목, HEIGHT, WEIGHT, BMI, BODY_FAT_PERCENTAGE</a:t>
            </a:r>
          </a:p>
          <a:p xmlns:a="http://schemas.openxmlformats.org/drawingml/2006/main">
            <a:r>
              <a:t>분석 단위·방법: 첫 측정, 연령별 기술통계</a:t>
            </a:r>
          </a:p>
          <a:p xmlns:a="http://schemas.openxmlformats.org/drawingml/2006/main">
            <a:r>
              <a:t>확인할 결과: 인원·구성비·평균·표본 표준편차</a:t>
            </a:r>
          </a:p>
          <a:p xmlns:a="http://schemas.openxmlformats.org/drawingml/2006/main">
            <a:r>
              <a:t>관련 파일: 분석_연령별.py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첫 측정 BMI, BMI 그룹, 체력·신체 측정값</a:t>
            </a:r>
          </a:p>
          <a:p xmlns:a="http://schemas.openxmlformats.org/drawingml/2006/main">
            <a:r>
              <a:t>분석 단위·방법: 첫 측정, BMI 삼분위 그룹별 기술통계</a:t>
            </a:r>
          </a:p>
          <a:p xmlns:a="http://schemas.openxmlformats.org/drawingml/2006/main">
            <a:r>
              <a:t>확인할 결과: 구간 경계, 그룹 인원, 평균·표준편차</a:t>
            </a:r>
          </a:p>
          <a:p xmlns:a="http://schemas.openxmlformats.org/drawingml/2006/main">
            <a:r>
              <a:t>관련 파일: 분석_bmi별.py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요인: AGE 6집단, 종속변수: 체력 각 종목의 연속 측정값</a:t>
            </a:r>
          </a:p>
          <a:p xmlns:a="http://schemas.openxmlformats.org/drawingml/2006/main">
            <a:r>
              <a:t>분석 단위·방법: 종목별 Levene 검정 후 일반 또는 Welch 일원분산분석</a:t>
            </a:r>
          </a:p>
          <a:p xmlns:a="http://schemas.openxmlformats.org/drawingml/2006/main">
            <a:r>
              <a:t>확인할 결과: 적용 검정, F·p값, η², 유의한 경우 연령 15쌍 사후검정</a:t>
            </a:r>
          </a:p>
          <a:p xmlns:a="http://schemas.openxmlformats.org/drawingml/2006/main">
            <a:r>
              <a:t>관련 파일: 아노바_연령.py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요인: BMI 3집단, 종속변수: 체력 각 종목의 연속 측정값</a:t>
            </a:r>
          </a:p>
          <a:p xmlns:a="http://schemas.openxmlformats.org/drawingml/2006/main">
            <a:r>
              <a:t>분석 단위·방법: 종목별 Levene 검정 후 일반 또는 Welch 일원분산분석</a:t>
            </a:r>
          </a:p>
          <a:p xmlns:a="http://schemas.openxmlformats.org/drawingml/2006/main">
            <a:r>
              <a:t>확인할 결과: 적용 p값, η², 유의한 경우 BMI 3쌍 사후검정·평균차·신뢰구간</a:t>
            </a:r>
          </a:p>
          <a:p xmlns:a="http://schemas.openxmlformats.org/drawingml/2006/main">
            <a:r>
              <a:t>관련 파일: 아노바_bmi.py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AGE, 종목별 미달·충족 범주</a:t>
            </a:r>
          </a:p>
          <a:p xmlns:a="http://schemas.openxmlformats.org/drawingml/2006/main">
            <a:r>
              <a:t>분석 단위·방법: 첫 측정, 종목별 6×2 교차표와 카이제곱 독립성 검정</a:t>
            </a:r>
          </a:p>
          <a:p xmlns:a="http://schemas.openxmlformats.org/drawingml/2006/main">
            <a:r>
              <a:t>확인할 결과: 관측·기대빈도, χ², 자유도, Holm 보정 p값, Cramér’s V</a:t>
            </a:r>
          </a:p>
          <a:p xmlns:a="http://schemas.openxmlformats.org/drawingml/2006/main">
            <a:r>
              <a:t>관련 파일: 카이제곱_연령별미달여부.py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BMI 3집단, 종목별 미달·충족 범주</a:t>
            </a:r>
          </a:p>
          <a:p xmlns:a="http://schemas.openxmlformats.org/drawingml/2006/main">
            <a:r>
              <a:t>분석 단위·방법: 첫 측정, 종목별 3×2 교차표와 카이제곱 독립성 검정</a:t>
            </a:r>
          </a:p>
          <a:p xmlns:a="http://schemas.openxmlformats.org/drawingml/2006/main">
            <a:r>
              <a:t>확인할 결과: 그룹별 미달률, χ², Holm 보정 p값, Cramér’s V</a:t>
            </a:r>
          </a:p>
          <a:p xmlns:a="http://schemas.openxmlformats.org/drawingml/2006/main">
            <a:r>
              <a:t>관련 파일: 카이제곱_bmi별미달여부.py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M_CODE, round, 각 종목의 회차별 측정값</a:t>
            </a:r>
          </a:p>
          <a:p xmlns:a="http://schemas.openxmlformats.org/drawingml/2006/main">
            <a:r>
              <a:t>분석 단위·방법: 장병별 짝 자료, Pearson·Spearman 상관분석. 1↔2·2↔3·1↔3차</a:t>
            </a:r>
          </a:p>
          <a:p xmlns:a="http://schemas.openxmlformats.org/drawingml/2006/main">
            <a:r>
              <a:t>확인할 결과: 4종목×3쌍의 상관계수·원 p값·표본 수</a:t>
            </a:r>
          </a:p>
          <a:p xmlns:a="http://schemas.openxmlformats.org/drawingml/2006/main">
            <a:r>
              <a:t>관련 파일: 체력측정회차별상관분석.py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종목별 미달 여부, 회차, 장병 식별자</a:t>
            </a:r>
          </a:p>
          <a:p xmlns:a="http://schemas.openxmlformats.org/drawingml/2006/main">
            <a:r>
              <a:t>분석 단위·방법: 종목별 동일 완전측정 대상자 비교가 기본. 인원·미달률·변동률 집계</a:t>
            </a:r>
          </a:p>
          <a:p xmlns:a="http://schemas.openxmlformats.org/drawingml/2006/main">
            <a:r>
              <a:t>확인할 결과: 회차별 인원, 미달률, 1→2·2→3·1→3차 인원 변동률</a:t>
            </a:r>
          </a:p>
          <a:p xmlns:a="http://schemas.openxmlformats.org/drawingml/2006/main">
            <a:r>
              <a:t>관련 파일: 종목별체력미달자_회차별변화율.py 및 회차중심·누적막대 버전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회차별 미달 종목 수 0~4개</a:t>
            </a:r>
          </a:p>
          <a:p xmlns:a="http://schemas.openxmlformats.org/drawingml/2006/main">
            <a:r>
              <a:t>분석 단위·방법: 정확히 2·3·4개 미달 및 2개 이상 미달 인원·비율 집계</a:t>
            </a:r>
          </a:p>
          <a:p xmlns:a="http://schemas.openxmlformats.org/drawingml/2006/main">
            <a:r>
              <a:t>확인할 결과: 회차별 위험 규모, 변동률, 해당 장병 목록</a:t>
            </a:r>
          </a:p>
          <a:p xmlns:a="http://schemas.openxmlformats.org/drawingml/2006/main">
            <a:r>
              <a:t>관련 파일: 위험장병식별.py 및 변동률 버전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회차별 미달 수, 정상·취약 상태</a:t>
            </a:r>
          </a:p>
          <a:p xmlns:a="http://schemas.openxmlformats.org/drawingml/2006/main">
            <a:r>
              <a:t>분석 단위·방법: 기존 기준인 1개 이상 미달을 취약으로 집계. 1차 대비 3차 미달 수 비교</a:t>
            </a:r>
          </a:p>
          <a:p xmlns:a="http://schemas.openxmlformats.org/drawingml/2006/main">
            <a:r>
              <a:t>확인할 결과: 개선·악화·유지, 현재 취약, 지속 취약</a:t>
            </a:r>
          </a:p>
          <a:p xmlns:a="http://schemas.openxmlformats.org/drawingml/2006/main">
            <a:r>
              <a:t>관련 파일: 장병체력미달판정_3회비교.py, 장병체력미달현황_회차별변화.py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1·2차 상태코드, 3차 상태코드</a:t>
            </a:r>
          </a:p>
          <a:p xmlns:a="http://schemas.openxmlformats.org/drawingml/2006/main">
            <a:r>
              <a:t>분석 단위·방법: 00·01·10·11 상위 4그룹의 관측 통과율 집계</a:t>
            </a:r>
          </a:p>
          <a:p xmlns:a="http://schemas.openxmlformats.org/drawingml/2006/main">
            <a:r>
              <a:t>확인할 결과: 그룹별 통과·미통과·판정불가 인원 및 통과율</a:t>
            </a:r>
          </a:p>
          <a:p xmlns:a="http://schemas.openxmlformats.org/drawingml/2006/main">
            <a:r>
              <a:t>관련 파일: 3차통과율_체력상태조합별.py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1·2차 미달 종목 수, 3차 통과 여부</a:t>
            </a:r>
          </a:p>
          <a:p xmlns:a="http://schemas.openxmlformats.org/drawingml/2006/main">
            <a:r>
              <a:t>분석 단위·방법: (0,0)~(4,4) 25개 하위그룹별 관측 통과율과 개인별 비율 연결</a:t>
            </a:r>
          </a:p>
          <a:p xmlns:a="http://schemas.openxmlformats.org/drawingml/2006/main">
            <a:r>
              <a:t>확인할 결과: 하위그룹 자체 통과율, 그룹 인원, 장병별 적용 비율</a:t>
            </a:r>
          </a:p>
          <a:p xmlns:a="http://schemas.openxmlformats.org/drawingml/2006/main">
            <a:r>
              <a:t>관련 파일: 3차통과율_하위그룹_체력상태조합별.py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입력: 1·2차 미달 수, 목표: 3차 통과 여부</a:t>
            </a:r>
          </a:p>
          <a:p xmlns:a="http://schemas.openxmlformats.org/drawingml/2006/main">
            <a:r>
              <a:t>분석 단위·방법: L2 로지스틱 회귀(C=1), 최대 5분할 층화 교차검증</a:t>
            </a:r>
          </a:p>
          <a:p xmlns:a="http://schemas.openxmlformats.org/drawingml/2006/main">
            <a:r>
              <a:t>확인할 결과: 개인별 확률, 회귀계수·오즈비, 검증 ROC_AUC·Brier·LogLoss</a:t>
            </a:r>
          </a:p>
          <a:p xmlns:a="http://schemas.openxmlformats.org/drawingml/2006/main">
            <a:r>
              <a:t>관련 파일: 3차통과율_로지스틱회귀예측.py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M_CODE, round, strength_risk, endurance_risk, cardio_risk, flexibility_risk</a:t>
            </a:r>
          </a:p>
          <a:p xmlns:a="http://schemas.openxmlformats.org/drawingml/2006/main">
            <a:r>
              <a:t>분석 단위·방법: 세 회차 네 종목 모두 판정 가능한 장병에서 종목별 1·2·3차 미달 여부를 연결. 동일 종목 지속 미달 및 하나 이상 해당하는 장병 집계</a:t>
            </a:r>
          </a:p>
          <a:p xmlns:a="http://schemas.openxmlformats.org/drawingml/2006/main">
            <a:r>
              <a:t>확인할 결과: 종목별 지속 미달 인원, 동일 종목 지속 미달 고유 인원·비율, 개인별 CSV·HTML 시각화</a:t>
            </a:r>
          </a:p>
          <a:p xmlns:a="http://schemas.openxmlformats.org/drawingml/2006/main">
            <a:r>
              <a:t>관련 파일: 동일종목_지속미달분석.py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첫 측정의 종목별 미달·충족 여부, 운동별 처방 유무, M_CODE, MESURE_ID</a:t>
            </a:r>
          </a:p>
          <a:p xmlns:a="http://schemas.openxmlformats.org/drawingml/2006/main">
            <a:r>
              <a:t>분석 단위·방법: 별도 미달정보 CSV 생성 후 처방과 연결. 2×2 카이제곱 또는 희소 시 Fisher 정확검정, Phi·Holm 보정</a:t>
            </a:r>
          </a:p>
          <a:p xmlns:a="http://schemas.openxmlformats.org/drawingml/2006/main">
            <a:r>
              <a:t>확인할 결과: 부족한 체력요소에 따라 어떤 운동이 더 자주 처방되는지 확인. 집단별 처방률·차이(%p), 관련성 크기·유의성, 비교 막대·히트맵·산점도</a:t>
            </a:r>
          </a:p>
          <a:p xmlns:a="http://schemas.openxmlformats.org/drawingml/2006/main">
            <a:r>
              <a:t>관련 파일: 운동_체력미달여부별처방관련성.py, 운동_체력미달정보생성.py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첫 측정 CARDIO, 비교 기준평균 42</a:t>
            </a:r>
          </a:p>
          <a:p xmlns:a="http://schemas.openxmlformats.org/drawingml/2006/main">
            <a:r>
              <a:t>분석 단위·방법: 장병별 첫 측정, 양측 단일표본 t검정(α=0.05)</a:t>
            </a:r>
          </a:p>
          <a:p xmlns:a="http://schemas.openxmlformats.org/drawingml/2006/main">
            <a:r>
              <a:t>확인할 결과: 표본 평균·표준편차, t·자유도·p값, 모집단 평균 95% 신뢰구간 및 추론</a:t>
            </a:r>
          </a:p>
          <a:p xmlns:a="http://schemas.openxmlformats.org/drawingml/2006/main">
            <a:r>
              <a:t>관련 파일: t검정_단일표본_심폐기준비교.py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첫 측정 BMI 삼분위의 낮음·높음 집단, STRENGTH</a:t>
            </a:r>
          </a:p>
          <a:p xmlns:a="http://schemas.openxmlformats.org/drawingml/2006/main">
            <a:r>
              <a:t>분석 단위·방법: 양측 독립표본 t검정. Levene p≥0.05이면 Student, 미만이면 Welch(α=0.05)</a:t>
            </a:r>
          </a:p>
          <a:p xmlns:a="http://schemas.openxmlformats.org/drawingml/2006/main">
            <a:r>
              <a:t>확인할 결과: 집단별 표본 평균·인원, 평균차·t·자유도·p값, 모집단 평균 차이 95% 신뢰구간 및 추론</a:t>
            </a:r>
          </a:p>
          <a:p xmlns:a="http://schemas.openxmlformats.org/drawingml/2006/main">
            <a:r>
              <a:t>관련 파일: t검정_독립표본_BMI별근력비교.py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운동명, 처방유형번호, MESURE_ID, 실제 처방 기록</a:t>
            </a:r>
          </a:p>
          <a:p xmlns:a="http://schemas.openxmlformats.org/drawingml/2006/main">
            <a:r>
              <a:t>분석 단위·방법: 같은 측정번호는 1건. 운동별 포함 측정 수·포함률·공동 순위, 상위 10개 중 하나 이상 포함된 측정 비율, 처방 기록 없는 등록 운동 확인</a:t>
            </a:r>
          </a:p>
          <a:p xmlns:a="http://schemas.openxmlformats.org/drawingml/2006/main">
            <a:r>
              <a:t>확인할 결과: 운동목록·측정 기준 순위·포함률·그래프·CSV</a:t>
            </a:r>
          </a:p>
          <a:p xmlns:a="http://schemas.openxmlformats.org/drawingml/2006/main">
            <a:r>
              <a:t>관련 파일: 운동_처방현황분석.py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88d2b3ee154f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dda867c924a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7fc9e76864c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0a7e16fc34c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cf3806c3646b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1caa1082fa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A8D81C-40F9-4BF6-A097-9515BC0843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ACA499-ED8A-4480-8310-6389805D3C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4BE412-7252-466C-A445-2D4D045D6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9D0C35-87F3-40AF-AA83-CF4EF9051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C578B9E-BFE4-4345-B628-96EC954B90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49C299-8234-462A-AB55-449584B72E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5AA043-319C-4B70-B663-8CE9CD811C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77F7AA-44FE-4A29-B7E3-F57B1A9277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ACD76A-C7B9-4AA2-8FC9-E69F79849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E2620F8-3D26-4B0E-8D6E-EAFC285E2E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820136b4ce44b2" /><Relationship Type="http://schemas.openxmlformats.org/officeDocument/2006/relationships/slideLayout" Target="/ppt/slideLayouts/slideLayout1.xml" Id="R88a2f46784e64747" /><Relationship Type="http://schemas.openxmlformats.org/officeDocument/2006/relationships/slideLayout" Target="/ppt/slideLayouts/slideLayout2.xml" Id="R3972799d67b54672" /><Relationship Type="http://schemas.openxmlformats.org/officeDocument/2006/relationships/slideLayout" Target="/ppt/slideLayouts/slideLayout3.xml" Id="R6ec6a364bf6148d3" /><Relationship Type="http://schemas.openxmlformats.org/officeDocument/2006/relationships/slideLayout" Target="/ppt/slideLayouts/slideLayout4.xml" Id="R48a11ed328ab4012" /><Relationship Type="http://schemas.openxmlformats.org/officeDocument/2006/relationships/slideLayout" Target="/ppt/slideLayouts/slideLayout5.xml" Id="R6eb1c49698544663" /><Relationship Type="http://schemas.openxmlformats.org/officeDocument/2006/relationships/slideLayout" Target="/ppt/slideLayouts/slideLayout6.xml" Id="Rcf322a873bec4d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a2f46784e64747"/>
    <p:sldLayoutId xmlns:r="http://schemas.openxmlformats.org/officeDocument/2006/relationships" id="2147483650" r:id="R3972799d67b54672"/>
    <p:sldLayoutId xmlns:r="http://schemas.openxmlformats.org/officeDocument/2006/relationships" id="2147483651" r:id="R6ec6a364bf6148d3"/>
    <p:sldLayoutId xmlns:r="http://schemas.openxmlformats.org/officeDocument/2006/relationships" id="2147483652" r:id="R48a11ed328ab4012"/>
    <p:sldLayoutId xmlns:r="http://schemas.openxmlformats.org/officeDocument/2006/relationships" id="2147483653" r:id="R6eb1c49698544663"/>
    <p:sldLayoutId xmlns:r="http://schemas.openxmlformats.org/officeDocument/2006/relationships" id="2147483654" r:id="Rcf322a873bec4d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0247269c44442e" /><Relationship Type="http://schemas.openxmlformats.org/officeDocument/2006/relationships/notesSlide" Target="/ppt/notesSlides/notesSlide1.xml" Id="R4dfb6bd2f12e4d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a69b98cb14af2" /><Relationship Type="http://schemas.openxmlformats.org/officeDocument/2006/relationships/notesSlide" Target="/ppt/notesSlides/notesSlide2.xml" Id="Raa6a38a3aed642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d67b7ab8fc464a" /><Relationship Type="http://schemas.openxmlformats.org/officeDocument/2006/relationships/notesSlide" Target="/ppt/notesSlides/notesSlide3.xml" Id="Ra1406244753241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a5dfeaca34cc3" /><Relationship Type="http://schemas.openxmlformats.org/officeDocument/2006/relationships/notesSlide" Target="/ppt/notesSlides/notesSlide4.xml" Id="R328a32fb057b4b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a704f2fe24f63" /><Relationship Type="http://schemas.openxmlformats.org/officeDocument/2006/relationships/notesSlide" Target="/ppt/notesSlides/notesSlide5.xml" Id="Rc3aca2acf18446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bd546442b46e4" /><Relationship Type="http://schemas.openxmlformats.org/officeDocument/2006/relationships/notesSlide" Target="/ppt/notesSlides/notesSlide6.xml" Id="R53ab28534c6746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7890684e924ecd" /><Relationship Type="http://schemas.openxmlformats.org/officeDocument/2006/relationships/notesSlide" Target="/ppt/notesSlides/notesSlide7.xml" Id="R64392ac60d104c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7d15a4e9e432c" /><Relationship Type="http://schemas.openxmlformats.org/officeDocument/2006/relationships/notesSlide" Target="/ppt/notesSlides/notesSlide8.xml" Id="Rc0a6cd64d4b540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1de8dda1d4732" /><Relationship Type="http://schemas.openxmlformats.org/officeDocument/2006/relationships/notesSlide" Target="/ppt/notesSlides/notesSlide9.xml" Id="R94ac23aa27574c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7991cc6d046ee" /><Relationship Type="http://schemas.openxmlformats.org/officeDocument/2006/relationships/notesSlide" Target="/ppt/notesSlides/notesSlide10.xml" Id="Reee47ad160e546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c5757c02244382" /><Relationship Type="http://schemas.openxmlformats.org/officeDocument/2006/relationships/notesSlide" Target="/ppt/notesSlides/notesSlide11.xml" Id="R7ff9e96743ab44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116c33eb89482c" /><Relationship Type="http://schemas.openxmlformats.org/officeDocument/2006/relationships/notesSlide" Target="/ppt/notesSlides/notesSlide12.xml" Id="R3580a4d6f8cd42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c221f536b24333" /><Relationship Type="http://schemas.openxmlformats.org/officeDocument/2006/relationships/notesSlide" Target="/ppt/notesSlides/notesSlide13.xml" Id="R32e1d843b9bb48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c51647c9ba426c" /><Relationship Type="http://schemas.openxmlformats.org/officeDocument/2006/relationships/notesSlide" Target="/ppt/notesSlides/notesSlide14.xml" Id="R03634486843a4f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3e02a05214f59" /><Relationship Type="http://schemas.openxmlformats.org/officeDocument/2006/relationships/notesSlide" Target="/ppt/notesSlides/notesSlide15.xml" Id="R7c864715094145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a389658624169" /><Relationship Type="http://schemas.openxmlformats.org/officeDocument/2006/relationships/notesSlide" Target="/ppt/notesSlides/notesSlide16.xml" Id="Ra318f89a726b4c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3d94dd40d34b66" /><Relationship Type="http://schemas.openxmlformats.org/officeDocument/2006/relationships/notesSlide" Target="/ppt/notesSlides/notesSlide17.xml" Id="R9e16438a08544d0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fd55b1a1494376" /><Relationship Type="http://schemas.openxmlformats.org/officeDocument/2006/relationships/notesSlide" Target="/ppt/notesSlides/notesSlide18.xml" Id="R45e2f8b8b67343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f89353b8b403c" /><Relationship Type="http://schemas.openxmlformats.org/officeDocument/2006/relationships/notesSlide" Target="/ppt/notesSlides/notesSlide19.xml" Id="Rbb9df9de0b934b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9db27be26b4d34" /><Relationship Type="http://schemas.openxmlformats.org/officeDocument/2006/relationships/notesSlide" Target="/ppt/notesSlides/notesSlide20.xml" Id="R8f95cfa66ff248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6B564-E4FC-4202-A5A1-9DEFB921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장병 체력 측정 데이터 분석계획표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0DC00-DB9B-4916-BC8F-FE2AF829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3707F-691F-4091-9BC0-516C867C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39EF9-FB10-4B1D-83A2-6626D5E0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장병 체력 측정 데이터</a:t>
            </a:r>
          </a:p>
          <a:p xmlns:a="http://schemas.openxmlformats.org/drawingml/2006/main">
            <a: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분석계획표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3927F-D771-4573-B117-C47A085E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작성자 우주연</a:t>
            </a:r>
          </a:p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작성일 2026-10-21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C9C64-ABFF-4DD7-8752-CF27447B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분석계획 19개 항목</a:t>
            </a:r>
          </a:p>
        </p:txBody>
      </p:sp>
    </p:spTree>
    <p:extLst>
      <p:ext uri="{BB962C8B-B14F-4D97-AF65-F5344CB8AC3E}">
        <p14:creationId xmlns:p14="http://schemas.microsoft.com/office/powerpoint/2010/main" val="332031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1393F-9745-4637-8B4E-14DD6C32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  분석 가능한 대상자와 결측 현황은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FAEA8-3C0D-41DD-BCAB-A065E5C1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5A65C-0E01-4CE5-9B9A-4CD72337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C3E60-8467-42A5-9838-1ECBC54CC653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M_CODE, MESURE_DE, 체력 4종목, 측정 건수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장병별 기록 수, 중복·결측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고유 대상자 수, 3회 기록 여부, 종목별 판정불가 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check_분석데이터.py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110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75C3D2-7CBA-431A-8A71-E694B150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2  연령별 인원과 측정값 분포는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0095E-3A70-4E55-A025-69052EA4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91002-761E-443A-9E70-88CC33A1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34AB9-C250-4964-92F4-0E9955289256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AGE, 체력 4종목, HEIGHT, WEIGHT, BMI, BODY_FAT_PERCENTAGE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측정, 연령별 기술통계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인원·구성비·평균·표본 표준편차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분석_연령별.py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151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B6081-A38C-492E-8833-891B2369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3  BMI 그룹별 인원과 측정값 분포는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F1345-ED7D-45AD-A462-2B7822A8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4D227-5099-4F55-912D-69851C8E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F5085-C17A-4B83-BC20-AD1D1756E1FB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 BMI, BMI 그룹, 체력·신체 측정값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측정, BMI 삼분위 그룹별 기술통계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구간 경계, 그룹 인원, 평균·표준편차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분석_bmi별.py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0040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8AE0F-658F-4D39-AFAF-13620253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4  연령별 체력 평균에 차이가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10DDE-5B7A-4BCC-95FC-0EB0F70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ECDD1-250E-446B-87CA-3691DBA4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69C9F-72A9-46BC-A398-2D6C52E4A9FD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요인: AGE 6집단, 종속변수: 체력 각 종목의 연속 측정값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Levene 검정 후 일반 또는 Welch 일원분산분석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검정, F·p값, η², 유의한 경우 연령 15쌍 사후검정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아노바_연령.py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73698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600F6F-4990-4545-A493-828BA4BF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5  BMI 그룹별 체력 평균에 차이가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B3F85-7824-495B-A89D-C495CF3E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AEEAB-56AE-4D8C-9272-52DA948C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89592-47BA-41AC-A821-9C1783C4C0AF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요인: BMI 3집단, 종속변수: 체력 각 종목의 연속 측정값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Levene 검정 후 일반 또는 Welch 일원분산분석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p값, η², 유의한 경우 BMI 3쌍 사후검정·평균차·신뢰구간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아노바_bmi.py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5853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2EACB-70A8-4D53-AE8E-5E0954E4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6  연령과 종목별 미달 여부가 관련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78298-4CCE-4A2B-928E-EEE109C8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7092B-6C63-45E6-9917-12CA1363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3FCD5-7FD6-4D5A-90FB-9E8778657AA8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AGE, 종목별 미달·충족 범주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측정, 종목별 6×2 교차표와 카이제곱 독립성 검정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관측·기대빈도, χ², 자유도, Holm 보정 p값, Cramér’s 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카이제곱_연령별미달여부.py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315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74E34-A9A7-4005-A349-61026D1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7  BMI 그룹과 종목별 미달 여부가 관련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22659-5805-4A76-8D22-A947BECA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61026-F974-4F6A-9970-11CD25D5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DB69A-642A-4E4C-8071-AE123B2FA1EB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BMI 3집단, 종목별 미달·충족 범주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측정, 종목별 3×2 교차표와 카이제곱 독립성 검정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그룹별 미달률, χ², Holm 보정 p값, Cramér’s 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카이제곱_bmi별미달여부.py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9664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BF8AA-ACE1-49A1-B0A3-816A97F9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8  이전 회차 측정값이 높은 사람이 다음 회차에도 높은가?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E207C-1CAF-43AB-B591-554F04E0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A8165-40CB-4DAD-9191-3A72EF2E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66C9F-93D3-4BBD-9FF9-E7895E3F3289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M_CODE, round, 각 종목의 회차별 측정값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장병별 짝 자료, Pearson·Spearman 상관분석. 1↔2·2↔3·1↔3차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4종목×3쌍의 상관계수·원 p값·표본 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체력측정회차별상관분석.py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0325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D12E-9440-4565-8FA5-A69E5871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9  종목별 미달 인원과 비율이 회차별로 어떻게 달라지는가?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17AC4-253D-471D-9BE2-87F5E8B2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37644-F44E-4351-BD74-04F48AB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FE48E-DE29-4FFE-B974-11B9B0A43C91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미달 여부, 회차, 장병 식별자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동일 완전측정 대상자 비교가 기본. 인원·미달률·변동률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회차별 인원, 미달률, 1→2·2→3·1→3차 인원 변동률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종목별체력미달자_회차별변화율.py 및 회차중심·누적막대 버전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4602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A315F-5E75-42B9-BC39-D95054E1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10  여러 종목에서 미달한 위험 장병은 얼마나 되는가?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DDA07-1343-4538-B5EF-B3603185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35C85-97E0-4892-9270-BD305832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033B7-0B70-40E8-94BD-C70AA6DC47BA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회차별 미달 종목 수 0~4개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정확히 2·3·4개 미달 및 2개 이상 미달 인원·비율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회차별 위험 규모, 변동률, 해당 장병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위험장병식별.py 및 변동률 버전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3634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8029A-C4D6-45B8-96B9-9F0CA264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11  전체 미달 현황과 개인의 상태 변화는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31930-7902-44FE-A327-1B2EB35F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74DD1-2B55-4AF8-9096-8CDDC2B7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C51F3-7606-4310-BBC8-10085F36161F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회차별 미달 수, 정상·취약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기준인 1개 이상 미달을 취약으로 집계. 1차 대비 3차 미달 수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개선·악화·유지, 현재 취약, 지속 취약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장병체력미달판정_3회비교.py, 장병체력미달현황_회차별변화.py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93841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D3E2F-5346-4714-9757-43E6D182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12  1·2차 상태 조합에 따라 실제 3차 통과율이 다른가?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620D2-6F09-469F-9C0C-A6830DB1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4EC7A-C140-4DDC-AD30-85D32F34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A11D4-9097-4CC8-BD12-31DA4EC48DA7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1·2차 상태코드, 3차 상태코드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00·01·10·11 상위 4그룹의 관측 통과율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그룹별 통과·미통과·판정불가 인원 및 통과율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3차통과율_체력상태조합별.py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945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9EB62-4372-4336-AEB0-1B80A50F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13  상위그룹을 세분화하면 각 하위그룹의 통과율은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6F30B-0C20-4BE2-93DA-DDCDC78B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FF72A-7E5E-4F2B-862F-7D7E7297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C9A02-3701-441E-AD99-999F7AECFB14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1·2차 미달 종목 수, 3차 통과 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(0,0)~(4,4) 25개 하위그룹별 관측 통과율과 개인별 비율 연결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하위그룹 자체 통과율, 그룹 인원, 장병별 적용 비율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3차통과율_하위그룹_체력상태조합별.py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5238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97AED-2199-45F1-98B1-9864BDE1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14  1·2차 미달 수로 개인의 3차 통과확률을 예측할 수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14C27-5A41-4C3E-AD2B-2AC989F4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AEC52-3713-4DD7-984A-29EB161F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18223-F86A-4896-AF65-A4DD69DF9E0D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입력: 1·2차 미달 수, 목표: 3차 통과 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로지스틱 회귀(C=1), 최대 5분할 층화 교차검증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개인별 확률, 회귀계수·오즈비, 검증 ROC_AUC·Brier·LogLoss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3차통과율_로지스틱회귀예측.py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905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2E36B4-869A-4D03-AC86-E5545A67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15  같은 체력 종목에서 세 회차 모두 미달한 장병은 얼마나 되는가?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E67A7-D0E2-4D02-A2AD-99715BFD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0ADCA-7C47-4B8A-BC14-EF873AF9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73080-5F6C-438A-B926-EB3550DB053C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M_CODE, round, strength_risk, endurance_risk, cardio_risk, flexibility_risk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 회차 네 종목 모두 판정 가능한 장병에서 종목별 1·2·3차 미달 여부를 연결. 동일 종목 지속 미달 및 하나 이상 해당하는 장병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지속 미달 인원, 동일 종목 지속 미달 고유 인원·비율, 개인별 CSV·HTML 시각화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동일종목_지속미달분석.py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11102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D794E-65A4-470C-99B1-B4183CAA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16  부족체력과 운동처방의 관련성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AA824-9442-47C2-9BBF-FCBE8D2C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3508-E310-4ADA-A2B9-D80DDC85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4E6FB-F474-42A0-BAAC-14AB5D472AD5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측정의 종목별 미달·충족 여부, 운동별 처방 유무, M_CODE, MESURE_ID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미달정보 CSV 생성 후 처방과 연결. 2×2 카이제곱 또는 희소 시 Fisher 정확검정, Phi·Holm 보정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부족한 체력요소에 따라 어떤 운동이 더 자주 처방되는지 확인. 집단별 처방률·차이(%p), 관련성 크기·유의성, 비교 막대·히트맵·산점도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운동_체력미달여부별처방관련성.py, 운동_체력미달정보생성.py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017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F8CFE-3C32-462E-9F1A-BF24F96C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17  모집단의 심폐 평균은 기준값 42와 다른가?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27177-5B5C-4AF0-A7C1-7CB373D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74996-0523-448C-BDE4-616D1636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C67D3-DBED-47A1-86D3-52940F715711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 CARDIO, 비교 기준평균 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장병별 첫 측정, 양측 단일표본 t검정(α=0.05)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평균·표준편차, t·자유도·p값, 모집단 평균 95% 신뢰구간 및 추론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t검정_단일표본_심폐기준비교.py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7488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FEEC7-F38F-4656-A610-E0FCE0CF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18  BMI 낮음·높음 집단의 모집단 근력 평균은 다른가?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3AC99-602F-4069-B5E5-AC5B0538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60D07-14DD-4135-893D-8010350E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82F77-59CA-4477-AD50-C612AACA1E59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 BMI 삼분위의 낮음·높음 집단, STRENGTH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양측 독립표본 t검정. Levene p≥0.05이면 Student, 미만이면 Welch(α=0.05)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집단별 표본 평균·인원, 평균차·t·자유도·p값, 모집단 평균 차이 95% 신뢰구간 및 추론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t검정_독립표본_BMI별근력비교.py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4232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94124-976C-4428-BA71-63FDCF59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19  어떤 운동이 많이 처방됐을까? · 측정별 운동처방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F0DE0-C5EC-4ED1-BA6E-5D11FB9B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C2C40-0985-4D08-9458-B9ABFDB9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E3B50-3C05-431E-A5D3-3B2612B2E970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운동명, 처방유형번호, MESURE_ID, 실제 처방 기록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측정번호는 1건. 운동별 포함 측정 수·포함률·공동 순위, 상위 10개 중 하나 이상 포함된 측정 비율, 처방 기록 없는 등록 운동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운동목록·측정 기준 순위·포함률·그래프·CSV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운동_처방현황분석.py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413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2026-10-21T07:13:11.7440000Z</dcterms:created>
  <dcterms:modified xsi:type="dcterms:W3CDTF">2026-10-21T07:13:11.7440000Z</dcterms:modified>
</coreProperties>
</file>