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9dc4d5f5324236" /><Relationship Type="http://schemas.openxmlformats.org/officeDocument/2006/relationships/extended-properties" Target="/docProps/app.xml" Id="R007fd35f686540f5" /><Relationship Type="http://schemas.openxmlformats.org/officeDocument/2006/relationships/officeDocument" Target="/ppt/presentation.xml" Id="R5fd3d4235b804e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387bff78141b5"/>
  </p:sldMasterIdLst>
  <p:notesMasterIdLst>
    <p:notesMasterId xmlns:r="http://schemas.openxmlformats.org/officeDocument/2006/relationships" r:id="Ra8a3c546fbca4e65"/>
  </p:notesMasterIdLst>
  <p:sldIdLst>
    <p:sldId xmlns:r="http://schemas.openxmlformats.org/officeDocument/2006/relationships" id="256" r:id="Re9ead06694f14189"/>
    <p:sldId xmlns:r="http://schemas.openxmlformats.org/officeDocument/2006/relationships" id="257" r:id="R4a34ef3ff8504e45"/>
    <p:sldId xmlns:r="http://schemas.openxmlformats.org/officeDocument/2006/relationships" id="258" r:id="Rf0c9036340dc4654"/>
    <p:sldId xmlns:r="http://schemas.openxmlformats.org/officeDocument/2006/relationships" id="259" r:id="Rfaf79635f3d84da5"/>
    <p:sldId xmlns:r="http://schemas.openxmlformats.org/officeDocument/2006/relationships" id="260" r:id="Rc8438733be0f4787"/>
    <p:sldId xmlns:r="http://schemas.openxmlformats.org/officeDocument/2006/relationships" id="261" r:id="Rab9f66eb5d0c4b2f"/>
    <p:sldId xmlns:r="http://schemas.openxmlformats.org/officeDocument/2006/relationships" id="262" r:id="R900de21433f940f7"/>
    <p:sldId xmlns:r="http://schemas.openxmlformats.org/officeDocument/2006/relationships" id="263" r:id="R3bd6dc65b91c4cee"/>
    <p:sldId xmlns:r="http://schemas.openxmlformats.org/officeDocument/2006/relationships" id="264" r:id="R4381ef3b4a5f46ec"/>
    <p:sldId xmlns:r="http://schemas.openxmlformats.org/officeDocument/2006/relationships" id="265" r:id="R4a91c8a22bef4c45"/>
    <p:sldId xmlns:r="http://schemas.openxmlformats.org/officeDocument/2006/relationships" id="266" r:id="R2bb9a107e72b4d15"/>
    <p:sldId xmlns:r="http://schemas.openxmlformats.org/officeDocument/2006/relationships" id="267" r:id="Rc0c072ff437c4d61"/>
    <p:sldId xmlns:r="http://schemas.openxmlformats.org/officeDocument/2006/relationships" id="268" r:id="R0e2d18b590e74791"/>
    <p:sldId xmlns:r="http://schemas.openxmlformats.org/officeDocument/2006/relationships" id="269" r:id="R2677cd3a0fcb44ac"/>
    <p:sldId xmlns:r="http://schemas.openxmlformats.org/officeDocument/2006/relationships" id="270" r:id="R201ae835a114462b"/>
    <p:sldId xmlns:r="http://schemas.openxmlformats.org/officeDocument/2006/relationships" id="271" r:id="Rbf542288600d47d1"/>
    <p:sldId xmlns:r="http://schemas.openxmlformats.org/officeDocument/2006/relationships" id="272" r:id="Rc968814c8d7e42db"/>
    <p:sldId xmlns:r="http://schemas.openxmlformats.org/officeDocument/2006/relationships" id="273" r:id="Rd83472893f0148fa"/>
    <p:sldId xmlns:r="http://schemas.openxmlformats.org/officeDocument/2006/relationships" id="274" r:id="R0b2d84fea5e34d2b"/>
    <p:sldId xmlns:r="http://schemas.openxmlformats.org/officeDocument/2006/relationships" id="275" r:id="R20026d52fa564d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a4738c34dd4e0b" /><Relationship Type="http://schemas.openxmlformats.org/officeDocument/2006/relationships/slideMaster" Target="/ppt/slideMasters/slideMaster1.xml" Id="Ra76387bff78141b5" /><Relationship Type="http://schemas.openxmlformats.org/officeDocument/2006/relationships/notesMaster" Target="/ppt/notesMasters/notesMaster1.xml" Id="Ra8a3c546fbca4e65" /><Relationship Type="http://schemas.openxmlformats.org/officeDocument/2006/relationships/presProps" Target="/ppt/presProps.xml" Id="R9e4cea4961d24832" /><Relationship Type="http://schemas.openxmlformats.org/officeDocument/2006/relationships/tableStyles" Target="/ppt/tableStyles.xml" Id="Ra3c23b2caf494c8f" /><Relationship Type="http://schemas.openxmlformats.org/officeDocument/2006/relationships/slide" Target="/ppt/slides/slide1.xml" Id="Re9ead06694f14189" /><Relationship Type="http://schemas.openxmlformats.org/officeDocument/2006/relationships/slide" Target="/ppt/slides/slide2.xml" Id="R4a34ef3ff8504e45" /><Relationship Type="http://schemas.openxmlformats.org/officeDocument/2006/relationships/slide" Target="/ppt/slides/slide3.xml" Id="Rf0c9036340dc4654" /><Relationship Type="http://schemas.openxmlformats.org/officeDocument/2006/relationships/slide" Target="/ppt/slides/slide4.xml" Id="Rfaf79635f3d84da5" /><Relationship Type="http://schemas.openxmlformats.org/officeDocument/2006/relationships/slide" Target="/ppt/slides/slide5.xml" Id="Rc8438733be0f4787" /><Relationship Type="http://schemas.openxmlformats.org/officeDocument/2006/relationships/slide" Target="/ppt/slides/slide6.xml" Id="Rab9f66eb5d0c4b2f" /><Relationship Type="http://schemas.openxmlformats.org/officeDocument/2006/relationships/slide" Target="/ppt/slides/slide7.xml" Id="R900de21433f940f7" /><Relationship Type="http://schemas.openxmlformats.org/officeDocument/2006/relationships/slide" Target="/ppt/slides/slide8.xml" Id="R3bd6dc65b91c4cee" /><Relationship Type="http://schemas.openxmlformats.org/officeDocument/2006/relationships/slide" Target="/ppt/slides/slide9.xml" Id="R4381ef3b4a5f46ec" /><Relationship Type="http://schemas.openxmlformats.org/officeDocument/2006/relationships/slide" Target="/ppt/slides/slide10.xml" Id="R4a91c8a22bef4c45" /><Relationship Type="http://schemas.openxmlformats.org/officeDocument/2006/relationships/slide" Target="/ppt/slides/slide11.xml" Id="R2bb9a107e72b4d15" /><Relationship Type="http://schemas.openxmlformats.org/officeDocument/2006/relationships/slide" Target="/ppt/slides/slide12.xml" Id="Rc0c072ff437c4d61" /><Relationship Type="http://schemas.openxmlformats.org/officeDocument/2006/relationships/slide" Target="/ppt/slides/slide13.xml" Id="R0e2d18b590e74791" /><Relationship Type="http://schemas.openxmlformats.org/officeDocument/2006/relationships/slide" Target="/ppt/slides/slide14.xml" Id="R2677cd3a0fcb44ac" /><Relationship Type="http://schemas.openxmlformats.org/officeDocument/2006/relationships/slide" Target="/ppt/slides/slide15.xml" Id="R201ae835a114462b" /><Relationship Type="http://schemas.openxmlformats.org/officeDocument/2006/relationships/slide" Target="/ppt/slides/slide16.xml" Id="Rbf542288600d47d1" /><Relationship Type="http://schemas.openxmlformats.org/officeDocument/2006/relationships/slide" Target="/ppt/slides/slide17.xml" Id="Rc968814c8d7e42db" /><Relationship Type="http://schemas.openxmlformats.org/officeDocument/2006/relationships/slide" Target="/ppt/slides/slide18.xml" Id="Rd83472893f0148fa" /><Relationship Type="http://schemas.openxmlformats.org/officeDocument/2006/relationships/slide" Target="/ppt/slides/slide19.xml" Id="R0b2d84fea5e34d2b" /><Relationship Type="http://schemas.openxmlformats.org/officeDocument/2006/relationships/slide" Target="/ppt/slides/slide20.xml" Id="R20026d52fa564d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1a7206987543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28573ce49148d1" /><Relationship Type="http://schemas.openxmlformats.org/officeDocument/2006/relationships/notesMaster" Target="/ppt/notesMasters/notesMaster1.xml" Id="Ree16641db8b24d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b6851fa22c42d9" /><Relationship Type="http://schemas.openxmlformats.org/officeDocument/2006/relationships/notesMaster" Target="/ppt/notesMasters/notesMaster1.xml" Id="R16cc51cfef8d4d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f047b467094ca2" /><Relationship Type="http://schemas.openxmlformats.org/officeDocument/2006/relationships/notesMaster" Target="/ppt/notesMasters/notesMaster1.xml" Id="R28c89f984e7e41d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f6b83a6042447d" /><Relationship Type="http://schemas.openxmlformats.org/officeDocument/2006/relationships/notesMaster" Target="/ppt/notesMasters/notesMaster1.xml" Id="R2244f404d7c747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2efc3783724285" /><Relationship Type="http://schemas.openxmlformats.org/officeDocument/2006/relationships/notesMaster" Target="/ppt/notesMasters/notesMaster1.xml" Id="Rc71d558c7b7b4c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86ce9033714c57" /><Relationship Type="http://schemas.openxmlformats.org/officeDocument/2006/relationships/notesMaster" Target="/ppt/notesMasters/notesMaster1.xml" Id="R7efe94c3ca4b48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da5362d01c49ec" /><Relationship Type="http://schemas.openxmlformats.org/officeDocument/2006/relationships/notesMaster" Target="/ppt/notesMasters/notesMaster1.xml" Id="R2be4d41754b64b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84bec7e9b284823" /><Relationship Type="http://schemas.openxmlformats.org/officeDocument/2006/relationships/notesMaster" Target="/ppt/notesMasters/notesMaster1.xml" Id="R2d29218d8b504a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5e9055b7da42cc" /><Relationship Type="http://schemas.openxmlformats.org/officeDocument/2006/relationships/notesMaster" Target="/ppt/notesMasters/notesMaster1.xml" Id="R87bf686bad794a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e01fa81d2e45ca" /><Relationship Type="http://schemas.openxmlformats.org/officeDocument/2006/relationships/notesMaster" Target="/ppt/notesMasters/notesMaster1.xml" Id="R20eb731e39324c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ee9bf4193f42dc" /><Relationship Type="http://schemas.openxmlformats.org/officeDocument/2006/relationships/notesMaster" Target="/ppt/notesMasters/notesMaster1.xml" Id="Rfeb022902f3742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2bf1b799e194f40" /><Relationship Type="http://schemas.openxmlformats.org/officeDocument/2006/relationships/notesMaster" Target="/ppt/notesMasters/notesMaster1.xml" Id="Rd52a48753158480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61bb836f1d4064" /><Relationship Type="http://schemas.openxmlformats.org/officeDocument/2006/relationships/notesMaster" Target="/ppt/notesMasters/notesMaster1.xml" Id="R2c0d5005405b4c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351ec0d8344e89" /><Relationship Type="http://schemas.openxmlformats.org/officeDocument/2006/relationships/notesMaster" Target="/ppt/notesMasters/notesMaster1.xml" Id="R27b229b5461942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fae837b8dbf43cf" /><Relationship Type="http://schemas.openxmlformats.org/officeDocument/2006/relationships/notesMaster" Target="/ppt/notesMasters/notesMaster1.xml" Id="Rcf1e989896cc428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9c3e1c4477745a2" /><Relationship Type="http://schemas.openxmlformats.org/officeDocument/2006/relationships/notesMaster" Target="/ppt/notesMasters/notesMaster1.xml" Id="R65360ae9416446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ec14deda7544c1" /><Relationship Type="http://schemas.openxmlformats.org/officeDocument/2006/relationships/notesMaster" Target="/ppt/notesMasters/notesMaster1.xml" Id="Rfca3cb6407794b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fadb44b76d4223" /><Relationship Type="http://schemas.openxmlformats.org/officeDocument/2006/relationships/notesMaster" Target="/ppt/notesMasters/notesMaster1.xml" Id="Rc5cb865309a849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6f8ce97f4324652" /><Relationship Type="http://schemas.openxmlformats.org/officeDocument/2006/relationships/notesMaster" Target="/ppt/notesMasters/notesMaster1.xml" Id="R639219014dfc43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f0ca5061d354e14" /><Relationship Type="http://schemas.openxmlformats.org/officeDocument/2006/relationships/notesMaster" Target="/ppt/notesMasters/notesMaster1.xml" Id="Rc9bb06bfa6d646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M_CODE, MESURE_DE, 체력 4종목, 측정 건수</a:t>
            </a:r>
          </a:p>
          <a:p xmlns:a="http://schemas.openxmlformats.org/drawingml/2006/main">
            <a:r>
              <a:t>분석 단위·방법: 장병별 기록 수, 중복·결측 확인 (현재 상태 확인 목적)</a:t>
            </a:r>
          </a:p>
          <a:p xmlns:a="http://schemas.openxmlformats.org/drawingml/2006/main">
            <a:r>
              <a:t>확인할 결과: 고유 대상자 수, 3회 기록 여부, 종목별 판정불가 수</a:t>
            </a:r>
          </a:p>
          <a:p xmlns:a="http://schemas.openxmlformats.org/drawingml/2006/main">
            <a:r>
              <a:t>관련 파일: check_분석데이터.py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AGE, 체력 4종목, HEIGHT, WEIGHT, BMI, BODY_FAT_PERCENTAGE</a:t>
            </a:r>
          </a:p>
          <a:p xmlns:a="http://schemas.openxmlformats.org/drawingml/2006/main">
            <a:r>
              <a:t>분석 단위·방법: 첫 측정, 연령별 기술통계</a:t>
            </a:r>
          </a:p>
          <a:p xmlns:a="http://schemas.openxmlformats.org/drawingml/2006/main">
            <a:r>
              <a:t>확인할 결과: 인원·구성비·평균·표본 표준편차</a:t>
            </a:r>
          </a:p>
          <a:p xmlns:a="http://schemas.openxmlformats.org/drawingml/2006/main">
            <a:r>
              <a:t>관련 파일: 분석_연령별.py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첫 측정 BMI, BMI 그룹, 체력·신체 측정값</a:t>
            </a:r>
          </a:p>
          <a:p xmlns:a="http://schemas.openxmlformats.org/drawingml/2006/main">
            <a:r>
              <a:t>분석 단위·방법: 첫 측정, BMI 삼분위 그룹별 기술통계</a:t>
            </a:r>
          </a:p>
          <a:p xmlns:a="http://schemas.openxmlformats.org/drawingml/2006/main">
            <a:r>
              <a:t>확인할 결과: 구간 경계, 그룹 인원, 평균·표준편차</a:t>
            </a:r>
          </a:p>
          <a:p xmlns:a="http://schemas.openxmlformats.org/drawingml/2006/main">
            <a:r>
              <a:t>관련 파일: 분석_bmi별.py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요인: AGE 6집단, 종속변수: 체력 각 종목의 연속 측정값</a:t>
            </a:r>
          </a:p>
          <a:p xmlns:a="http://schemas.openxmlformats.org/drawingml/2006/main">
            <a:r>
              <a:t>분석 단위·방법: 종목별 Levene 검정 후 일반 또는 Welch 일원분산분석</a:t>
            </a:r>
          </a:p>
          <a:p xmlns:a="http://schemas.openxmlformats.org/drawingml/2006/main">
            <a:r>
              <a:t>확인할 결과: 적용 검정, F·p값, η², 유의한 경우 연령 15쌍 사후검정</a:t>
            </a:r>
          </a:p>
          <a:p xmlns:a="http://schemas.openxmlformats.org/drawingml/2006/main">
            <a:r>
              <a:t>관련 파일: 아노바_연령.py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요인: BMI 3집단, 종속변수: 체력 각 종목의 연속 측정값</a:t>
            </a:r>
          </a:p>
          <a:p xmlns:a="http://schemas.openxmlformats.org/drawingml/2006/main">
            <a:r>
              <a:t>분석 단위·방법: 종목별 Levene 검정 후 일반 또는 Welch 일원분산분석</a:t>
            </a:r>
          </a:p>
          <a:p xmlns:a="http://schemas.openxmlformats.org/drawingml/2006/main">
            <a:r>
              <a:t>확인할 결과: 적용 p값, η², 유의한 경우 BMI 3쌍 사후검정·평균차·신뢰구간</a:t>
            </a:r>
          </a:p>
          <a:p xmlns:a="http://schemas.openxmlformats.org/drawingml/2006/main">
            <a:r>
              <a:t>관련 파일: 아노바_bmi.py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AGE, 종목별 미달·충족 범주</a:t>
            </a:r>
          </a:p>
          <a:p xmlns:a="http://schemas.openxmlformats.org/drawingml/2006/main">
            <a:r>
              <a:t>분석 단위·방법: 첫 측정, 종목별 6×2 교차표와 카이제곱 독립성 검정</a:t>
            </a:r>
          </a:p>
          <a:p xmlns:a="http://schemas.openxmlformats.org/drawingml/2006/main">
            <a:r>
              <a:t>확인할 결과: 관측·기대빈도, χ², 자유도, Holm 보정 p값, Cramér’s V</a:t>
            </a:r>
          </a:p>
          <a:p xmlns:a="http://schemas.openxmlformats.org/drawingml/2006/main">
            <a:r>
              <a:t>관련 파일: 카이제곱_연령별미달여부.py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BMI 3집단, 종목별 미달·충족 범주</a:t>
            </a:r>
          </a:p>
          <a:p xmlns:a="http://schemas.openxmlformats.org/drawingml/2006/main">
            <a:r>
              <a:t>분석 단위·방법: 첫 측정, 종목별 3×2 교차표와 카이제곱 독립성 검정</a:t>
            </a:r>
          </a:p>
          <a:p xmlns:a="http://schemas.openxmlformats.org/drawingml/2006/main">
            <a:r>
              <a:t>확인할 결과: 그룹별 미달률, χ², Holm 보정 p값, Cramér’s V</a:t>
            </a:r>
          </a:p>
          <a:p xmlns:a="http://schemas.openxmlformats.org/drawingml/2006/main">
            <a:r>
              <a:t>관련 파일: 카이제곱_bmi별미달여부.py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M_CODE, round, 각 종목의 회차별 측정값</a:t>
            </a:r>
          </a:p>
          <a:p xmlns:a="http://schemas.openxmlformats.org/drawingml/2006/main">
            <a:r>
              <a:t>분석 단위·방법: 장병별 짝 자료, Pearson·Spearman 상관분석. 1↔2·2↔3·1↔3차</a:t>
            </a:r>
          </a:p>
          <a:p xmlns:a="http://schemas.openxmlformats.org/drawingml/2006/main">
            <a:r>
              <a:t>확인할 결과: 4종목×3쌍의 상관계수·원 p값·표본 수</a:t>
            </a:r>
          </a:p>
          <a:p xmlns:a="http://schemas.openxmlformats.org/drawingml/2006/main">
            <a:r>
              <a:t>관련 파일: 체력측정회차별상관분석.py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종목별 미달 여부, 회차, 장병 식별자</a:t>
            </a:r>
          </a:p>
          <a:p xmlns:a="http://schemas.openxmlformats.org/drawingml/2006/main">
            <a:r>
              <a:t>분석 단위·방법: 종목별 동일 완전측정 대상자 비교가 기본. 인원·미달률·변동률 집계</a:t>
            </a:r>
          </a:p>
          <a:p xmlns:a="http://schemas.openxmlformats.org/drawingml/2006/main">
            <a:r>
              <a:t>확인할 결과: 회차별 인원, 미달률, 1→2·2→3·1→3차 인원 변동률</a:t>
            </a:r>
          </a:p>
          <a:p xmlns:a="http://schemas.openxmlformats.org/drawingml/2006/main">
            <a:r>
              <a:t>관련 파일: 종목별체력미달자_회차별변화율.py 및 회차중심·누적막대 버전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회차별 미달 종목 수 0~4개</a:t>
            </a:r>
          </a:p>
          <a:p xmlns:a="http://schemas.openxmlformats.org/drawingml/2006/main">
            <a:r>
              <a:t>분석 단위·방법: 정확히 2·3·4개 미달 및 2개 이상 미달 인원·비율 집계</a:t>
            </a:r>
          </a:p>
          <a:p xmlns:a="http://schemas.openxmlformats.org/drawingml/2006/main">
            <a:r>
              <a:t>확인할 결과: 회차별 위험 규모, 변동률, 해당 장병 목록</a:t>
            </a:r>
          </a:p>
          <a:p xmlns:a="http://schemas.openxmlformats.org/drawingml/2006/main">
            <a:r>
              <a:t>관련 파일: 위험장병식별.py 및 변동률 버전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회차별 미달 수, 정상·취약 상태</a:t>
            </a:r>
          </a:p>
          <a:p xmlns:a="http://schemas.openxmlformats.org/drawingml/2006/main">
            <a:r>
              <a:t>분석 단위·방법: 기존 기준인 1개 이상 미달을 취약으로 집계. 1차 대비 3차 미달 수 비교</a:t>
            </a:r>
          </a:p>
          <a:p xmlns:a="http://schemas.openxmlformats.org/drawingml/2006/main">
            <a:r>
              <a:t>확인할 결과: 개선·악화·유지, 현재 취약, 지속 취약</a:t>
            </a:r>
          </a:p>
          <a:p xmlns:a="http://schemas.openxmlformats.org/drawingml/2006/main">
            <a:r>
              <a:t>관련 파일: 장병체력미달판정_3회비교.py, 장병체력미달현황_회차별변화.py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1·2차 상태코드, 3차 상태코드</a:t>
            </a:r>
          </a:p>
          <a:p xmlns:a="http://schemas.openxmlformats.org/drawingml/2006/main">
            <a:r>
              <a:t>분석 단위·방법: 00·01·10·11 상위 4그룹의 관측 통과율 집계</a:t>
            </a:r>
          </a:p>
          <a:p xmlns:a="http://schemas.openxmlformats.org/drawingml/2006/main">
            <a:r>
              <a:t>확인할 결과: 그룹별 통과·미통과·판정불가 인원 및 통과율</a:t>
            </a:r>
          </a:p>
          <a:p xmlns:a="http://schemas.openxmlformats.org/drawingml/2006/main">
            <a:r>
              <a:t>관련 파일: 3차통과율_체력상태조합별.py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1·2차 미달 종목 수, 3차 통과 여부</a:t>
            </a:r>
          </a:p>
          <a:p xmlns:a="http://schemas.openxmlformats.org/drawingml/2006/main">
            <a:r>
              <a:t>분석 단위·방법: (0,0)~(4,4) 25개 하위그룹별 관측 통과율과 개인별 비율 연결</a:t>
            </a:r>
          </a:p>
          <a:p xmlns:a="http://schemas.openxmlformats.org/drawingml/2006/main">
            <a:r>
              <a:t>확인할 결과: 하위그룹 자체 통과율, 그룹 인원, 장병별 적용 비율</a:t>
            </a:r>
          </a:p>
          <a:p xmlns:a="http://schemas.openxmlformats.org/drawingml/2006/main">
            <a:r>
              <a:t>관련 파일: 3차통과율_하위그룹_체력상태조합별.py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입력: 1·2차 미달 수, 목표: 3차 통과 여부</a:t>
            </a:r>
          </a:p>
          <a:p xmlns:a="http://schemas.openxmlformats.org/drawingml/2006/main">
            <a:r>
              <a:t>분석 단위·방법: L2 로지스틱 회귀(C=1), 최대 5분할 층화 교차검증</a:t>
            </a:r>
          </a:p>
          <a:p xmlns:a="http://schemas.openxmlformats.org/drawingml/2006/main">
            <a:r>
              <a:t>확인할 결과: 개인별 확률, 회귀계수·오즈비, 검증 ROC_AUC·Brier·LogLoss</a:t>
            </a:r>
          </a:p>
          <a:p xmlns:a="http://schemas.openxmlformats.org/drawingml/2006/main">
            <a:r>
              <a:t>관련 파일: 3차통과율_로지스틱회귀예측.py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M_CODE, round, strength_risk, endurance_risk, cardio_risk, flexibility_risk</a:t>
            </a:r>
          </a:p>
          <a:p xmlns:a="http://schemas.openxmlformats.org/drawingml/2006/main">
            <a:r>
              <a:t>분석 단위·방법: 세 회차 네 종목 모두 판정 가능한 장병에서 종목별 1·2·3차 미달 여부를 연결. 동일 종목 지속 미달 및 하나 이상 해당하는 장병 집계</a:t>
            </a:r>
          </a:p>
          <a:p xmlns:a="http://schemas.openxmlformats.org/drawingml/2006/main">
            <a:r>
              <a:t>확인할 결과: 종목별 지속 미달 인원, 동일 종목 지속 미달 고유 인원·비율, 개인별 CSV·HTML 시각화</a:t>
            </a:r>
          </a:p>
          <a:p xmlns:a="http://schemas.openxmlformats.org/drawingml/2006/main">
            <a:r>
              <a:t>관련 파일: 동일종목_지속미달분석.py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첫 측정의 종목별 미달·충족 여부, 운동별 처방 유무, M_CODE, MESURE_ID</a:t>
            </a:r>
          </a:p>
          <a:p xmlns:a="http://schemas.openxmlformats.org/drawingml/2006/main">
            <a:r>
              <a:t>분석 단위·방법: 별도 미달정보 CSV 생성 후 처방과 연결. 2×2 카이제곱 또는 희소 시 Fisher 정확검정, Phi·Holm 보정</a:t>
            </a:r>
          </a:p>
          <a:p xmlns:a="http://schemas.openxmlformats.org/drawingml/2006/main">
            <a:r>
              <a:t>확인할 결과: 부족한 체력요소에 따라 어떤 운동이 더 자주 처방되는지 확인. 집단별 처방률·차이(%p), 관련성 크기·유의성, 비교 막대·히트맵·산점도</a:t>
            </a:r>
          </a:p>
          <a:p xmlns:a="http://schemas.openxmlformats.org/drawingml/2006/main">
            <a:r>
              <a:t>관련 파일: 운동_체력미달여부별처방관련성.py, 운동_체력미달정보생성.py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첫 측정 CARDIO, 비교 기준평균 42</a:t>
            </a:r>
          </a:p>
          <a:p xmlns:a="http://schemas.openxmlformats.org/drawingml/2006/main">
            <a:r>
              <a:t>분석 단위·방법: 장병별 첫 측정, 양측 단일표본 t검정(α=0.05)</a:t>
            </a:r>
          </a:p>
          <a:p xmlns:a="http://schemas.openxmlformats.org/drawingml/2006/main">
            <a:r>
              <a:t>확인할 결과: 표본 평균·표준편차, t·자유도·p값, 모집단 평균 95% 신뢰구간 및 추론</a:t>
            </a:r>
          </a:p>
          <a:p xmlns:a="http://schemas.openxmlformats.org/drawingml/2006/main">
            <a:r>
              <a:t>관련 파일: t검정_단일표본_심폐기준비교.py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첫 측정 BMI 삼분위의 낮음·높음 집단, STRENGTH</a:t>
            </a:r>
          </a:p>
          <a:p xmlns:a="http://schemas.openxmlformats.org/drawingml/2006/main">
            <a:r>
              <a:t>분석 단위·방법: 양측 독립표본 t검정. Levene p≥0.05이면 Student, 미만이면 Welch(α=0.05)</a:t>
            </a:r>
          </a:p>
          <a:p xmlns:a="http://schemas.openxmlformats.org/drawingml/2006/main">
            <a:r>
              <a:t>확인할 결과: 집단별 표본 평균·인원, 평균차·t·자유도·p값, 모집단 평균 차이 95% 신뢰구간 및 추론</a:t>
            </a:r>
          </a:p>
          <a:p xmlns:a="http://schemas.openxmlformats.org/drawingml/2006/main">
            <a:r>
              <a:t>관련 파일: t검정_독립표본_BMI별근력비교.py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data/experiments/분석계획표.md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사용 변수: 운동명, 처방유형번호, MESURE_ID, 실제 처방 기록</a:t>
            </a:r>
          </a:p>
          <a:p xmlns:a="http://schemas.openxmlformats.org/drawingml/2006/main">
            <a:r>
              <a:t>분석 단위·방법: 같은 측정번호는 1건. 운동별 포함 측정 수·포함률·공동 순위, 상위 10개 중 하나 이상 포함된 측정 비율, 처방 기록 없는 등록 운동 확인</a:t>
            </a:r>
          </a:p>
          <a:p xmlns:a="http://schemas.openxmlformats.org/drawingml/2006/main">
            <a:r>
              <a:t>확인할 결과: 운동목록·측정 기준 순위·포함률·그래프·CSV</a:t>
            </a:r>
          </a:p>
          <a:p xmlns:a="http://schemas.openxmlformats.org/drawingml/2006/main">
            <a:r>
              <a:t>관련 파일: 운동_처방현황분석.py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308df6e8dd4dc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b4cba1a6d48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1f510210fd4b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b7ab09de540f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54577048949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ca5d1241514eb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F3C95B-8AEE-45CE-ACB1-9CC1A37CFA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4D875FF-AF78-447A-A0F7-24ECD27400B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AFA8292-9A3F-4BDD-A774-AF280ED8DE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507809-5E6D-4092-B03B-9D406213E8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BC30FD1-AFA7-469D-9235-7BFF1BEC71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93D6895-6E75-4B71-84FF-81D8427672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683FAA-1CE7-481A-AF26-C1A743FF69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BDDB3A1-DFD3-49BB-8BD3-85A4067F999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773CD3F-0D57-4518-BA03-42D76736A9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9006C9-20FC-40AD-ADA1-F0ABE1D3D4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1d17916d27b46eb" /><Relationship Type="http://schemas.openxmlformats.org/officeDocument/2006/relationships/slideLayout" Target="/ppt/slideLayouts/slideLayout1.xml" Id="R4171166956b245f4" /><Relationship Type="http://schemas.openxmlformats.org/officeDocument/2006/relationships/slideLayout" Target="/ppt/slideLayouts/slideLayout2.xml" Id="R14f7044cec4b401b" /><Relationship Type="http://schemas.openxmlformats.org/officeDocument/2006/relationships/slideLayout" Target="/ppt/slideLayouts/slideLayout3.xml" Id="R2eecbd8501194229" /><Relationship Type="http://schemas.openxmlformats.org/officeDocument/2006/relationships/slideLayout" Target="/ppt/slideLayouts/slideLayout4.xml" Id="Rfd458746b36b4204" /><Relationship Type="http://schemas.openxmlformats.org/officeDocument/2006/relationships/slideLayout" Target="/ppt/slideLayouts/slideLayout5.xml" Id="R1ffebe35419443d3" /><Relationship Type="http://schemas.openxmlformats.org/officeDocument/2006/relationships/slideLayout" Target="/ppt/slideLayouts/slideLayout6.xml" Id="R6229c921a76c46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71166956b245f4"/>
    <p:sldLayoutId xmlns:r="http://schemas.openxmlformats.org/officeDocument/2006/relationships" id="2147483650" r:id="R14f7044cec4b401b"/>
    <p:sldLayoutId xmlns:r="http://schemas.openxmlformats.org/officeDocument/2006/relationships" id="2147483651" r:id="R2eecbd8501194229"/>
    <p:sldLayoutId xmlns:r="http://schemas.openxmlformats.org/officeDocument/2006/relationships" id="2147483652" r:id="Rfd458746b36b4204"/>
    <p:sldLayoutId xmlns:r="http://schemas.openxmlformats.org/officeDocument/2006/relationships" id="2147483653" r:id="R1ffebe35419443d3"/>
    <p:sldLayoutId xmlns:r="http://schemas.openxmlformats.org/officeDocument/2006/relationships" id="2147483654" r:id="R6229c921a76c46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e0d5e25674389" /><Relationship Type="http://schemas.openxmlformats.org/officeDocument/2006/relationships/notesSlide" Target="/ppt/notesSlides/notesSlide1.xml" Id="R9321dd2318bf4f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c9a8613ce04d51" /><Relationship Type="http://schemas.openxmlformats.org/officeDocument/2006/relationships/notesSlide" Target="/ppt/notesSlides/notesSlide2.xml" Id="R1117ac0fe7a542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d5e8390cbe4844" /><Relationship Type="http://schemas.openxmlformats.org/officeDocument/2006/relationships/notesSlide" Target="/ppt/notesSlides/notesSlide3.xml" Id="R2772c7ceb8fa4c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ec42f678644e67" /><Relationship Type="http://schemas.openxmlformats.org/officeDocument/2006/relationships/notesSlide" Target="/ppt/notesSlides/notesSlide4.xml" Id="Rfc236d369dda42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e159f5fae14b7d" /><Relationship Type="http://schemas.openxmlformats.org/officeDocument/2006/relationships/notesSlide" Target="/ppt/notesSlides/notesSlide5.xml" Id="R6087d1fad3df4d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785bb37b644d9b" /><Relationship Type="http://schemas.openxmlformats.org/officeDocument/2006/relationships/notesSlide" Target="/ppt/notesSlides/notesSlide6.xml" Id="R1bb87adf929c49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227e27a6ed453e" /><Relationship Type="http://schemas.openxmlformats.org/officeDocument/2006/relationships/notesSlide" Target="/ppt/notesSlides/notesSlide7.xml" Id="R87f53066839e4d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44c6543c9042e8" /><Relationship Type="http://schemas.openxmlformats.org/officeDocument/2006/relationships/notesSlide" Target="/ppt/notesSlides/notesSlide8.xml" Id="R44b83ee85fde4b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85bd1946114742" /><Relationship Type="http://schemas.openxmlformats.org/officeDocument/2006/relationships/notesSlide" Target="/ppt/notesSlides/notesSlide9.xml" Id="R77f25154059640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2a05c39c584800" /><Relationship Type="http://schemas.openxmlformats.org/officeDocument/2006/relationships/notesSlide" Target="/ppt/notesSlides/notesSlide10.xml" Id="Ra7ba7fcdb74041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68dc6e504d446a" /><Relationship Type="http://schemas.openxmlformats.org/officeDocument/2006/relationships/notesSlide" Target="/ppt/notesSlides/notesSlide11.xml" Id="R15bfc609de79473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3ee1d477946be" /><Relationship Type="http://schemas.openxmlformats.org/officeDocument/2006/relationships/notesSlide" Target="/ppt/notesSlides/notesSlide12.xml" Id="R149919e2bf0140d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25290b52ee4627" /><Relationship Type="http://schemas.openxmlformats.org/officeDocument/2006/relationships/notesSlide" Target="/ppt/notesSlides/notesSlide13.xml" Id="R8c3519e1511e4f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d85ba4864f4742" /><Relationship Type="http://schemas.openxmlformats.org/officeDocument/2006/relationships/notesSlide" Target="/ppt/notesSlides/notesSlide14.xml" Id="R0035aefce3a34b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1fe478a344de4" /><Relationship Type="http://schemas.openxmlformats.org/officeDocument/2006/relationships/notesSlide" Target="/ppt/notesSlides/notesSlide15.xml" Id="R38494f9bb835498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b2b19538154557" /><Relationship Type="http://schemas.openxmlformats.org/officeDocument/2006/relationships/notesSlide" Target="/ppt/notesSlides/notesSlide16.xml" Id="Rfae72508f60d4c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559b51d54a44a9" /><Relationship Type="http://schemas.openxmlformats.org/officeDocument/2006/relationships/notesSlide" Target="/ppt/notesSlides/notesSlide17.xml" Id="R932c65ed0aeb47c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0ff61019634fc4" /><Relationship Type="http://schemas.openxmlformats.org/officeDocument/2006/relationships/notesSlide" Target="/ppt/notesSlides/notesSlide18.xml" Id="Rcfac70b4a1ab41d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69edf6bbbe4864" /><Relationship Type="http://schemas.openxmlformats.org/officeDocument/2006/relationships/notesSlide" Target="/ppt/notesSlides/notesSlide19.xml" Id="Rc011bbb1fd3846e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42b7b81f954fb6" /><Relationship Type="http://schemas.openxmlformats.org/officeDocument/2006/relationships/notesSlide" Target="/ppt/notesSlides/notesSlide20.xml" Id="R496b3370f87e44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92F47-5B4F-420B-9038-800C74F5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장병 체력 측정 데이터 분석계획표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82608-DDA1-4236-A760-46C1EAC4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85E4A-2B9D-4AD4-BC20-C72124A5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1A1B0-8E95-489E-8548-99580369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장병 체력 측정 데이터</a:t>
            </a:r>
          </a:p>
          <a:p xmlns:a="http://schemas.openxmlformats.org/drawingml/2006/main">
            <a:pPr>
              <a:def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분석계획표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DE8CE-2596-4559-B919-14F62D9A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작성자 우주연</a:t>
            </a:r>
          </a:p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작성일 2026-10-21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10C22-CC28-4468-BB7D-C5FC82737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분석계획 19개 항목</a:t>
            </a:r>
          </a:p>
        </p:txBody>
      </p:sp>
    </p:spTree>
    <p:extLst>
      <p:ext uri="{BB962C8B-B14F-4D97-AF65-F5344CB8AC3E}">
        <p14:creationId xmlns:p14="http://schemas.microsoft.com/office/powerpoint/2010/main" val="577195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3F409-13E9-4C9F-BE14-1E9466AB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  분석 가능한 대상자와 결측 현황은 어떠한가?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CE647-3271-4526-B3D7-B2DFEE1C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DDFBB-928C-4503-8797-BF5EEC61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39937-A424-4F4B-BD7F-9E1F8124D1C7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M_CODE, MESURE_DE, 체력 4종목, 측정 건수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장병별 기록 수, 중복·결측 확인 (현재 상태 확인 목적)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고유 대상자 수, 3회 기록 여부, 종목별 판정불가 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check_분석데이터.py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059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A1301-24EA-476D-966F-6A013C40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2  연령별 인원과 측정값 분포는 어떠한가?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A5F2A-0384-48AD-9EAC-B89BBB10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A67CE-8EAC-4B26-869E-F8CDA208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EDBBF-BC64-4980-9271-0B6D2BFC5F74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AGE, 체력 4종목, HEIGHT, WEIGHT, BMI, BODY_FAT_PERCENTAGE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측정, 연령별 기술통계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인원·구성비·평균·표본 표준편차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분석_연령별.py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49506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41F2A4-236A-435C-B41E-3851A4C5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3  BMI 그룹별 인원과 측정값 분포는 어떠한가?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3EB831-03FD-46C7-9DAB-8EDAF01A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F9BF6-0C34-4636-91A6-32C1775A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EBCC9-343F-4A1B-86A1-9BCDE18C9FB1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 BMI, BMI 그룹, 체력·신체 측정값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측정, BMI 삼분위 그룹별 기술통계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구간 경계, 그룹 인원, 평균·표준편차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분석_bmi별.py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35444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261B0B-DC3F-4406-9C63-8448824D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4  연령별 체력 평균에 차이가 있는가?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6E6E8-6DFC-4343-A47B-7C54CE82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5EEC1-FC29-4305-88A5-E2EA01BF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B3A0C-578F-4CAC-AE85-0F2BBFEFACBE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요인: AGE 6집단, 종속변수: 체력 각 종목의 연속 측정값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 Levene 검정 후 일반 또는 Welch 일원분산분석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검정, F·p값, η², 유의한 경우 연령 15쌍 사후검정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아노바_연령.py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8545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CF110-E4D4-409D-9542-BB8954A2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5  BMI 그룹별 체력 평균에 차이가 있는가?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02309-A373-456B-9045-5B1BFBFB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B9B4F-8677-4F2E-8332-15E03A6F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D4755-72D2-4BC2-B614-B00B86E152A9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요인: BMI 3집단, 종속변수: 체력 각 종목의 연속 측정값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 Levene 검정 후 일반 또는 Welch 일원분산분석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적용 p값, η², 유의한 경우 BMI 3쌍 사후검정·평균차·신뢰구간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아노바_bmi.py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777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3B22A-662C-4685-92AE-2253BA6A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6  연령과 종목별 미달 여부가 관련 있는가?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B2FB0-5528-476B-A0EA-8C1DF941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20156D-6CAC-4824-8516-46A959500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DE3C5-E025-4EF7-AB74-16035B7FDE15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AGE, 종목별 미달·충족 범주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측정, 종목별 6×2 교차표와 카이제곱 독립성 검정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관측·기대빈도, χ², 자유도, Holm 보정 p값, Cramér’s 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카이제곱_연령별미달여부.py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2593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68F87-E86B-47A6-8042-E92BC4A1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7  BMI 그룹과 종목별 미달 여부가 관련 있는가?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340D16-5F98-4975-9FAB-447764D0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2C26D-2378-42A8-9CF8-2072D05A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BEE04-1A32-48AE-83A1-EAC9ADDFC075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BMI 3집단, 종목별 미달·충족 범주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측정, 종목별 3×2 교차표와 카이제곱 독립성 검정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그룹별 미달률, χ², Holm 보정 p값, Cramér’s 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카이제곱_bmi별미달여부.py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03278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E6FDCB-E33A-4F86-AC8E-20395136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8  이전 회차 측정값이 높은 사람이 다음 회차에도 높은가?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76171-01A5-4022-BCE4-745E7628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1213BF-C780-4759-BB9D-5873E4CD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8D573-786E-40B1-A03D-76CDE20AA9C7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M_CODE, round, 각 종목의 회차별 측정값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장병별 짝 자료, Pearson·Spearman 상관분석. 1↔2·2↔3·1↔3차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4종목×3쌍의 상관계수·원 p값·표본 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체력측정회차별상관분석.py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10993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95558D-14BC-4EF6-8078-3201B240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9  종목별 미달 인원과 비율이 회차별로 어떻게 달라지는가?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1861D-92B2-4CB9-9C9D-DE89015A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355EB-967C-44B8-8350-D3A7925A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06E69-27F1-4F2C-9287-F6A90CDD2FD5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 미달 여부, 회차, 장병 식별자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 동일 완전측정 대상자 비교가 기본. 인원·미달률·변동률 집계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회차별 인원, 미달률, 1→2·2→3·1→3차 인원 변동률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종목별체력미달자_회차별변화율.py 및 회차중심·누적막대 버전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9880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07242-9717-49A1-9255-EC029D30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10  여러 종목에서 미달한 위험 장병은 얼마나 되는가?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0A637-E253-4797-96D0-C80C9CCA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4A29A-E0BD-4F4D-B62C-AD8C9E4A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C2FD1D-2B99-4466-9A54-B7750589AABE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회차별 미달 종목 수 0~4개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정확히 2·3·4개 미달 및 2개 이상 미달 인원·비율 집계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회차별 위험 규모, 변동률, 해당 장병 목록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위험장병식별.py 및 변동률 버전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1980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D7733-11E2-4B75-A447-C5CDE6EA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11  전체 미달 현황과 개인의 상태 변화는 어떠한가?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C1062-478D-4C6A-9572-0E896939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F19EAA-270A-41EF-B030-AF620F66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DCBA31-CB66-4A9F-A9DB-848DBF610991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회차별 미달 수, 정상·취약 상태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기준인 1개 이상 미달을 취약으로 집계. 1차 대비 3차 미달 수 비교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개선·악화·유지, 현재 취약, 지속 취약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장병체력미달판정_3회비교.py, 장병체력미달현황_회차별변화.py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414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8B58A-010F-413A-B50F-B1F4D6A8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12  1·2차 상태 조합에 따라 실제 3차 통과율이 다른가?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2A421-0EE2-410E-AA5E-BAA71AA1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436F57-A062-49DE-83C9-9399EB05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3EC03-C464-4419-9FEC-C7D3A0148CF6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1·2차 상태코드, 3차 상태코드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00·01·10·11 상위 4그룹의 관측 통과율 집계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그룹별 통과·미통과·판정불가 인원 및 통과율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3차통과율_체력상태조합별.py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3321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72EB9-F03D-46BD-A670-D47D4AEE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13  상위그룹을 세분화하면 각 하위그룹의 통과율은 어떠한가?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3092F3-356F-400D-976C-7D0C5989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3A01A-67D0-474F-A8B8-1C221608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247A5-0FE0-4251-B0DB-6A7C17E0E52D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1·2차 미달 종목 수, 3차 통과 여부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(0,0)~(4,4) 25개 하위그룹별 관측 통과율과 개인별 비율 연결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하위그룹 자체 통과율, 그룹 인원, 장병별 적용 비율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3차통과율_하위그룹_체력상태조합별.py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24581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84B0C-FD7F-4C3F-90B4-5CBF65C0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14  1·2차 미달 수로 개인의 3차 통과확률을 예측할 수 있는가?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745F2-646C-4E57-A30E-0CF358AF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A235F-CFF0-4339-B5CB-D5150DA0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D6CD0-180C-452E-8816-E0D8B7F2CBBA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입력: 1·2차 미달 수, 목표: 3차 통과 여부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L2 로지스틱 회귀(C=1), 최대 5분할 층화 교차검증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개인별 확률, 회귀계수·오즈비, 검증 ROC_AUC·Brier·LogLoss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3차통과율_로지스틱회귀예측.py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203139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970063-F60B-4F91-8641-B0ECDDA6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15  같은 체력 종목에서 세 회차 모두 미달한 장병은 얼마나 되는가?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C5B6C-C9B4-4C27-B6F3-B309D6DF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EAC9F-C762-446E-BCDB-6802E498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1298E-9D73-427D-A23B-BA2D9C79F81E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M_CODE, round, strength_risk, endurance_risk, cardio_risk, flexibility_risk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 회차 네 종목 모두 판정 가능한 장병에서 종목별 1·2·3차 미달 여부를 연결. 동일 종목 지속 미달 및 하나 이상 해당하는 장병 집계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종목별 지속 미달 인원, 동일 종목 지속 미달 고유 인원·비율, 개인별 CSV·HTML 시각화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동일종목_지속미달분석.py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754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F4746-D0A7-45CA-B8CE-2ED9F65D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16  부족체력과 운동처방의 관련성 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7448D-C3DE-408C-8E99-BB9C52FB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A92E6-58B9-47B6-AE1B-11D1FB81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97114-C992-4DB6-822A-64FBCFD7697C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측정의 종목별 미달·충족 여부, 운동별 처방 유무, M_CODE, MESURE_ID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미달정보 CSV 생성 후 처방과 연결. 2×2 카이제곱 또는 희소 시 Fisher 정확검정, Phi·Holm 보정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부족한 체력요소에 따라 어떤 운동이 더 자주 처방되는지 확인. 집단별 처방률·차이(%p), 관련성 크기·유의성, 비교 막대·히트맵·산점도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운동_체력미달여부별처방관련성.py, 운동_체력미달정보생성.py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930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4047E-B16C-4649-AB6A-CCF6D6DAB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17  모집단의 심폐 평균은 기준값 42와 다른가?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62572-E9BA-4FB7-98D0-D5298B1B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7AB47-1D04-4DF7-A14A-8C965D3E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7ED4F-8B48-4BB4-A218-E6E8A1956055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 CARDIO, 비교 기준평균 42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장병별 첫 측정, 양측 단일표본 t검정(α=0.05)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 평균·표준편차, t·자유도·p값, 모집단 평균 95% 신뢰구간 및 추론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t검정_단일표본_심폐기준비교.py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4298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9B033F-D0B6-4C85-8352-8A333166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18  BMI 낮음·높음 집단의 모집단 근력 평균은 다른가?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60EE2-0C37-4BB5-A2CE-7CD5CCC1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21D28-4F6F-433E-B1BB-1D6F5318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349D2-088F-44C4-B908-A17082FAC3EF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첫 측정 BMI 삼분위의 낮음·높음 집단, STRENGTH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양측 독립표본 t검정. Levene p≥0.05이면 Student, 미만이면 Welch(α=0.05)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집단별 표본 평균·인원, 평균차·t·자유도·p값, 모집단 평균 차이 95% 신뢰구간 및 추론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t검정_독립표본_BMI별근력비교.py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43649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C8805-A1D8-45C6-A55C-74028EAE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73C59"/>
                </a:solidFill>
                <a:latin typeface="Malgun Gothic"/>
                <a:ea typeface="Malgun Gothic"/>
                <a:cs typeface="Malgun Gothic"/>
              </a:rPr>
              <a:t>분석 19  어떤 운동이 많이 처방됐을까? · 측정별 운동처방 현황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0C366-B113-478D-8DE0-D81319B3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6A7784"/>
                </a:solidFill>
                <a:latin typeface="Malgun Gothic"/>
                <a:ea typeface="Malgun Gothic"/>
                <a:cs typeface="Malgun Gothic"/>
              </a:rPr>
              <a:t>우주연   2026-10-21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339F0-5225-44E1-BE1C-67FEE8CB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25364A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80098-6701-4A72-8D63-42DEA069D995}"/>
              </a:ext>
            </a:extLst>
          </p:cNvPr>
          <p:cNvGraphicFramePr/>
          <p:nvPr/>
        </p:nvGraphicFramePr>
        <p:xfrm>
          <a:off xmlns:a="http://schemas.openxmlformats.org/drawingml/2006/main" x="571500" y="1285875"/>
          <a:ext xmlns:a="http://schemas.openxmlformats.org/drawingml/2006/main" cx="11049000" cy="4762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8667750"/>
              </a:tblGrid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변수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운동명, 처방유형번호, MESURE_ID, 실제 처방 기록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T w="9525">
                      <a:solidFill>
                        <a:srgbClr val="D7E0E8"/>
                      </a:solidFill>
                      <a:prstDash val="solid"/>
                    </a:lnT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분석 단위·방법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측정번호는 1건. 운동별 포함 측정 수·포함률·공동 순위, 상위 10개 중 하나 이상 포함된 측정 비율, 처방 기록 없는 등록 운동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결과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운동목록·측정 기준 순위·포함률·그래프·CSV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90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파일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E0E8"/>
                      </a:solidFill>
                      <a:prstDash val="solid"/>
                    </a:lnL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ED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536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운동_처방현황분석.py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E0E8"/>
                      </a:solidFill>
                      <a:prstDash val="solid"/>
                    </a:lnR>
                    <a:lnB w="9525">
                      <a:solidFill>
                        <a:srgbClr val="D7E0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5932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2026-10-21T07:18:14.3910000Z</dcterms:created>
  <dcterms:modified xsi:type="dcterms:W3CDTF">2026-10-21T07:18:14.3910000Z</dcterms:modified>
</coreProperties>
</file>